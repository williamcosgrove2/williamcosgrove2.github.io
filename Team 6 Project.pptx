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20_5AB4A072.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1"/>
  </p:notesMasterIdLst>
  <p:sldIdLst>
    <p:sldId id="256" r:id="rId5"/>
    <p:sldId id="296" r:id="rId6"/>
    <p:sldId id="295" r:id="rId7"/>
    <p:sldId id="292" r:id="rId8"/>
    <p:sldId id="279" r:id="rId9"/>
    <p:sldId id="288" r:id="rId10"/>
    <p:sldId id="266" r:id="rId11"/>
    <p:sldId id="273" r:id="rId12"/>
    <p:sldId id="269" r:id="rId13"/>
    <p:sldId id="275" r:id="rId14"/>
    <p:sldId id="291" r:id="rId15"/>
    <p:sldId id="285" r:id="rId16"/>
    <p:sldId id="277" r:id="rId17"/>
    <p:sldId id="278" r:id="rId18"/>
    <p:sldId id="261" r:id="rId19"/>
    <p:sldId id="28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E46DE0D-4FCF-7F9A-A877-672BD9425097}" name="Luke Bae" initials="LB" userId="S::lb1154@scarletmail.rutgers.edu::e7c4bd4a-6645-40cf-99af-25da1ad58bd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0002"/>
    <a:srgbClr val="830000"/>
    <a:srgbClr val="590000"/>
    <a:srgbClr val="5C0101"/>
    <a:srgbClr val="870000"/>
    <a:srgbClr val="A80000"/>
    <a:srgbClr val="660000"/>
    <a:srgbClr val="7F0001"/>
    <a:srgbClr val="740100"/>
    <a:srgbClr val="CC0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0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sley Huang" userId="44db3baf-595f-4daf-a899-f2969cc941d5" providerId="ADAL" clId="{AD7CEE2E-1B83-4FF1-B9D2-05BA0951BFB1}"/>
    <pc:docChg chg="custSel modSld sldOrd">
      <pc:chgData name="Wesley Huang" userId="44db3baf-595f-4daf-a899-f2969cc941d5" providerId="ADAL" clId="{AD7CEE2E-1B83-4FF1-B9D2-05BA0951BFB1}" dt="2026-04-21T21:48:59.072" v="23"/>
      <pc:docMkLst>
        <pc:docMk/>
      </pc:docMkLst>
      <pc:sldChg chg="modSp mod ord">
        <pc:chgData name="Wesley Huang" userId="44db3baf-595f-4daf-a899-f2969cc941d5" providerId="ADAL" clId="{AD7CEE2E-1B83-4FF1-B9D2-05BA0951BFB1}" dt="2026-04-21T21:48:59.072" v="23"/>
        <pc:sldMkLst>
          <pc:docMk/>
          <pc:sldMk cId="1664069106" sldId="256"/>
        </pc:sldMkLst>
      </pc:sldChg>
    </pc:docChg>
  </pc:docChgLst>
</pc:chgInfo>
</file>

<file path=ppt/comments/modernComment_120_5AB4A072.xml><?xml version="1.0" encoding="utf-8"?>
<p188:cmLst xmlns:a="http://schemas.openxmlformats.org/drawingml/2006/main" xmlns:r="http://schemas.openxmlformats.org/officeDocument/2006/relationships" xmlns:p188="http://schemas.microsoft.com/office/powerpoint/2018/8/main">
  <p188:cm id="{0E64352D-EC88-4DF5-AD16-BE0EBA1ED0C4}" authorId="{BE46DE0D-4FCF-7F9A-A877-672BD9425097}" created="2025-11-26T22:28:10.450">
    <ac:deMkLst xmlns:ac="http://schemas.microsoft.com/office/drawing/2013/main/command">
      <pc:docMk xmlns:pc="http://schemas.microsoft.com/office/powerpoint/2013/main/command"/>
      <pc:sldMk xmlns:pc="http://schemas.microsoft.com/office/powerpoint/2013/main/command" cId="1521786994" sldId="288"/>
      <ac:spMk id="4" creationId="{DCC1811A-A1EC-0FDB-D18A-03D9B81825C6}"/>
    </ac:deMkLst>
    <p188:txBody>
      <a:bodyPr/>
      <a:lstStyle/>
      <a:p>
        <a:r>
          <a:rPr lang="en-US"/>
          <a:t>Entering food delivery service industry
- Common competitors are DoorDash, Uber Eats, and GrubHub</a:t>
        </a:r>
      </a:p>
    </p188:txBody>
  </p188:cm>
  <p188:cm id="{8A84CC42-624B-450B-9DDF-0ECCEAF1EAAF}" authorId="{BE46DE0D-4FCF-7F9A-A877-672BD9425097}" created="2025-11-26T22:44:00.123">
    <pc:sldMkLst xmlns:pc="http://schemas.microsoft.com/office/powerpoint/2013/main/command">
      <pc:docMk/>
      <pc:sldMk cId="1521786994" sldId="288"/>
    </pc:sldMkLst>
    <p188:txBody>
      <a:bodyPr/>
      <a:lstStyle/>
      <a:p>
        <a:r>
          <a:rPr lang="en-US"/>
          <a:t>Difficult entry
- Oligopoly because it is small number of dominant firms
- Heavy rivalry
- Very strong brand images</a:t>
        </a:r>
      </a:p>
    </p188:txBody>
  </p188:cm>
  <p188:cm id="{31706AB9-6ED9-44D5-8D10-823E40BC41DA}" authorId="{BE46DE0D-4FCF-7F9A-A877-672BD9425097}" created="2025-11-26T23:12:06.268">
    <pc:sldMkLst xmlns:pc="http://schemas.microsoft.com/office/powerpoint/2013/main/command">
      <pc:docMk/>
      <pc:sldMk cId="1521786994" sldId="288"/>
    </pc:sldMkLst>
    <p188:txBody>
      <a:bodyPr/>
      <a:lstStyle/>
      <a:p>
        <a:r>
          <a:rPr lang="en-US"/>
          <a:t>Industry trends
- Demand mostly skyrocketed since COVID
- Still experiencing surges in demand due to advanced technology -&gt; easier orders and real-time tracking
- Will also rise because busy lifestyles and remote work -&gt; online food delivery more convenient than cooking or restaurants
- Younger demographics prefer digital methods over traditional dining or phone orders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EFA6D8-9B51-B44B-B6AD-5CB9B5631107}" type="datetimeFigureOut">
              <a:rPr lang="en-US" smtClean="0"/>
              <a:t>4/21/2026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64E764-F0F5-7A4E-8B80-F1B0F9667D22}" type="slidenum">
              <a:rPr lang="en-US" smtClean="0"/>
              <a:t>‹#›</a:t>
            </a:fld>
            <a:endParaRPr lang="en-US"/>
          </a:p>
        </p:txBody>
      </p:sp>
    </p:spTree>
    <p:extLst>
      <p:ext uri="{BB962C8B-B14F-4D97-AF65-F5344CB8AC3E}">
        <p14:creationId xmlns:p14="http://schemas.microsoft.com/office/powerpoint/2010/main" val="2655615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64E764-F0F5-7A4E-8B80-F1B0F9667D22}" type="slidenum">
              <a:rPr lang="en-US" smtClean="0"/>
              <a:t>1</a:t>
            </a:fld>
            <a:endParaRPr lang="en-US"/>
          </a:p>
        </p:txBody>
      </p:sp>
    </p:spTree>
    <p:extLst>
      <p:ext uri="{BB962C8B-B14F-4D97-AF65-F5344CB8AC3E}">
        <p14:creationId xmlns:p14="http://schemas.microsoft.com/office/powerpoint/2010/main" val="986124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C5095-E8E4-5546-965C-BA9009C0B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5EB0D0-A54F-D629-804A-69969180A6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01A455-B1BC-AD35-6975-00DDE6F1FA9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49F20D9-B5FD-E8ED-795E-4AED2CE49939}"/>
              </a:ext>
            </a:extLst>
          </p:cNvPr>
          <p:cNvSpPr>
            <a:spLocks noGrp="1"/>
          </p:cNvSpPr>
          <p:nvPr>
            <p:ph type="sldNum" sz="quarter" idx="5"/>
          </p:nvPr>
        </p:nvSpPr>
        <p:spPr/>
        <p:txBody>
          <a:bodyPr/>
          <a:lstStyle/>
          <a:p>
            <a:fld id="{C264E764-F0F5-7A4E-8B80-F1B0F9667D22}" type="slidenum">
              <a:rPr lang="en-US" smtClean="0"/>
              <a:t>4</a:t>
            </a:fld>
            <a:endParaRPr lang="en-US"/>
          </a:p>
        </p:txBody>
      </p:sp>
    </p:spTree>
    <p:extLst>
      <p:ext uri="{BB962C8B-B14F-4D97-AF65-F5344CB8AC3E}">
        <p14:creationId xmlns:p14="http://schemas.microsoft.com/office/powerpoint/2010/main" val="124891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64E764-F0F5-7A4E-8B80-F1B0F9667D22}" type="slidenum">
              <a:rPr lang="en-US" smtClean="0"/>
              <a:t>8</a:t>
            </a:fld>
            <a:endParaRPr lang="en-US"/>
          </a:p>
        </p:txBody>
      </p:sp>
    </p:spTree>
    <p:extLst>
      <p:ext uri="{BB962C8B-B14F-4D97-AF65-F5344CB8AC3E}">
        <p14:creationId xmlns:p14="http://schemas.microsoft.com/office/powerpoint/2010/main" val="2102398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264E764-F0F5-7A4E-8B80-F1B0F9667D22}" type="slidenum">
              <a:rPr lang="en-US" smtClean="0"/>
              <a:t>9</a:t>
            </a:fld>
            <a:endParaRPr lang="en-US"/>
          </a:p>
        </p:txBody>
      </p:sp>
    </p:spTree>
    <p:extLst>
      <p:ext uri="{BB962C8B-B14F-4D97-AF65-F5344CB8AC3E}">
        <p14:creationId xmlns:p14="http://schemas.microsoft.com/office/powerpoint/2010/main" val="2511532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64E764-F0F5-7A4E-8B80-F1B0F9667D22}" type="slidenum">
              <a:rPr lang="en-US" smtClean="0"/>
              <a:t>13</a:t>
            </a:fld>
            <a:endParaRPr lang="en-US"/>
          </a:p>
        </p:txBody>
      </p:sp>
    </p:spTree>
    <p:extLst>
      <p:ext uri="{BB962C8B-B14F-4D97-AF65-F5344CB8AC3E}">
        <p14:creationId xmlns:p14="http://schemas.microsoft.com/office/powerpoint/2010/main" val="2564383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79727-5BC2-C642-15A1-374310628F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64CA9E-9606-90FE-04B2-E6B36DC353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DDA45D-C9A8-02AD-F411-4B9D809CCF4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0062FF0-EF19-C099-EFDA-FEC1264F9922}"/>
              </a:ext>
            </a:extLst>
          </p:cNvPr>
          <p:cNvSpPr>
            <a:spLocks noGrp="1"/>
          </p:cNvSpPr>
          <p:nvPr>
            <p:ph type="sldNum" sz="quarter" idx="5"/>
          </p:nvPr>
        </p:nvSpPr>
        <p:spPr/>
        <p:txBody>
          <a:bodyPr/>
          <a:lstStyle/>
          <a:p>
            <a:fld id="{C264E764-F0F5-7A4E-8B80-F1B0F9667D22}" type="slidenum">
              <a:rPr lang="en-US" smtClean="0"/>
              <a:t>16</a:t>
            </a:fld>
            <a:endParaRPr lang="en-US"/>
          </a:p>
        </p:txBody>
      </p:sp>
    </p:spTree>
    <p:extLst>
      <p:ext uri="{BB962C8B-B14F-4D97-AF65-F5344CB8AC3E}">
        <p14:creationId xmlns:p14="http://schemas.microsoft.com/office/powerpoint/2010/main" val="31452885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1B993-5DA2-7A2E-237A-CE5DCC060F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CD71CFF-AD75-88A3-D74C-E1110A8E9E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0F07E4-16E6-4F42-469E-F1382A222EF5}"/>
              </a:ext>
            </a:extLst>
          </p:cNvPr>
          <p:cNvSpPr>
            <a:spLocks noGrp="1"/>
          </p:cNvSpPr>
          <p:nvPr>
            <p:ph type="dt" sz="half" idx="10"/>
          </p:nvPr>
        </p:nvSpPr>
        <p:spPr/>
        <p:txBody>
          <a:bodyPr/>
          <a:lstStyle/>
          <a:p>
            <a:fld id="{976182FB-8CDC-794E-AD75-EE12DD6A786A}" type="datetime1">
              <a:rPr lang="en-US" smtClean="0"/>
              <a:t>4/21/2026</a:t>
            </a:fld>
            <a:endParaRPr lang="en-US"/>
          </a:p>
        </p:txBody>
      </p:sp>
      <p:sp>
        <p:nvSpPr>
          <p:cNvPr id="5" name="Footer Placeholder 4">
            <a:extLst>
              <a:ext uri="{FF2B5EF4-FFF2-40B4-BE49-F238E27FC236}">
                <a16:creationId xmlns:a16="http://schemas.microsoft.com/office/drawing/2014/main" id="{ADCB99CF-CACE-5299-EE91-4B9B7C0044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A56293-E421-C554-D68B-58B36A5D2133}"/>
              </a:ext>
            </a:extLst>
          </p:cNvPr>
          <p:cNvSpPr>
            <a:spLocks noGrp="1"/>
          </p:cNvSpPr>
          <p:nvPr>
            <p:ph type="sldNum" sz="quarter" idx="12"/>
          </p:nvPr>
        </p:nvSpPr>
        <p:spPr/>
        <p:txBody>
          <a:bodyPr/>
          <a:lstStyle/>
          <a:p>
            <a:fld id="{441E4A3E-16F6-FF44-B4DD-5D27CCED9977}" type="slidenum">
              <a:rPr lang="en-US" smtClean="0"/>
              <a:t>‹#›</a:t>
            </a:fld>
            <a:endParaRPr lang="en-US"/>
          </a:p>
        </p:txBody>
      </p:sp>
    </p:spTree>
    <p:extLst>
      <p:ext uri="{BB962C8B-B14F-4D97-AF65-F5344CB8AC3E}">
        <p14:creationId xmlns:p14="http://schemas.microsoft.com/office/powerpoint/2010/main" val="83100529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B5C57-E27A-F28C-F4D0-244C93C9D9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5D0B49-2C55-A5B4-4D4E-62D303D98B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A67012-A6F3-C456-4BD9-810547E4FCCE}"/>
              </a:ext>
            </a:extLst>
          </p:cNvPr>
          <p:cNvSpPr>
            <a:spLocks noGrp="1"/>
          </p:cNvSpPr>
          <p:nvPr>
            <p:ph type="dt" sz="half" idx="10"/>
          </p:nvPr>
        </p:nvSpPr>
        <p:spPr/>
        <p:txBody>
          <a:bodyPr/>
          <a:lstStyle/>
          <a:p>
            <a:fld id="{A28E8DD9-35CA-4242-9713-E45E241E3E5E}" type="datetime1">
              <a:rPr lang="en-US" smtClean="0"/>
              <a:t>4/21/2026</a:t>
            </a:fld>
            <a:endParaRPr lang="en-US"/>
          </a:p>
        </p:txBody>
      </p:sp>
      <p:sp>
        <p:nvSpPr>
          <p:cNvPr id="5" name="Footer Placeholder 4">
            <a:extLst>
              <a:ext uri="{FF2B5EF4-FFF2-40B4-BE49-F238E27FC236}">
                <a16:creationId xmlns:a16="http://schemas.microsoft.com/office/drawing/2014/main" id="{3565BB3A-666F-9FC5-69E2-5899BEBBBC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C3C43A-2E60-E3D0-5A53-93D173D4B55B}"/>
              </a:ext>
            </a:extLst>
          </p:cNvPr>
          <p:cNvSpPr>
            <a:spLocks noGrp="1"/>
          </p:cNvSpPr>
          <p:nvPr>
            <p:ph type="sldNum" sz="quarter" idx="12"/>
          </p:nvPr>
        </p:nvSpPr>
        <p:spPr/>
        <p:txBody>
          <a:bodyPr/>
          <a:lstStyle/>
          <a:p>
            <a:fld id="{441E4A3E-16F6-FF44-B4DD-5D27CCED9977}" type="slidenum">
              <a:rPr lang="en-US" smtClean="0"/>
              <a:t>‹#›</a:t>
            </a:fld>
            <a:endParaRPr lang="en-US"/>
          </a:p>
        </p:txBody>
      </p:sp>
    </p:spTree>
    <p:extLst>
      <p:ext uri="{BB962C8B-B14F-4D97-AF65-F5344CB8AC3E}">
        <p14:creationId xmlns:p14="http://schemas.microsoft.com/office/powerpoint/2010/main" val="3809047927"/>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2D1EC-23F0-E29C-347F-202FBC0CA0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A86B46-9B23-5E53-DDA2-B2B6CCDA56A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15B183-95D7-3F64-C063-5029F2EDC319}"/>
              </a:ext>
            </a:extLst>
          </p:cNvPr>
          <p:cNvSpPr>
            <a:spLocks noGrp="1"/>
          </p:cNvSpPr>
          <p:nvPr>
            <p:ph type="dt" sz="half" idx="10"/>
          </p:nvPr>
        </p:nvSpPr>
        <p:spPr/>
        <p:txBody>
          <a:bodyPr/>
          <a:lstStyle/>
          <a:p>
            <a:fld id="{DFD1D888-F3A5-B645-B86E-CEA4DEF8661E}" type="datetime1">
              <a:rPr lang="en-US" smtClean="0"/>
              <a:t>4/21/2026</a:t>
            </a:fld>
            <a:endParaRPr lang="en-US"/>
          </a:p>
        </p:txBody>
      </p:sp>
      <p:sp>
        <p:nvSpPr>
          <p:cNvPr id="5" name="Footer Placeholder 4">
            <a:extLst>
              <a:ext uri="{FF2B5EF4-FFF2-40B4-BE49-F238E27FC236}">
                <a16:creationId xmlns:a16="http://schemas.microsoft.com/office/drawing/2014/main" id="{82351676-DE77-A4DE-964D-5C98910613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59C990-EB25-E1B3-3E1C-441375D8C459}"/>
              </a:ext>
            </a:extLst>
          </p:cNvPr>
          <p:cNvSpPr>
            <a:spLocks noGrp="1"/>
          </p:cNvSpPr>
          <p:nvPr>
            <p:ph type="sldNum" sz="quarter" idx="12"/>
          </p:nvPr>
        </p:nvSpPr>
        <p:spPr/>
        <p:txBody>
          <a:bodyPr/>
          <a:lstStyle/>
          <a:p>
            <a:fld id="{441E4A3E-16F6-FF44-B4DD-5D27CCED9977}" type="slidenum">
              <a:rPr lang="en-US" smtClean="0"/>
              <a:t>‹#›</a:t>
            </a:fld>
            <a:endParaRPr lang="en-US"/>
          </a:p>
        </p:txBody>
      </p:sp>
    </p:spTree>
    <p:extLst>
      <p:ext uri="{BB962C8B-B14F-4D97-AF65-F5344CB8AC3E}">
        <p14:creationId xmlns:p14="http://schemas.microsoft.com/office/powerpoint/2010/main" val="102935131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4D285-39F8-AB81-3A8A-B143A027E8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9B2425-ED05-7309-6AA0-F4E40F99B4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C6394A-3B0E-1CBF-BF9C-056C30AA70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0633C8-6CE9-894A-1ACE-6C253617C77B}"/>
              </a:ext>
            </a:extLst>
          </p:cNvPr>
          <p:cNvSpPr>
            <a:spLocks noGrp="1"/>
          </p:cNvSpPr>
          <p:nvPr>
            <p:ph type="dt" sz="half" idx="10"/>
          </p:nvPr>
        </p:nvSpPr>
        <p:spPr/>
        <p:txBody>
          <a:bodyPr/>
          <a:lstStyle/>
          <a:p>
            <a:fld id="{A1082B12-2C6A-7842-8F5A-A54C37B19D5E}" type="datetime1">
              <a:rPr lang="en-US" smtClean="0"/>
              <a:t>4/21/2026</a:t>
            </a:fld>
            <a:endParaRPr lang="en-US"/>
          </a:p>
        </p:txBody>
      </p:sp>
      <p:sp>
        <p:nvSpPr>
          <p:cNvPr id="6" name="Footer Placeholder 5">
            <a:extLst>
              <a:ext uri="{FF2B5EF4-FFF2-40B4-BE49-F238E27FC236}">
                <a16:creationId xmlns:a16="http://schemas.microsoft.com/office/drawing/2014/main" id="{1C0D84DB-9CA9-A7FB-A88F-47E8DA71B4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7EAAEC-B4D1-DFE1-0080-FC0385D3C8C4}"/>
              </a:ext>
            </a:extLst>
          </p:cNvPr>
          <p:cNvSpPr>
            <a:spLocks noGrp="1"/>
          </p:cNvSpPr>
          <p:nvPr>
            <p:ph type="sldNum" sz="quarter" idx="12"/>
          </p:nvPr>
        </p:nvSpPr>
        <p:spPr/>
        <p:txBody>
          <a:bodyPr/>
          <a:lstStyle/>
          <a:p>
            <a:fld id="{441E4A3E-16F6-FF44-B4DD-5D27CCED9977}" type="slidenum">
              <a:rPr lang="en-US" smtClean="0"/>
              <a:t>‹#›</a:t>
            </a:fld>
            <a:endParaRPr lang="en-US"/>
          </a:p>
        </p:txBody>
      </p:sp>
    </p:spTree>
    <p:extLst>
      <p:ext uri="{BB962C8B-B14F-4D97-AF65-F5344CB8AC3E}">
        <p14:creationId xmlns:p14="http://schemas.microsoft.com/office/powerpoint/2010/main" val="2324090970"/>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B1D34-BC8D-611F-5955-386F8639CC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9D5040-F7FD-60C1-922B-A16EA0F49E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DE5E82-880D-7AFB-E1C3-2E3FBA521C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0B9319E-3C2F-F691-8D1F-7801578ED7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19AF2C-DEA6-3117-2B68-68DAEFEC80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497BECE-63C7-3ACB-B43B-E44CC10847F1}"/>
              </a:ext>
            </a:extLst>
          </p:cNvPr>
          <p:cNvSpPr>
            <a:spLocks noGrp="1"/>
          </p:cNvSpPr>
          <p:nvPr>
            <p:ph type="dt" sz="half" idx="10"/>
          </p:nvPr>
        </p:nvSpPr>
        <p:spPr/>
        <p:txBody>
          <a:bodyPr/>
          <a:lstStyle/>
          <a:p>
            <a:fld id="{058F6E9E-4646-1A49-800C-BC1C241B4F7D}" type="datetime1">
              <a:rPr lang="en-US" smtClean="0"/>
              <a:t>4/21/2026</a:t>
            </a:fld>
            <a:endParaRPr lang="en-US"/>
          </a:p>
        </p:txBody>
      </p:sp>
      <p:sp>
        <p:nvSpPr>
          <p:cNvPr id="8" name="Footer Placeholder 7">
            <a:extLst>
              <a:ext uri="{FF2B5EF4-FFF2-40B4-BE49-F238E27FC236}">
                <a16:creationId xmlns:a16="http://schemas.microsoft.com/office/drawing/2014/main" id="{295EA87C-E03A-2FCF-C6D2-FD949736A7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07D29C-8EF3-CFB3-5694-C00547377E6D}"/>
              </a:ext>
            </a:extLst>
          </p:cNvPr>
          <p:cNvSpPr>
            <a:spLocks noGrp="1"/>
          </p:cNvSpPr>
          <p:nvPr>
            <p:ph type="sldNum" sz="quarter" idx="12"/>
          </p:nvPr>
        </p:nvSpPr>
        <p:spPr/>
        <p:txBody>
          <a:bodyPr/>
          <a:lstStyle/>
          <a:p>
            <a:fld id="{441E4A3E-16F6-FF44-B4DD-5D27CCED9977}" type="slidenum">
              <a:rPr lang="en-US" smtClean="0"/>
              <a:t>‹#›</a:t>
            </a:fld>
            <a:endParaRPr lang="en-US"/>
          </a:p>
        </p:txBody>
      </p:sp>
    </p:spTree>
    <p:extLst>
      <p:ext uri="{BB962C8B-B14F-4D97-AF65-F5344CB8AC3E}">
        <p14:creationId xmlns:p14="http://schemas.microsoft.com/office/powerpoint/2010/main" val="87508182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16E1C-E855-2A5D-DB98-8944BEF5FF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B364E6-6A3E-1B5B-59AB-3A639C05212C}"/>
              </a:ext>
            </a:extLst>
          </p:cNvPr>
          <p:cNvSpPr>
            <a:spLocks noGrp="1"/>
          </p:cNvSpPr>
          <p:nvPr>
            <p:ph type="dt" sz="half" idx="10"/>
          </p:nvPr>
        </p:nvSpPr>
        <p:spPr/>
        <p:txBody>
          <a:bodyPr/>
          <a:lstStyle/>
          <a:p>
            <a:fld id="{89EA762E-6350-9C4E-B264-84C0A20F2153}" type="datetime1">
              <a:rPr lang="en-US" smtClean="0"/>
              <a:t>4/21/2026</a:t>
            </a:fld>
            <a:endParaRPr lang="en-US"/>
          </a:p>
        </p:txBody>
      </p:sp>
      <p:sp>
        <p:nvSpPr>
          <p:cNvPr id="4" name="Footer Placeholder 3">
            <a:extLst>
              <a:ext uri="{FF2B5EF4-FFF2-40B4-BE49-F238E27FC236}">
                <a16:creationId xmlns:a16="http://schemas.microsoft.com/office/drawing/2014/main" id="{A5D2A025-AC29-B221-9D9F-9AE29C7B358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0A7FC7-2456-2E8E-46FB-9F92236445DE}"/>
              </a:ext>
            </a:extLst>
          </p:cNvPr>
          <p:cNvSpPr>
            <a:spLocks noGrp="1"/>
          </p:cNvSpPr>
          <p:nvPr>
            <p:ph type="sldNum" sz="quarter" idx="12"/>
          </p:nvPr>
        </p:nvSpPr>
        <p:spPr/>
        <p:txBody>
          <a:bodyPr/>
          <a:lstStyle/>
          <a:p>
            <a:fld id="{441E4A3E-16F6-FF44-B4DD-5D27CCED9977}" type="slidenum">
              <a:rPr lang="en-US" smtClean="0"/>
              <a:t>‹#›</a:t>
            </a:fld>
            <a:endParaRPr lang="en-US"/>
          </a:p>
        </p:txBody>
      </p:sp>
    </p:spTree>
    <p:extLst>
      <p:ext uri="{BB962C8B-B14F-4D97-AF65-F5344CB8AC3E}">
        <p14:creationId xmlns:p14="http://schemas.microsoft.com/office/powerpoint/2010/main" val="760203823"/>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8D5D29-A811-DAD3-1396-B1E7C7AED908}"/>
              </a:ext>
            </a:extLst>
          </p:cNvPr>
          <p:cNvSpPr>
            <a:spLocks noGrp="1"/>
          </p:cNvSpPr>
          <p:nvPr>
            <p:ph type="dt" sz="half" idx="10"/>
          </p:nvPr>
        </p:nvSpPr>
        <p:spPr/>
        <p:txBody>
          <a:bodyPr/>
          <a:lstStyle/>
          <a:p>
            <a:fld id="{9ACFFC70-88E8-8447-99CD-F1ABBB64D670}" type="datetime1">
              <a:rPr lang="en-US" smtClean="0"/>
              <a:t>4/21/2026</a:t>
            </a:fld>
            <a:endParaRPr lang="en-US"/>
          </a:p>
        </p:txBody>
      </p:sp>
      <p:sp>
        <p:nvSpPr>
          <p:cNvPr id="3" name="Footer Placeholder 2">
            <a:extLst>
              <a:ext uri="{FF2B5EF4-FFF2-40B4-BE49-F238E27FC236}">
                <a16:creationId xmlns:a16="http://schemas.microsoft.com/office/drawing/2014/main" id="{BEE45DC2-A0B3-3074-0899-8132D56B11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AF0EEC-2CCA-6963-E2F3-BC692BC984FF}"/>
              </a:ext>
            </a:extLst>
          </p:cNvPr>
          <p:cNvSpPr>
            <a:spLocks noGrp="1"/>
          </p:cNvSpPr>
          <p:nvPr>
            <p:ph type="sldNum" sz="quarter" idx="12"/>
          </p:nvPr>
        </p:nvSpPr>
        <p:spPr/>
        <p:txBody>
          <a:bodyPr/>
          <a:lstStyle/>
          <a:p>
            <a:fld id="{441E4A3E-16F6-FF44-B4DD-5D27CCED9977}" type="slidenum">
              <a:rPr lang="en-US" smtClean="0"/>
              <a:t>‹#›</a:t>
            </a:fld>
            <a:endParaRPr lang="en-US"/>
          </a:p>
        </p:txBody>
      </p:sp>
    </p:spTree>
    <p:extLst>
      <p:ext uri="{BB962C8B-B14F-4D97-AF65-F5344CB8AC3E}">
        <p14:creationId xmlns:p14="http://schemas.microsoft.com/office/powerpoint/2010/main" val="3635747443"/>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3E612-E56C-33EE-ED0E-6572F4A7ED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BB88797-D89E-F1D7-6482-AC42A8F5C4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5DC2F9A-3778-3BFD-869E-CDA77F82CA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3DC243-F7D1-3E87-82A1-44014609B6B8}"/>
              </a:ext>
            </a:extLst>
          </p:cNvPr>
          <p:cNvSpPr>
            <a:spLocks noGrp="1"/>
          </p:cNvSpPr>
          <p:nvPr>
            <p:ph type="dt" sz="half" idx="10"/>
          </p:nvPr>
        </p:nvSpPr>
        <p:spPr/>
        <p:txBody>
          <a:bodyPr/>
          <a:lstStyle/>
          <a:p>
            <a:fld id="{77705B89-A39D-7742-9E3E-98902D0000DD}" type="datetime1">
              <a:rPr lang="en-US" smtClean="0"/>
              <a:t>4/21/2026</a:t>
            </a:fld>
            <a:endParaRPr lang="en-US"/>
          </a:p>
        </p:txBody>
      </p:sp>
      <p:sp>
        <p:nvSpPr>
          <p:cNvPr id="6" name="Footer Placeholder 5">
            <a:extLst>
              <a:ext uri="{FF2B5EF4-FFF2-40B4-BE49-F238E27FC236}">
                <a16:creationId xmlns:a16="http://schemas.microsoft.com/office/drawing/2014/main" id="{469703CA-C8AA-3574-94EC-BE4E75F3BA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2F9B09-6F43-063E-A562-01FD40D1C9BB}"/>
              </a:ext>
            </a:extLst>
          </p:cNvPr>
          <p:cNvSpPr>
            <a:spLocks noGrp="1"/>
          </p:cNvSpPr>
          <p:nvPr>
            <p:ph type="sldNum" sz="quarter" idx="12"/>
          </p:nvPr>
        </p:nvSpPr>
        <p:spPr/>
        <p:txBody>
          <a:bodyPr/>
          <a:lstStyle/>
          <a:p>
            <a:fld id="{441E4A3E-16F6-FF44-B4DD-5D27CCED9977}" type="slidenum">
              <a:rPr lang="en-US" smtClean="0"/>
              <a:t>‹#›</a:t>
            </a:fld>
            <a:endParaRPr lang="en-US"/>
          </a:p>
        </p:txBody>
      </p:sp>
    </p:spTree>
    <p:extLst>
      <p:ext uri="{BB962C8B-B14F-4D97-AF65-F5344CB8AC3E}">
        <p14:creationId xmlns:p14="http://schemas.microsoft.com/office/powerpoint/2010/main" val="3204277564"/>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E8AB6-0070-04F3-AAD0-5AA86F52F4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890534A-ABEC-F675-C2CF-213B9A505E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AEBD5D2-9533-8797-29FE-DEBC20E525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311DB5-BC64-5C1D-C34C-210E87D7786A}"/>
              </a:ext>
            </a:extLst>
          </p:cNvPr>
          <p:cNvSpPr>
            <a:spLocks noGrp="1"/>
          </p:cNvSpPr>
          <p:nvPr>
            <p:ph type="dt" sz="half" idx="10"/>
          </p:nvPr>
        </p:nvSpPr>
        <p:spPr/>
        <p:txBody>
          <a:bodyPr/>
          <a:lstStyle/>
          <a:p>
            <a:fld id="{1B6DB08B-3CF0-5545-9E5F-860011DFF19E}" type="datetime1">
              <a:rPr lang="en-US" smtClean="0"/>
              <a:t>4/21/2026</a:t>
            </a:fld>
            <a:endParaRPr lang="en-US"/>
          </a:p>
        </p:txBody>
      </p:sp>
      <p:sp>
        <p:nvSpPr>
          <p:cNvPr id="6" name="Footer Placeholder 5">
            <a:extLst>
              <a:ext uri="{FF2B5EF4-FFF2-40B4-BE49-F238E27FC236}">
                <a16:creationId xmlns:a16="http://schemas.microsoft.com/office/drawing/2014/main" id="{3C4F3911-425E-5901-E2DD-318A577910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2C0C69-DE03-CDE3-2068-DF50A1C06E6E}"/>
              </a:ext>
            </a:extLst>
          </p:cNvPr>
          <p:cNvSpPr>
            <a:spLocks noGrp="1"/>
          </p:cNvSpPr>
          <p:nvPr>
            <p:ph type="sldNum" sz="quarter" idx="12"/>
          </p:nvPr>
        </p:nvSpPr>
        <p:spPr/>
        <p:txBody>
          <a:bodyPr/>
          <a:lstStyle/>
          <a:p>
            <a:fld id="{441E4A3E-16F6-FF44-B4DD-5D27CCED9977}" type="slidenum">
              <a:rPr lang="en-US" smtClean="0"/>
              <a:t>‹#›</a:t>
            </a:fld>
            <a:endParaRPr lang="en-US"/>
          </a:p>
        </p:txBody>
      </p:sp>
    </p:spTree>
    <p:extLst>
      <p:ext uri="{BB962C8B-B14F-4D97-AF65-F5344CB8AC3E}">
        <p14:creationId xmlns:p14="http://schemas.microsoft.com/office/powerpoint/2010/main" val="382344540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4B73F-EAFE-948D-AA90-34AFE16C69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1D65A99-864D-3F1D-1AF1-FA1BE523B1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76DC17-D54A-E900-1F7B-DB4EF9684520}"/>
              </a:ext>
            </a:extLst>
          </p:cNvPr>
          <p:cNvSpPr>
            <a:spLocks noGrp="1"/>
          </p:cNvSpPr>
          <p:nvPr>
            <p:ph type="dt" sz="half" idx="10"/>
          </p:nvPr>
        </p:nvSpPr>
        <p:spPr/>
        <p:txBody>
          <a:bodyPr/>
          <a:lstStyle/>
          <a:p>
            <a:fld id="{85580417-FF6B-7C40-A6E0-1D9316D7BE40}" type="datetime1">
              <a:rPr lang="en-US" smtClean="0"/>
              <a:t>4/21/2026</a:t>
            </a:fld>
            <a:endParaRPr lang="en-US"/>
          </a:p>
        </p:txBody>
      </p:sp>
      <p:sp>
        <p:nvSpPr>
          <p:cNvPr id="5" name="Footer Placeholder 4">
            <a:extLst>
              <a:ext uri="{FF2B5EF4-FFF2-40B4-BE49-F238E27FC236}">
                <a16:creationId xmlns:a16="http://schemas.microsoft.com/office/drawing/2014/main" id="{B3E93A2F-8130-FAD9-B267-9F1708432C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C94273-BD85-0D67-2808-A911F36B900B}"/>
              </a:ext>
            </a:extLst>
          </p:cNvPr>
          <p:cNvSpPr>
            <a:spLocks noGrp="1"/>
          </p:cNvSpPr>
          <p:nvPr>
            <p:ph type="sldNum" sz="quarter" idx="12"/>
          </p:nvPr>
        </p:nvSpPr>
        <p:spPr/>
        <p:txBody>
          <a:bodyPr/>
          <a:lstStyle/>
          <a:p>
            <a:fld id="{441E4A3E-16F6-FF44-B4DD-5D27CCED9977}" type="slidenum">
              <a:rPr lang="en-US" smtClean="0"/>
              <a:t>‹#›</a:t>
            </a:fld>
            <a:endParaRPr lang="en-US"/>
          </a:p>
        </p:txBody>
      </p:sp>
    </p:spTree>
    <p:extLst>
      <p:ext uri="{BB962C8B-B14F-4D97-AF65-F5344CB8AC3E}">
        <p14:creationId xmlns:p14="http://schemas.microsoft.com/office/powerpoint/2010/main" val="135115730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B6E5DC-107D-9FC6-9F45-578EB6789A8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67701E2-3DDB-1639-98C2-437202F957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C5A221-C1D8-18E9-2483-FBCC3255F423}"/>
              </a:ext>
            </a:extLst>
          </p:cNvPr>
          <p:cNvSpPr>
            <a:spLocks noGrp="1"/>
          </p:cNvSpPr>
          <p:nvPr>
            <p:ph type="dt" sz="half" idx="10"/>
          </p:nvPr>
        </p:nvSpPr>
        <p:spPr/>
        <p:txBody>
          <a:bodyPr/>
          <a:lstStyle/>
          <a:p>
            <a:fld id="{E8566B87-7120-024D-A2A8-E315A2CE4C35}" type="datetime1">
              <a:rPr lang="en-US" smtClean="0"/>
              <a:t>4/21/2026</a:t>
            </a:fld>
            <a:endParaRPr lang="en-US"/>
          </a:p>
        </p:txBody>
      </p:sp>
      <p:sp>
        <p:nvSpPr>
          <p:cNvPr id="5" name="Footer Placeholder 4">
            <a:extLst>
              <a:ext uri="{FF2B5EF4-FFF2-40B4-BE49-F238E27FC236}">
                <a16:creationId xmlns:a16="http://schemas.microsoft.com/office/drawing/2014/main" id="{333E0568-D53E-1189-0948-27A165FEFF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393747-8A3B-2448-D23D-E21DBEE747C4}"/>
              </a:ext>
            </a:extLst>
          </p:cNvPr>
          <p:cNvSpPr>
            <a:spLocks noGrp="1"/>
          </p:cNvSpPr>
          <p:nvPr>
            <p:ph type="sldNum" sz="quarter" idx="12"/>
          </p:nvPr>
        </p:nvSpPr>
        <p:spPr/>
        <p:txBody>
          <a:bodyPr/>
          <a:lstStyle/>
          <a:p>
            <a:fld id="{441E4A3E-16F6-FF44-B4DD-5D27CCED9977}" type="slidenum">
              <a:rPr lang="en-US" smtClean="0"/>
              <a:t>‹#›</a:t>
            </a:fld>
            <a:endParaRPr lang="en-US"/>
          </a:p>
        </p:txBody>
      </p:sp>
    </p:spTree>
    <p:extLst>
      <p:ext uri="{BB962C8B-B14F-4D97-AF65-F5344CB8AC3E}">
        <p14:creationId xmlns:p14="http://schemas.microsoft.com/office/powerpoint/2010/main" val="4042223350"/>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58AE79-43EB-63D0-0D05-93DAADD4A0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945BEBF-F7D0-1A4F-17F2-8CB679A80C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037E2D-A5B8-CC1E-FC2A-779C02AD0B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1A1A09-ED77-C14B-8C72-02D702971205}" type="datetime1">
              <a:rPr lang="en-US" smtClean="0"/>
              <a:t>4/21/2026</a:t>
            </a:fld>
            <a:endParaRPr lang="en-US"/>
          </a:p>
        </p:txBody>
      </p:sp>
      <p:sp>
        <p:nvSpPr>
          <p:cNvPr id="5" name="Footer Placeholder 4">
            <a:extLst>
              <a:ext uri="{FF2B5EF4-FFF2-40B4-BE49-F238E27FC236}">
                <a16:creationId xmlns:a16="http://schemas.microsoft.com/office/drawing/2014/main" id="{C8B145E5-3587-103A-49B4-AC8A9CB2AE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8D20C70-ECB2-3C6B-5BFB-0D3C039CC3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1E4A3E-16F6-FF44-B4DD-5D27CCED9977}" type="slidenum">
              <a:rPr lang="en-US" smtClean="0"/>
              <a:t>‹#›</a:t>
            </a:fld>
            <a:endParaRPr lang="en-US"/>
          </a:p>
        </p:txBody>
      </p:sp>
    </p:spTree>
    <p:extLst>
      <p:ext uri="{BB962C8B-B14F-4D97-AF65-F5344CB8AC3E}">
        <p14:creationId xmlns:p14="http://schemas.microsoft.com/office/powerpoint/2010/main" val="36177609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8.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png"/><Relationship Id="rId9" Type="http://schemas.openxmlformats.org/officeDocument/2006/relationships/image" Target="../media/image10.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microsoft.com/office/2018/10/relationships/comments" Target="../comments/modernComment_120_5AB4A072.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hyperlink" Target="https://www.grandviewresearch.com/industry-analysis/online-food-delivery-market-report#:~:text=Delivery%20Industry%20Trends-,The%20online%20food%20delivery%20market%20in%20the%20U.S.%20is%20expected,scope%20beyond%20traditional%20restaurant%20meals"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ag.purdue.edu/news/2024/10/consumer-food-insights-report-highlights-increasing-use-of-food-ordering-apps.html" TargetMode="External"/><Relationship Id="rId5" Type="http://schemas.openxmlformats.org/officeDocument/2006/relationships/hyperlink" Target="https://pmc.ncbi.nlm.nih.gov/articles/PMC10163566/" TargetMode="External"/><Relationship Id="rId4" Type="http://schemas.openxmlformats.org/officeDocument/2006/relationships/hyperlink" Target="https://www.statista.com/outlook/emo/online-food-delivery/united-stat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10000">
              <a:srgbClr val="C00000"/>
            </a:gs>
            <a:gs pos="99000">
              <a:schemeClr val="tx1"/>
            </a:gs>
          </a:gsLst>
          <a:path path="circle">
            <a:fillToRect l="100000" t="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8AE9A-7633-C2E0-AEB1-30B776B5C812}"/>
              </a:ext>
            </a:extLst>
          </p:cNvPr>
          <p:cNvSpPr>
            <a:spLocks noGrp="1"/>
          </p:cNvSpPr>
          <p:nvPr>
            <p:ph type="ctrTitle"/>
          </p:nvPr>
        </p:nvSpPr>
        <p:spPr>
          <a:xfrm>
            <a:off x="1524000" y="-984592"/>
            <a:ext cx="9144000" cy="2242233"/>
          </a:xfrm>
        </p:spPr>
        <p:txBody>
          <a:bodyPr>
            <a:normAutofit/>
          </a:bodyPr>
          <a:lstStyle/>
          <a:p>
            <a:r>
              <a:rPr lang="en-US" b="1">
                <a:solidFill>
                  <a:schemeClr val="bg1"/>
                </a:solidFill>
              </a:rPr>
              <a:t>Team 6: Scarlet Delivery</a:t>
            </a:r>
          </a:p>
        </p:txBody>
      </p:sp>
      <p:sp>
        <p:nvSpPr>
          <p:cNvPr id="3" name="Subtitle 2">
            <a:extLst>
              <a:ext uri="{FF2B5EF4-FFF2-40B4-BE49-F238E27FC236}">
                <a16:creationId xmlns:a16="http://schemas.microsoft.com/office/drawing/2014/main" id="{84DE5DCA-C8CE-597F-75F9-B2C92EA55B48}"/>
              </a:ext>
            </a:extLst>
          </p:cNvPr>
          <p:cNvSpPr>
            <a:spLocks noGrp="1"/>
          </p:cNvSpPr>
          <p:nvPr>
            <p:ph type="subTitle" idx="1"/>
          </p:nvPr>
        </p:nvSpPr>
        <p:spPr>
          <a:xfrm>
            <a:off x="364142" y="5175114"/>
            <a:ext cx="4373228" cy="1363797"/>
          </a:xfrm>
        </p:spPr>
        <p:txBody>
          <a:bodyPr vert="horz" lIns="91440" tIns="45720" rIns="91440" bIns="45720" rtlCol="0" anchor="t">
            <a:normAutofit/>
          </a:bodyPr>
          <a:lstStyle/>
          <a:p>
            <a:pPr algn="l"/>
            <a:r>
              <a:rPr lang="en-US" sz="2000" b="1">
                <a:solidFill>
                  <a:schemeClr val="bg1"/>
                </a:solidFill>
              </a:rPr>
              <a:t>Intro to Marketing Spring ’25</a:t>
            </a:r>
          </a:p>
          <a:p>
            <a:pPr algn="l"/>
            <a:r>
              <a:rPr lang="en-US" sz="2000" b="1">
                <a:solidFill>
                  <a:schemeClr val="bg1"/>
                </a:solidFill>
              </a:rPr>
              <a:t>Professor Bernstein</a:t>
            </a:r>
          </a:p>
          <a:p>
            <a:pPr algn="l"/>
            <a:r>
              <a:rPr lang="en-US" sz="2000" b="1">
                <a:solidFill>
                  <a:schemeClr val="bg1"/>
                </a:solidFill>
              </a:rPr>
              <a:t>Final Team Project</a:t>
            </a:r>
          </a:p>
          <a:p>
            <a:endParaRPr lang="en-US" sz="2000">
              <a:solidFill>
                <a:schemeClr val="bg1"/>
              </a:solidFill>
            </a:endParaRPr>
          </a:p>
        </p:txBody>
      </p:sp>
      <p:pic>
        <p:nvPicPr>
          <p:cNvPr id="5" name="Picture 4">
            <a:extLst>
              <a:ext uri="{FF2B5EF4-FFF2-40B4-BE49-F238E27FC236}">
                <a16:creationId xmlns:a16="http://schemas.microsoft.com/office/drawing/2014/main" id="{FFDEDBE3-352D-158E-517A-B0CDC64B450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086772" y="5620259"/>
            <a:ext cx="2741086" cy="812575"/>
          </a:xfrm>
          <a:prstGeom prst="rect">
            <a:avLst/>
          </a:prstGeom>
        </p:spPr>
      </p:pic>
      <p:pic>
        <p:nvPicPr>
          <p:cNvPr id="6" name="Picture 5" descr="A white square with red text and a helmet on it&#10;&#10;AI-generated content may be incorrect.">
            <a:extLst>
              <a:ext uri="{FF2B5EF4-FFF2-40B4-BE49-F238E27FC236}">
                <a16:creationId xmlns:a16="http://schemas.microsoft.com/office/drawing/2014/main" id="{5EF2A1C5-6792-E22E-CEF9-7A8077E3CC47}"/>
              </a:ext>
            </a:extLst>
          </p:cNvPr>
          <p:cNvPicPr>
            <a:picLocks noChangeAspect="1"/>
          </p:cNvPicPr>
          <p:nvPr/>
        </p:nvPicPr>
        <p:blipFill>
          <a:blip r:embed="rId4"/>
          <a:stretch>
            <a:fillRect/>
          </a:stretch>
        </p:blipFill>
        <p:spPr>
          <a:xfrm>
            <a:off x="3401458" y="513831"/>
            <a:ext cx="5389084" cy="5343181"/>
          </a:xfrm>
          <a:prstGeom prst="rect">
            <a:avLst/>
          </a:prstGeom>
        </p:spPr>
      </p:pic>
    </p:spTree>
    <p:extLst>
      <p:ext uri="{BB962C8B-B14F-4D97-AF65-F5344CB8AC3E}">
        <p14:creationId xmlns:p14="http://schemas.microsoft.com/office/powerpoint/2010/main" val="1664069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87000">
              <a:srgbClr val="C00000"/>
            </a:gs>
            <a:gs pos="2000">
              <a:schemeClr val="tx1"/>
            </a:gs>
          </a:gsLst>
          <a:path path="circle">
            <a:fillToRect l="100000" t="100000"/>
          </a:path>
        </a:gradFill>
        <a:effectLst/>
      </p:bgPr>
    </p:bg>
    <p:spTree>
      <p:nvGrpSpPr>
        <p:cNvPr id="1" name="">
          <a:extLst>
            <a:ext uri="{FF2B5EF4-FFF2-40B4-BE49-F238E27FC236}">
              <a16:creationId xmlns:a16="http://schemas.microsoft.com/office/drawing/2014/main" id="{E071624F-6AAD-6DD1-BC76-4CE5FF7CB18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2B39549-7DB3-7EB3-5C42-9B3038A6B4D4}"/>
              </a:ext>
            </a:extLst>
          </p:cNvPr>
          <p:cNvSpPr/>
          <p:nvPr/>
        </p:nvSpPr>
        <p:spPr>
          <a:xfrm>
            <a:off x="0" y="1288"/>
            <a:ext cx="12191999" cy="947012"/>
          </a:xfrm>
          <a:prstGeom prst="rect">
            <a:avLst/>
          </a:prstGeom>
          <a:solidFill>
            <a:srgbClr val="8C000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B838330F-21FC-C747-8AAC-FD48DB4437C1}"/>
              </a:ext>
            </a:extLst>
          </p:cNvPr>
          <p:cNvSpPr txBox="1">
            <a:spLocks/>
          </p:cNvSpPr>
          <p:nvPr/>
        </p:nvSpPr>
        <p:spPr>
          <a:xfrm>
            <a:off x="-51931" y="-229485"/>
            <a:ext cx="12292315" cy="106487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r>
              <a:rPr lang="en-US" sz="4400" b="1">
                <a:solidFill>
                  <a:schemeClr val="bg1"/>
                </a:solidFill>
              </a:rPr>
              <a:t>Table of Contents</a:t>
            </a:r>
            <a:endParaRPr lang="en-US"/>
          </a:p>
        </p:txBody>
      </p:sp>
      <p:sp>
        <p:nvSpPr>
          <p:cNvPr id="2" name="Slide Number Placeholder 1">
            <a:extLst>
              <a:ext uri="{FF2B5EF4-FFF2-40B4-BE49-F238E27FC236}">
                <a16:creationId xmlns:a16="http://schemas.microsoft.com/office/drawing/2014/main" id="{1103BCF5-FA63-F3BA-3FEB-22A9131698D3}"/>
              </a:ext>
            </a:extLst>
          </p:cNvPr>
          <p:cNvSpPr>
            <a:spLocks noGrp="1"/>
          </p:cNvSpPr>
          <p:nvPr>
            <p:ph type="sldNum" sz="quarter" idx="12"/>
          </p:nvPr>
        </p:nvSpPr>
        <p:spPr/>
        <p:txBody>
          <a:bodyPr/>
          <a:lstStyle/>
          <a:p>
            <a:fld id="{441E4A3E-16F6-FF44-B4DD-5D27CCED9977}" type="slidenum">
              <a:rPr lang="en-US" dirty="0" smtClean="0">
                <a:solidFill>
                  <a:schemeClr val="bg1"/>
                </a:solidFill>
              </a:rPr>
              <a:t>2</a:t>
            </a:fld>
            <a:endParaRPr lang="en-US">
              <a:solidFill>
                <a:schemeClr val="bg1"/>
              </a:solidFill>
            </a:endParaRPr>
          </a:p>
        </p:txBody>
      </p:sp>
      <p:sp>
        <p:nvSpPr>
          <p:cNvPr id="8" name="Content Placeholder 2">
            <a:extLst>
              <a:ext uri="{FF2B5EF4-FFF2-40B4-BE49-F238E27FC236}">
                <a16:creationId xmlns:a16="http://schemas.microsoft.com/office/drawing/2014/main" id="{0B54635D-9A12-5682-EE17-F54FB3F877D2}"/>
              </a:ext>
            </a:extLst>
          </p:cNvPr>
          <p:cNvSpPr txBox="1">
            <a:spLocks/>
          </p:cNvSpPr>
          <p:nvPr/>
        </p:nvSpPr>
        <p:spPr>
          <a:xfrm>
            <a:off x="838414" y="1417731"/>
            <a:ext cx="10515600" cy="4493279"/>
          </a:xfrm>
          <a:prstGeom prst="rect">
            <a:avLst/>
          </a:prstGeom>
        </p:spPr>
        <p:txBody>
          <a:bodyPr vert="horz" lIns="91440" tIns="45720" rIns="91440" bIns="45720" rtlCol="0" anchor="t">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10000"/>
              </a:lnSpc>
            </a:pPr>
            <a:r>
              <a:rPr lang="en-US" sz="3100" b="1">
                <a:solidFill>
                  <a:schemeClr val="bg1"/>
                </a:solidFill>
                <a:ea typeface="+mn-lt"/>
                <a:cs typeface="+mn-lt"/>
              </a:rPr>
              <a:t>I</a:t>
            </a:r>
            <a:r>
              <a:rPr lang="en-US" sz="4700" b="1">
                <a:solidFill>
                  <a:schemeClr val="bg1"/>
                </a:solidFill>
                <a:ea typeface="+mn-lt"/>
                <a:cs typeface="+mn-lt"/>
              </a:rPr>
              <a:t>.</a:t>
            </a:r>
            <a:r>
              <a:rPr lang="en-US" sz="3500" b="1">
                <a:solidFill>
                  <a:schemeClr val="bg1"/>
                </a:solidFill>
                <a:ea typeface="+mn-lt"/>
                <a:cs typeface="+mn-lt"/>
              </a:rPr>
              <a:t> </a:t>
            </a:r>
            <a:r>
              <a:rPr lang="en-US" sz="3400" b="1">
                <a:solidFill>
                  <a:schemeClr val="bg1"/>
                </a:solidFill>
                <a:ea typeface="+mn-lt"/>
                <a:cs typeface="+mn-lt"/>
              </a:rPr>
              <a:t>Team Introductions</a:t>
            </a:r>
            <a:br>
              <a:rPr lang="en-US" sz="3400" b="1">
                <a:ea typeface="+mn-lt"/>
                <a:cs typeface="+mn-lt"/>
              </a:rPr>
            </a:br>
            <a:r>
              <a:rPr lang="en-US" sz="3400" b="1">
                <a:solidFill>
                  <a:schemeClr val="bg1"/>
                </a:solidFill>
                <a:ea typeface="+mn-lt"/>
                <a:cs typeface="+mn-lt"/>
              </a:rPr>
              <a:t>II.</a:t>
            </a:r>
            <a:r>
              <a:rPr lang="en-US" sz="3500" b="1">
                <a:solidFill>
                  <a:schemeClr val="bg1"/>
                </a:solidFill>
                <a:ea typeface="+mn-lt"/>
                <a:cs typeface="+mn-lt"/>
              </a:rPr>
              <a:t> </a:t>
            </a:r>
            <a:r>
              <a:rPr lang="en-US" sz="3400" b="1">
                <a:solidFill>
                  <a:schemeClr val="bg1"/>
                </a:solidFill>
                <a:ea typeface="+mn-lt"/>
                <a:cs typeface="+mn-lt"/>
              </a:rPr>
              <a:t>Executive Summary - Yonathan</a:t>
            </a:r>
            <a:br>
              <a:rPr lang="en-US" sz="3400" b="1">
                <a:ea typeface="+mn-lt"/>
                <a:cs typeface="+mn-lt"/>
              </a:rPr>
            </a:br>
            <a:r>
              <a:rPr lang="en-US" sz="3400" b="1">
                <a:solidFill>
                  <a:schemeClr val="bg1"/>
                </a:solidFill>
                <a:ea typeface="+mn-lt"/>
                <a:cs typeface="+mn-lt"/>
              </a:rPr>
              <a:t>III.</a:t>
            </a:r>
            <a:r>
              <a:rPr lang="en-US" sz="3500" b="1">
                <a:solidFill>
                  <a:schemeClr val="bg1"/>
                </a:solidFill>
                <a:ea typeface="+mn-lt"/>
                <a:cs typeface="+mn-lt"/>
              </a:rPr>
              <a:t> </a:t>
            </a:r>
            <a:r>
              <a:rPr lang="en-US" sz="3400" b="1">
                <a:solidFill>
                  <a:schemeClr val="bg1"/>
                </a:solidFill>
                <a:ea typeface="+mn-lt"/>
                <a:cs typeface="+mn-lt"/>
              </a:rPr>
              <a:t>Situation Analysis - Stella</a:t>
            </a:r>
            <a:br>
              <a:rPr lang="en-US" sz="3400" b="1">
                <a:ea typeface="+mn-lt"/>
                <a:cs typeface="+mn-lt"/>
              </a:rPr>
            </a:br>
            <a:r>
              <a:rPr lang="en-US" sz="3400" b="1">
                <a:solidFill>
                  <a:schemeClr val="bg1"/>
                </a:solidFill>
                <a:ea typeface="+mn-lt"/>
                <a:cs typeface="+mn-lt"/>
              </a:rPr>
              <a:t>IV.</a:t>
            </a:r>
            <a:r>
              <a:rPr lang="en-US" sz="3500" b="1">
                <a:solidFill>
                  <a:schemeClr val="bg1"/>
                </a:solidFill>
                <a:ea typeface="+mn-lt"/>
                <a:cs typeface="+mn-lt"/>
              </a:rPr>
              <a:t> </a:t>
            </a:r>
            <a:r>
              <a:rPr lang="en-US" sz="3400" b="1">
                <a:solidFill>
                  <a:schemeClr val="bg1"/>
                </a:solidFill>
                <a:ea typeface="+mn-lt"/>
                <a:cs typeface="+mn-lt"/>
              </a:rPr>
              <a:t>Industry Analysis - Luke</a:t>
            </a:r>
            <a:br>
              <a:rPr lang="en-US" sz="3400" b="1">
                <a:ea typeface="+mn-lt"/>
                <a:cs typeface="+mn-lt"/>
              </a:rPr>
            </a:br>
            <a:r>
              <a:rPr lang="en-US" sz="3400" b="1">
                <a:solidFill>
                  <a:schemeClr val="bg1"/>
                </a:solidFill>
                <a:ea typeface="+mn-lt"/>
                <a:cs typeface="+mn-lt"/>
              </a:rPr>
              <a:t>V.</a:t>
            </a:r>
            <a:r>
              <a:rPr lang="en-US" sz="3500" b="1">
                <a:solidFill>
                  <a:schemeClr val="bg1"/>
                </a:solidFill>
                <a:ea typeface="+mn-lt"/>
                <a:cs typeface="+mn-lt"/>
              </a:rPr>
              <a:t> </a:t>
            </a:r>
            <a:r>
              <a:rPr lang="en-US" sz="3400" b="1">
                <a:solidFill>
                  <a:schemeClr val="bg1"/>
                </a:solidFill>
                <a:ea typeface="+mn-lt"/>
                <a:cs typeface="+mn-lt"/>
              </a:rPr>
              <a:t>Competitive Analysis - Wesley </a:t>
            </a:r>
            <a:br>
              <a:rPr lang="en-US" sz="3400" b="1">
                <a:ea typeface="+mn-lt"/>
                <a:cs typeface="+mn-lt"/>
              </a:rPr>
            </a:br>
            <a:r>
              <a:rPr lang="en-US" sz="3400" b="1">
                <a:solidFill>
                  <a:schemeClr val="bg1"/>
                </a:solidFill>
                <a:ea typeface="+mn-lt"/>
                <a:cs typeface="+mn-lt"/>
              </a:rPr>
              <a:t>VI.</a:t>
            </a:r>
            <a:r>
              <a:rPr lang="en-US" sz="3500" b="1">
                <a:solidFill>
                  <a:schemeClr val="bg1"/>
                </a:solidFill>
                <a:ea typeface="+mn-lt"/>
                <a:cs typeface="+mn-lt"/>
              </a:rPr>
              <a:t> </a:t>
            </a:r>
            <a:r>
              <a:rPr lang="en-US" sz="3400" b="1">
                <a:solidFill>
                  <a:schemeClr val="bg1"/>
                </a:solidFill>
                <a:ea typeface="+mn-lt"/>
                <a:cs typeface="+mn-lt"/>
              </a:rPr>
              <a:t>Environmental Analysis (SWOT) - Jacob </a:t>
            </a:r>
            <a:br>
              <a:rPr lang="en-US" sz="3400" b="1">
                <a:ea typeface="+mn-lt"/>
                <a:cs typeface="+mn-lt"/>
              </a:rPr>
            </a:br>
            <a:r>
              <a:rPr lang="en-US" sz="3400" b="1">
                <a:solidFill>
                  <a:schemeClr val="bg1"/>
                </a:solidFill>
                <a:ea typeface="+mn-lt"/>
                <a:cs typeface="+mn-lt"/>
              </a:rPr>
              <a:t>VII.</a:t>
            </a:r>
            <a:r>
              <a:rPr lang="en-US" sz="3500" b="1">
                <a:solidFill>
                  <a:schemeClr val="bg1"/>
                </a:solidFill>
                <a:ea typeface="+mn-lt"/>
                <a:cs typeface="+mn-lt"/>
              </a:rPr>
              <a:t> </a:t>
            </a:r>
            <a:r>
              <a:rPr lang="en-US" sz="3400" b="1">
                <a:solidFill>
                  <a:schemeClr val="bg1"/>
                </a:solidFill>
                <a:ea typeface="+mn-lt"/>
                <a:cs typeface="+mn-lt"/>
              </a:rPr>
              <a:t>Target Audience(s)/Personas - Yonathan </a:t>
            </a:r>
            <a:br>
              <a:rPr lang="en-US" sz="3400" b="1">
                <a:ea typeface="+mn-lt"/>
                <a:cs typeface="+mn-lt"/>
              </a:rPr>
            </a:br>
            <a:r>
              <a:rPr lang="en-US" sz="3400" b="1">
                <a:solidFill>
                  <a:schemeClr val="bg1"/>
                </a:solidFill>
                <a:ea typeface="+mn-lt"/>
                <a:cs typeface="+mn-lt"/>
              </a:rPr>
              <a:t>VIII.</a:t>
            </a:r>
            <a:r>
              <a:rPr lang="en-US" sz="3500" b="1">
                <a:solidFill>
                  <a:schemeClr val="bg1"/>
                </a:solidFill>
                <a:ea typeface="+mn-lt"/>
                <a:cs typeface="+mn-lt"/>
              </a:rPr>
              <a:t> </a:t>
            </a:r>
            <a:r>
              <a:rPr lang="en-US" sz="3400" b="1">
                <a:solidFill>
                  <a:schemeClr val="bg1"/>
                </a:solidFill>
                <a:ea typeface="+mn-lt"/>
                <a:cs typeface="+mn-lt"/>
              </a:rPr>
              <a:t>Marketing Objectives/Goals - Katelyn </a:t>
            </a:r>
            <a:endParaRPr lang="en-US" b="1">
              <a:solidFill>
                <a:schemeClr val="bg1"/>
              </a:solidFill>
              <a:ea typeface="+mn-lt"/>
              <a:cs typeface="+mn-lt"/>
            </a:endParaRPr>
          </a:p>
          <a:p>
            <a:pPr algn="l">
              <a:lnSpc>
                <a:spcPct val="110000"/>
              </a:lnSpc>
            </a:pPr>
            <a:r>
              <a:rPr lang="en-US" sz="3400" b="1">
                <a:solidFill>
                  <a:schemeClr val="bg1"/>
                </a:solidFill>
                <a:ea typeface="+mn-lt"/>
                <a:cs typeface="+mn-lt"/>
              </a:rPr>
              <a:t>IX.</a:t>
            </a:r>
            <a:r>
              <a:rPr lang="en-US" sz="3500" b="1">
                <a:solidFill>
                  <a:schemeClr val="bg1"/>
                </a:solidFill>
                <a:ea typeface="+mn-lt"/>
                <a:cs typeface="+mn-lt"/>
              </a:rPr>
              <a:t> </a:t>
            </a:r>
            <a:r>
              <a:rPr lang="en-US" sz="3400" b="1">
                <a:solidFill>
                  <a:schemeClr val="bg1"/>
                </a:solidFill>
                <a:ea typeface="+mn-lt"/>
                <a:cs typeface="+mn-lt"/>
              </a:rPr>
              <a:t>Marketing Mix Strategies - William and Yeison </a:t>
            </a:r>
            <a:br>
              <a:rPr lang="en-US" sz="3400" b="1">
                <a:ea typeface="+mn-lt"/>
                <a:cs typeface="+mn-lt"/>
              </a:rPr>
            </a:br>
            <a:r>
              <a:rPr lang="en-US" sz="3400" b="1">
                <a:solidFill>
                  <a:schemeClr val="bg1"/>
                </a:solidFill>
                <a:ea typeface="+mn-lt"/>
                <a:cs typeface="+mn-lt"/>
              </a:rPr>
              <a:t>X.</a:t>
            </a:r>
            <a:r>
              <a:rPr lang="en-US" sz="3500" b="1">
                <a:solidFill>
                  <a:schemeClr val="bg1"/>
                </a:solidFill>
                <a:ea typeface="+mn-lt"/>
                <a:cs typeface="+mn-lt"/>
              </a:rPr>
              <a:t> </a:t>
            </a:r>
            <a:r>
              <a:rPr lang="en-US" sz="3400" b="1">
                <a:solidFill>
                  <a:schemeClr val="bg1"/>
                </a:solidFill>
                <a:ea typeface="+mn-lt"/>
                <a:cs typeface="+mn-lt"/>
              </a:rPr>
              <a:t>Evaluation &amp; Control - Yeison </a:t>
            </a:r>
            <a:endParaRPr lang="en-US" b="1">
              <a:solidFill>
                <a:schemeClr val="bg1"/>
              </a:solidFill>
            </a:endParaRPr>
          </a:p>
        </p:txBody>
      </p:sp>
    </p:spTree>
    <p:extLst>
      <p:ext uri="{BB962C8B-B14F-4D97-AF65-F5344CB8AC3E}">
        <p14:creationId xmlns:p14="http://schemas.microsoft.com/office/powerpoint/2010/main" val="1310199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16000">
              <a:srgbClr val="C00000"/>
            </a:gs>
            <a:gs pos="98000">
              <a:schemeClr val="tx1"/>
            </a:gs>
          </a:gsLst>
          <a:path path="circle">
            <a:fillToRect l="100000" t="100000"/>
          </a:path>
        </a:gradFill>
        <a:effectLst/>
      </p:bgPr>
    </p:bg>
    <p:spTree>
      <p:nvGrpSpPr>
        <p:cNvPr id="1" name="">
          <a:extLst>
            <a:ext uri="{FF2B5EF4-FFF2-40B4-BE49-F238E27FC236}">
              <a16:creationId xmlns:a16="http://schemas.microsoft.com/office/drawing/2014/main" id="{B1D5A036-D2FA-2827-9959-18F98053307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B6BC627-4E27-8FB1-CEAC-1B4DF1683536}"/>
              </a:ext>
            </a:extLst>
          </p:cNvPr>
          <p:cNvSpPr/>
          <p:nvPr/>
        </p:nvSpPr>
        <p:spPr>
          <a:xfrm>
            <a:off x="0" y="1288"/>
            <a:ext cx="12192000" cy="1026231"/>
          </a:xfrm>
          <a:prstGeom prst="rect">
            <a:avLst/>
          </a:prstGeom>
          <a:solidFill>
            <a:srgbClr val="74001C"/>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0" b="1">
                <a:solidFill>
                  <a:schemeClr val="bg1"/>
                </a:solidFill>
                <a:latin typeface="Aptos Display"/>
              </a:rPr>
              <a:t>Introducing the Team!</a:t>
            </a:r>
            <a:endParaRPr lang="en-US" sz="6000">
              <a:solidFill>
                <a:schemeClr val="bg1"/>
              </a:solidFill>
              <a:latin typeface="Aptos Display"/>
            </a:endParaRPr>
          </a:p>
          <a:p>
            <a:pPr algn="ctr"/>
            <a:endParaRPr lang="en-US"/>
          </a:p>
        </p:txBody>
      </p:sp>
      <p:sp>
        <p:nvSpPr>
          <p:cNvPr id="2" name="Slide Number Placeholder 1">
            <a:extLst>
              <a:ext uri="{FF2B5EF4-FFF2-40B4-BE49-F238E27FC236}">
                <a16:creationId xmlns:a16="http://schemas.microsoft.com/office/drawing/2014/main" id="{E9398CA8-E5FC-E692-79B8-8F15469C7C3B}"/>
              </a:ext>
            </a:extLst>
          </p:cNvPr>
          <p:cNvSpPr>
            <a:spLocks noGrp="1"/>
          </p:cNvSpPr>
          <p:nvPr>
            <p:ph type="sldNum" sz="quarter" idx="12"/>
          </p:nvPr>
        </p:nvSpPr>
        <p:spPr/>
        <p:txBody>
          <a:bodyPr/>
          <a:lstStyle/>
          <a:p>
            <a:fld id="{441E4A3E-16F6-FF44-B4DD-5D27CCED9977}" type="slidenum">
              <a:rPr lang="en-US" dirty="0" smtClean="0">
                <a:solidFill>
                  <a:schemeClr val="bg1"/>
                </a:solidFill>
              </a:rPr>
              <a:t>3</a:t>
            </a:fld>
            <a:endParaRPr lang="en-US">
              <a:solidFill>
                <a:schemeClr val="bg1"/>
              </a:solidFill>
            </a:endParaRPr>
          </a:p>
        </p:txBody>
      </p:sp>
      <p:pic>
        <p:nvPicPr>
          <p:cNvPr id="9" name="Picture 8" descr="A person in a tuxedo smiling&#10;&#10;AI-generated content may be incorrect.">
            <a:extLst>
              <a:ext uri="{FF2B5EF4-FFF2-40B4-BE49-F238E27FC236}">
                <a16:creationId xmlns:a16="http://schemas.microsoft.com/office/drawing/2014/main" id="{BFC8E7B4-6307-FB9A-75F5-D736DE5CC965}"/>
              </a:ext>
            </a:extLst>
          </p:cNvPr>
          <p:cNvPicPr>
            <a:picLocks noChangeAspect="1"/>
          </p:cNvPicPr>
          <p:nvPr/>
        </p:nvPicPr>
        <p:blipFill>
          <a:blip r:embed="rId2"/>
          <a:stretch>
            <a:fillRect/>
          </a:stretch>
        </p:blipFill>
        <p:spPr>
          <a:xfrm>
            <a:off x="1094555" y="1454658"/>
            <a:ext cx="2276476" cy="2233248"/>
          </a:xfrm>
          <a:prstGeom prst="rect">
            <a:avLst/>
          </a:prstGeom>
        </p:spPr>
      </p:pic>
      <p:pic>
        <p:nvPicPr>
          <p:cNvPr id="13" name="Picture 12" descr="A person and person posing for a picture&#10;&#10;Description automatically generated">
            <a:extLst>
              <a:ext uri="{FF2B5EF4-FFF2-40B4-BE49-F238E27FC236}">
                <a16:creationId xmlns:a16="http://schemas.microsoft.com/office/drawing/2014/main" id="{C971BD01-070F-991F-DC3D-E8FE155C4341}"/>
              </a:ext>
            </a:extLst>
          </p:cNvPr>
          <p:cNvPicPr>
            <a:picLocks noChangeAspect="1"/>
          </p:cNvPicPr>
          <p:nvPr/>
        </p:nvPicPr>
        <p:blipFill>
          <a:blip r:embed="rId3"/>
          <a:srcRect l="28560" t="22835" r="46099" b="55613"/>
          <a:stretch/>
        </p:blipFill>
        <p:spPr>
          <a:xfrm>
            <a:off x="3940605" y="1453340"/>
            <a:ext cx="1946077" cy="2206917"/>
          </a:xfrm>
          <a:prstGeom prst="rect">
            <a:avLst/>
          </a:prstGeom>
        </p:spPr>
      </p:pic>
      <p:pic>
        <p:nvPicPr>
          <p:cNvPr id="15" name="Picture 14" descr="A person wearing glasses and a suit&#10;&#10;AI-generated content may be incorrect.">
            <a:extLst>
              <a:ext uri="{FF2B5EF4-FFF2-40B4-BE49-F238E27FC236}">
                <a16:creationId xmlns:a16="http://schemas.microsoft.com/office/drawing/2014/main" id="{08E3C0A7-C2A1-883B-1B73-10829C712E8E}"/>
              </a:ext>
            </a:extLst>
          </p:cNvPr>
          <p:cNvPicPr>
            <a:picLocks noChangeAspect="1"/>
          </p:cNvPicPr>
          <p:nvPr/>
        </p:nvPicPr>
        <p:blipFill>
          <a:blip r:embed="rId4"/>
          <a:srcRect l="18988" t="14884" r="24841" b="1925"/>
          <a:stretch>
            <a:fillRect/>
          </a:stretch>
        </p:blipFill>
        <p:spPr>
          <a:xfrm>
            <a:off x="6591659" y="1441802"/>
            <a:ext cx="1848379" cy="2231660"/>
          </a:xfrm>
          <a:prstGeom prst="rect">
            <a:avLst/>
          </a:prstGeom>
        </p:spPr>
      </p:pic>
      <p:pic>
        <p:nvPicPr>
          <p:cNvPr id="17" name="Picture 16" descr="A person with long hair smiling&#10;&#10;AI-generated content may be incorrect.">
            <a:extLst>
              <a:ext uri="{FF2B5EF4-FFF2-40B4-BE49-F238E27FC236}">
                <a16:creationId xmlns:a16="http://schemas.microsoft.com/office/drawing/2014/main" id="{7BD73B2E-6802-8622-3D14-CC66223B4715}"/>
              </a:ext>
            </a:extLst>
          </p:cNvPr>
          <p:cNvPicPr>
            <a:picLocks noChangeAspect="1"/>
          </p:cNvPicPr>
          <p:nvPr/>
        </p:nvPicPr>
        <p:blipFill>
          <a:blip r:embed="rId5"/>
          <a:stretch>
            <a:fillRect/>
          </a:stretch>
        </p:blipFill>
        <p:spPr>
          <a:xfrm rot="5400000">
            <a:off x="8751794" y="1708897"/>
            <a:ext cx="2229970" cy="1703294"/>
          </a:xfrm>
          <a:prstGeom prst="rect">
            <a:avLst/>
          </a:prstGeom>
        </p:spPr>
      </p:pic>
      <p:pic>
        <p:nvPicPr>
          <p:cNvPr id="19" name="Picture 18" descr="A person standing on a railing by water&#10;&#10;AI-generated content may be incorrect.">
            <a:extLst>
              <a:ext uri="{FF2B5EF4-FFF2-40B4-BE49-F238E27FC236}">
                <a16:creationId xmlns:a16="http://schemas.microsoft.com/office/drawing/2014/main" id="{44F5F760-E150-20DE-E697-8E60B2816D8C}"/>
              </a:ext>
            </a:extLst>
          </p:cNvPr>
          <p:cNvPicPr>
            <a:picLocks noChangeAspect="1"/>
          </p:cNvPicPr>
          <p:nvPr/>
        </p:nvPicPr>
        <p:blipFill>
          <a:blip r:embed="rId6"/>
          <a:srcRect t="14815" r="680" b="11696"/>
          <a:stretch>
            <a:fillRect/>
          </a:stretch>
        </p:blipFill>
        <p:spPr>
          <a:xfrm>
            <a:off x="1094942" y="4085356"/>
            <a:ext cx="2275702" cy="2252583"/>
          </a:xfrm>
          <a:prstGeom prst="rect">
            <a:avLst/>
          </a:prstGeom>
        </p:spPr>
      </p:pic>
      <p:pic>
        <p:nvPicPr>
          <p:cNvPr id="21" name="Picture 20" descr="A person with long brown hair smiling&#10;&#10;AI-generated content may be incorrect.">
            <a:extLst>
              <a:ext uri="{FF2B5EF4-FFF2-40B4-BE49-F238E27FC236}">
                <a16:creationId xmlns:a16="http://schemas.microsoft.com/office/drawing/2014/main" id="{70A686C3-3CFF-72C1-B7D9-C83914E59D15}"/>
              </a:ext>
            </a:extLst>
          </p:cNvPr>
          <p:cNvPicPr>
            <a:picLocks noChangeAspect="1"/>
          </p:cNvPicPr>
          <p:nvPr/>
        </p:nvPicPr>
        <p:blipFill>
          <a:blip r:embed="rId7"/>
          <a:stretch>
            <a:fillRect/>
          </a:stretch>
        </p:blipFill>
        <p:spPr>
          <a:xfrm>
            <a:off x="3940605" y="4012498"/>
            <a:ext cx="1957138" cy="2398296"/>
          </a:xfrm>
          <a:prstGeom prst="rect">
            <a:avLst/>
          </a:prstGeom>
        </p:spPr>
      </p:pic>
      <p:pic>
        <p:nvPicPr>
          <p:cNvPr id="23" name="Picture 22" descr="A person in a white shirt&#10;&#10;AI-generated content may be incorrect.">
            <a:extLst>
              <a:ext uri="{FF2B5EF4-FFF2-40B4-BE49-F238E27FC236}">
                <a16:creationId xmlns:a16="http://schemas.microsoft.com/office/drawing/2014/main" id="{80376AB8-BF2D-DFB3-D6D6-D5BE1F486A7D}"/>
              </a:ext>
            </a:extLst>
          </p:cNvPr>
          <p:cNvPicPr>
            <a:picLocks noChangeAspect="1"/>
          </p:cNvPicPr>
          <p:nvPr/>
        </p:nvPicPr>
        <p:blipFill>
          <a:blip r:embed="rId8"/>
          <a:srcRect l="6286" t="5289" r="5714" b="3781"/>
          <a:stretch>
            <a:fillRect/>
          </a:stretch>
        </p:blipFill>
        <p:spPr>
          <a:xfrm>
            <a:off x="6467704" y="4104179"/>
            <a:ext cx="2252150" cy="2214935"/>
          </a:xfrm>
          <a:prstGeom prst="rect">
            <a:avLst/>
          </a:prstGeom>
        </p:spPr>
      </p:pic>
      <p:pic>
        <p:nvPicPr>
          <p:cNvPr id="5" name="Picture 4" descr="A person in a suit and tie&#10;&#10;AI-generated content may be incorrect.">
            <a:extLst>
              <a:ext uri="{FF2B5EF4-FFF2-40B4-BE49-F238E27FC236}">
                <a16:creationId xmlns:a16="http://schemas.microsoft.com/office/drawing/2014/main" id="{C7AE1743-07B0-DE90-8DF5-D05EBD9F1E75}"/>
              </a:ext>
            </a:extLst>
          </p:cNvPr>
          <p:cNvPicPr>
            <a:picLocks noChangeAspect="1"/>
          </p:cNvPicPr>
          <p:nvPr/>
        </p:nvPicPr>
        <p:blipFill>
          <a:blip r:embed="rId9"/>
          <a:stretch>
            <a:fillRect/>
          </a:stretch>
        </p:blipFill>
        <p:spPr>
          <a:xfrm>
            <a:off x="9015132" y="4093569"/>
            <a:ext cx="1772126" cy="2250869"/>
          </a:xfrm>
          <a:prstGeom prst="rect">
            <a:avLst/>
          </a:prstGeom>
        </p:spPr>
      </p:pic>
    </p:spTree>
    <p:extLst>
      <p:ext uri="{BB962C8B-B14F-4D97-AF65-F5344CB8AC3E}">
        <p14:creationId xmlns:p14="http://schemas.microsoft.com/office/powerpoint/2010/main" val="2437624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10000">
              <a:srgbClr val="C00000"/>
            </a:gs>
            <a:gs pos="99000">
              <a:schemeClr val="tx1"/>
            </a:gs>
          </a:gsLst>
          <a:path path="circle">
            <a:fillToRect l="100000" t="100000"/>
          </a:path>
        </a:gradFill>
        <a:effectLst/>
      </p:bgPr>
    </p:bg>
    <p:spTree>
      <p:nvGrpSpPr>
        <p:cNvPr id="1" name="">
          <a:extLst>
            <a:ext uri="{FF2B5EF4-FFF2-40B4-BE49-F238E27FC236}">
              <a16:creationId xmlns:a16="http://schemas.microsoft.com/office/drawing/2014/main" id="{BD1ACEBE-DACE-A8CB-DA41-5CACBB5005F5}"/>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F09A45B8-E5D6-831A-AB02-520FC13A00AE}"/>
              </a:ext>
            </a:extLst>
          </p:cNvPr>
          <p:cNvSpPr txBox="1">
            <a:spLocks/>
          </p:cNvSpPr>
          <p:nvPr/>
        </p:nvSpPr>
        <p:spPr>
          <a:xfrm>
            <a:off x="-2390" y="7314"/>
            <a:ext cx="12203953" cy="1195390"/>
          </a:xfrm>
          <a:prstGeom prst="rect">
            <a:avLst/>
          </a:prstGeom>
          <a:solidFill>
            <a:srgbClr val="590000"/>
          </a:solidFill>
          <a:ln>
            <a:solidFill>
              <a:schemeClr val="tx1"/>
            </a:solid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solidFill>
                  <a:schemeClr val="bg1"/>
                </a:solidFill>
              </a:rPr>
              <a:t>Executive Summary</a:t>
            </a:r>
            <a:endParaRPr lang="en-US">
              <a:solidFill>
                <a:schemeClr val="bg1"/>
              </a:solidFill>
            </a:endParaRPr>
          </a:p>
        </p:txBody>
      </p:sp>
      <p:sp>
        <p:nvSpPr>
          <p:cNvPr id="5" name="Text Placeholder 3">
            <a:extLst>
              <a:ext uri="{FF2B5EF4-FFF2-40B4-BE49-F238E27FC236}">
                <a16:creationId xmlns:a16="http://schemas.microsoft.com/office/drawing/2014/main" id="{0CCF5F2E-F26D-8AC0-135B-EE88309E947A}"/>
              </a:ext>
            </a:extLst>
          </p:cNvPr>
          <p:cNvSpPr txBox="1">
            <a:spLocks/>
          </p:cNvSpPr>
          <p:nvPr/>
        </p:nvSpPr>
        <p:spPr>
          <a:xfrm>
            <a:off x="586014" y="1562683"/>
            <a:ext cx="11023924" cy="412011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00000"/>
              </a:lnSpc>
            </a:pPr>
            <a:r>
              <a:rPr lang="en-US" sz="2000">
                <a:solidFill>
                  <a:schemeClr val="bg1"/>
                </a:solidFill>
              </a:rPr>
              <a:t>To create a Rutgers food delivery application that utilizes meal swipes to deliver on-campus takeout options to students</a:t>
            </a:r>
          </a:p>
          <a:p>
            <a:pPr marL="285750" indent="-285750">
              <a:lnSpc>
                <a:spcPct val="100000"/>
              </a:lnSpc>
            </a:pPr>
            <a:r>
              <a:rPr lang="en-US" sz="2000">
                <a:solidFill>
                  <a:schemeClr val="bg1"/>
                </a:solidFill>
              </a:rPr>
              <a:t>This provides convenience for Rutgers students </a:t>
            </a:r>
          </a:p>
          <a:p>
            <a:pPr marL="285750" indent="-285750">
              <a:lnSpc>
                <a:spcPct val="100000"/>
              </a:lnSpc>
            </a:pPr>
            <a:r>
              <a:rPr lang="en-US" sz="2000">
                <a:solidFill>
                  <a:schemeClr val="bg1"/>
                </a:solidFill>
              </a:rPr>
              <a:t>Will be entering the food delivery app industry, with direct competitors being DoorDash, Grubhub, and Uber Eats</a:t>
            </a:r>
          </a:p>
          <a:p>
            <a:pPr marL="285750" indent="-285750">
              <a:lnSpc>
                <a:spcPct val="100000"/>
              </a:lnSpc>
              <a:spcBef>
                <a:spcPts val="0"/>
              </a:spcBef>
            </a:pPr>
            <a:r>
              <a:rPr lang="en-US" sz="2000">
                <a:solidFill>
                  <a:schemeClr val="bg1"/>
                </a:solidFill>
              </a:rPr>
              <a:t>Main goals are to achieve 15% brand recognition with the first year of operation, and 40% brand recognition within the first three years as well as $175,000 of sales revenue </a:t>
            </a:r>
          </a:p>
          <a:p>
            <a:pPr marL="285750" indent="-285750">
              <a:lnSpc>
                <a:spcPct val="100000"/>
              </a:lnSpc>
            </a:pPr>
            <a:r>
              <a:rPr lang="en-US" sz="2000">
                <a:solidFill>
                  <a:schemeClr val="bg1"/>
                </a:solidFill>
              </a:rPr>
              <a:t>This will succeed as such a large campus as Rutgers forces students to opt for delivery often - this simply allows for delivery using prepaid meal swipes </a:t>
            </a:r>
          </a:p>
          <a:p>
            <a:pPr marL="285750" indent="-285750">
              <a:lnSpc>
                <a:spcPct val="100000"/>
              </a:lnSpc>
            </a:pPr>
            <a:r>
              <a:rPr lang="en-US" sz="2000">
                <a:solidFill>
                  <a:schemeClr val="bg1"/>
                </a:solidFill>
              </a:rPr>
              <a:t>Centered and formulated particularly for Rutgers students </a:t>
            </a:r>
          </a:p>
          <a:p>
            <a:pPr marL="800100" lvl="1" indent="-342900">
              <a:lnSpc>
                <a:spcPct val="100000"/>
              </a:lnSpc>
              <a:buFont typeface="Wingdings" panose="05000000000000000000" pitchFamily="2" charset="2"/>
              <a:buChar char="ü"/>
            </a:pPr>
            <a:endParaRPr lang="en-US" sz="1800" b="1"/>
          </a:p>
          <a:p>
            <a:pPr marL="342900" indent="-342900">
              <a:lnSpc>
                <a:spcPct val="100000"/>
              </a:lnSpc>
            </a:pPr>
            <a:endParaRPr lang="en-US" sz="2000" b="1"/>
          </a:p>
          <a:p>
            <a:pPr marL="342900" indent="-342900">
              <a:lnSpc>
                <a:spcPct val="100000"/>
              </a:lnSpc>
            </a:pPr>
            <a:endParaRPr lang="en-US" sz="2000"/>
          </a:p>
          <a:p>
            <a:pPr marL="342900" indent="-342900">
              <a:lnSpc>
                <a:spcPct val="100000"/>
              </a:lnSpc>
            </a:pPr>
            <a:endParaRPr lang="en-US" sz="2000"/>
          </a:p>
          <a:p>
            <a:pPr>
              <a:lnSpc>
                <a:spcPct val="100000"/>
              </a:lnSpc>
            </a:pPr>
            <a:endParaRPr lang="en-US" sz="2000"/>
          </a:p>
        </p:txBody>
      </p:sp>
      <p:sp>
        <p:nvSpPr>
          <p:cNvPr id="4" name="Slide Number Placeholder 3">
            <a:extLst>
              <a:ext uri="{FF2B5EF4-FFF2-40B4-BE49-F238E27FC236}">
                <a16:creationId xmlns:a16="http://schemas.microsoft.com/office/drawing/2014/main" id="{C14303C9-A36D-28AA-5BAD-CD19037713A1}"/>
              </a:ext>
            </a:extLst>
          </p:cNvPr>
          <p:cNvSpPr>
            <a:spLocks noGrp="1"/>
          </p:cNvSpPr>
          <p:nvPr>
            <p:ph type="sldNum" sz="quarter" idx="12"/>
          </p:nvPr>
        </p:nvSpPr>
        <p:spPr/>
        <p:txBody>
          <a:bodyPr/>
          <a:lstStyle/>
          <a:p>
            <a:fld id="{441E4A3E-16F6-FF44-B4DD-5D27CCED9977}" type="slidenum">
              <a:rPr lang="en-US" dirty="0" smtClean="0">
                <a:solidFill>
                  <a:schemeClr val="bg1"/>
                </a:solidFill>
              </a:rPr>
              <a:t>4</a:t>
            </a:fld>
            <a:endParaRPr lang="en-US">
              <a:solidFill>
                <a:schemeClr val="bg1"/>
              </a:solidFill>
            </a:endParaRPr>
          </a:p>
        </p:txBody>
      </p:sp>
    </p:spTree>
    <p:extLst>
      <p:ext uri="{BB962C8B-B14F-4D97-AF65-F5344CB8AC3E}">
        <p14:creationId xmlns:p14="http://schemas.microsoft.com/office/powerpoint/2010/main" val="2228842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89000">
              <a:srgbClr val="C00000"/>
            </a:gs>
            <a:gs pos="8000">
              <a:schemeClr val="tx1"/>
            </a:gs>
          </a:gsLst>
          <a:path path="circle">
            <a:fillToRect l="100000" t="100000"/>
          </a:path>
        </a:gradFill>
        <a:effectLst/>
      </p:bgPr>
    </p:bg>
    <p:spTree>
      <p:nvGrpSpPr>
        <p:cNvPr id="1" name="">
          <a:extLst>
            <a:ext uri="{FF2B5EF4-FFF2-40B4-BE49-F238E27FC236}">
              <a16:creationId xmlns:a16="http://schemas.microsoft.com/office/drawing/2014/main" id="{5E2750C6-C785-D680-66E1-501D49819C05}"/>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EBE33304-2350-2CB5-9B19-B41618842EA6}"/>
              </a:ext>
            </a:extLst>
          </p:cNvPr>
          <p:cNvSpPr>
            <a:spLocks noGrp="1"/>
          </p:cNvSpPr>
          <p:nvPr>
            <p:ph type="body" sz="half" idx="2"/>
          </p:nvPr>
        </p:nvSpPr>
        <p:spPr>
          <a:xfrm>
            <a:off x="4577433" y="895034"/>
            <a:ext cx="7525397" cy="5847821"/>
          </a:xfrm>
        </p:spPr>
        <p:txBody>
          <a:bodyPr vert="horz" lIns="91440" tIns="45720" rIns="91440" bIns="45720" rtlCol="0" anchor="t">
            <a:noAutofit/>
          </a:bodyPr>
          <a:lstStyle/>
          <a:p>
            <a:pPr marL="342900" indent="-342900">
              <a:lnSpc>
                <a:spcPct val="100000"/>
              </a:lnSpc>
              <a:buFont typeface="Arial" panose="020B0604020202020204" pitchFamily="34" charset="0"/>
              <a:buChar char="•"/>
            </a:pPr>
            <a:r>
              <a:rPr lang="en-US" sz="1750" b="1">
                <a:solidFill>
                  <a:schemeClr val="bg1"/>
                </a:solidFill>
              </a:rPr>
              <a:t>Need and Product Concept: </a:t>
            </a:r>
            <a:r>
              <a:rPr lang="en-US" sz="1750">
                <a:solidFill>
                  <a:schemeClr val="bg1"/>
                </a:solidFill>
              </a:rPr>
              <a:t>Rutgers Students often struggle to use their meal swipes due to long distance to dining halls, limited time between classes, severe weather, and overall convenience issues. As a result, many prepaid meal swipes go unused each semester. </a:t>
            </a:r>
            <a:r>
              <a:rPr lang="en-US" sz="1750" i="1">
                <a:solidFill>
                  <a:schemeClr val="bg1"/>
                </a:solidFill>
              </a:rPr>
              <a:t>Scarlet Delivery </a:t>
            </a:r>
            <a:r>
              <a:rPr lang="en-US" sz="1750">
                <a:solidFill>
                  <a:schemeClr val="bg1"/>
                </a:solidFill>
              </a:rPr>
              <a:t>addresses this problem by offering a Rutgers-exclusive food delivery service that allows students to order from on-campus, meal-swipe eligible dining locations and are paid entirely through the student's meal plan, with only a standard 20% tip and a distance-based delivery fee. </a:t>
            </a:r>
            <a:endParaRPr lang="en-US" sz="1750">
              <a:solidFill>
                <a:schemeClr val="bg1"/>
              </a:solidFill>
              <a:effectLst/>
            </a:endParaRPr>
          </a:p>
          <a:p>
            <a:pPr marL="342900" indent="-342900">
              <a:lnSpc>
                <a:spcPct val="100000"/>
              </a:lnSpc>
              <a:buFont typeface="Arial" panose="020B0604020202020204" pitchFamily="34" charset="0"/>
              <a:buChar char="•"/>
            </a:pPr>
            <a:r>
              <a:rPr lang="en-US" sz="1750" b="1">
                <a:solidFill>
                  <a:schemeClr val="bg1"/>
                </a:solidFill>
              </a:rPr>
              <a:t>Customer Need: </a:t>
            </a:r>
            <a:r>
              <a:rPr lang="en-US" sz="1750">
                <a:solidFill>
                  <a:schemeClr val="bg1"/>
                </a:solidFill>
              </a:rPr>
              <a:t>Students need a faster, easier, and more affordable way to get on-campus meals without relying on costly outside delivery apps. They want dependable delivery handled by Rutgers-affiliated students and a way to fully use their meal plans instead of letting swipes go unused. </a:t>
            </a:r>
            <a:endParaRPr lang="en-US" sz="1750">
              <a:solidFill>
                <a:schemeClr val="bg1"/>
              </a:solidFill>
              <a:ea typeface="+mn-lt"/>
              <a:cs typeface="+mn-lt"/>
            </a:endParaRPr>
          </a:p>
          <a:p>
            <a:pPr marL="342900" indent="-342900">
              <a:lnSpc>
                <a:spcPct val="100000"/>
              </a:lnSpc>
              <a:buFont typeface="Arial" panose="020B0604020202020204" pitchFamily="34" charset="0"/>
              <a:buChar char="•"/>
            </a:pPr>
            <a:r>
              <a:rPr lang="en-US" sz="1750" b="1">
                <a:solidFill>
                  <a:schemeClr val="bg1"/>
                </a:solidFill>
              </a:rPr>
              <a:t>Service Solution: </a:t>
            </a:r>
            <a:r>
              <a:rPr lang="en-US" sz="1750" i="1">
                <a:solidFill>
                  <a:schemeClr val="bg1"/>
                </a:solidFill>
              </a:rPr>
              <a:t>Scarlet Delivery</a:t>
            </a:r>
            <a:r>
              <a:rPr lang="en-US" sz="1750">
                <a:solidFill>
                  <a:schemeClr val="bg1"/>
                </a:solidFill>
              </a:rPr>
              <a:t> meets these needs by letting students order on-campus meals using their Student ID and have them delivered to any residence on or near campus. The service remains affordable by using meal swipes instead of additional out-of-pocket costs, and Rutgers-affiliated delivery staff provide a smooth, safe, and efficient experience. This offers a convenient and reliable alternative to walking to dining halls or using outside apps. </a:t>
            </a:r>
          </a:p>
        </p:txBody>
      </p:sp>
      <p:sp>
        <p:nvSpPr>
          <p:cNvPr id="16" name="Title 1">
            <a:extLst>
              <a:ext uri="{FF2B5EF4-FFF2-40B4-BE49-F238E27FC236}">
                <a16:creationId xmlns:a16="http://schemas.microsoft.com/office/drawing/2014/main" id="{788682DE-20AF-1135-7A78-83E0E123C0AD}"/>
              </a:ext>
            </a:extLst>
          </p:cNvPr>
          <p:cNvSpPr txBox="1">
            <a:spLocks/>
          </p:cNvSpPr>
          <p:nvPr/>
        </p:nvSpPr>
        <p:spPr>
          <a:xfrm>
            <a:off x="-5236" y="1658"/>
            <a:ext cx="12195729" cy="799166"/>
          </a:xfrm>
          <a:prstGeom prst="rect">
            <a:avLst/>
          </a:prstGeom>
          <a:solidFill>
            <a:srgbClr val="9E0000"/>
          </a:solidFill>
          <a:ln>
            <a:solidFill>
              <a:schemeClr val="tx1"/>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r>
              <a:rPr lang="en-US" sz="3800" b="1">
                <a:solidFill>
                  <a:schemeClr val="bg1"/>
                </a:solidFill>
              </a:rPr>
              <a:t>Situation Analysis</a:t>
            </a:r>
          </a:p>
        </p:txBody>
      </p:sp>
      <p:sp>
        <p:nvSpPr>
          <p:cNvPr id="13" name="Rectangle: Rounded Corners 12">
            <a:extLst>
              <a:ext uri="{FF2B5EF4-FFF2-40B4-BE49-F238E27FC236}">
                <a16:creationId xmlns:a16="http://schemas.microsoft.com/office/drawing/2014/main" id="{D8439F9C-B320-AEA1-C371-70859E6E64C1}"/>
              </a:ext>
            </a:extLst>
          </p:cNvPr>
          <p:cNvSpPr/>
          <p:nvPr/>
        </p:nvSpPr>
        <p:spPr>
          <a:xfrm>
            <a:off x="380999" y="1289537"/>
            <a:ext cx="3971191" cy="4806460"/>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white square with red text and a helmet on it&#10;&#10;AI-generated content may be incorrect.">
            <a:extLst>
              <a:ext uri="{FF2B5EF4-FFF2-40B4-BE49-F238E27FC236}">
                <a16:creationId xmlns:a16="http://schemas.microsoft.com/office/drawing/2014/main" id="{51322ABF-9F2D-4B8E-A039-3E30A0453B2F}"/>
              </a:ext>
            </a:extLst>
          </p:cNvPr>
          <p:cNvPicPr>
            <a:picLocks noChangeAspect="1"/>
          </p:cNvPicPr>
          <p:nvPr/>
        </p:nvPicPr>
        <p:blipFill>
          <a:blip r:embed="rId2"/>
          <a:stretch>
            <a:fillRect/>
          </a:stretch>
        </p:blipFill>
        <p:spPr>
          <a:xfrm>
            <a:off x="-322991" y="898460"/>
            <a:ext cx="5389084" cy="5343181"/>
          </a:xfrm>
          <a:prstGeom prst="rect">
            <a:avLst/>
          </a:prstGeom>
          <a:ln>
            <a:noFill/>
          </a:ln>
        </p:spPr>
      </p:pic>
      <p:sp>
        <p:nvSpPr>
          <p:cNvPr id="2" name="Slide Number Placeholder 1">
            <a:extLst>
              <a:ext uri="{FF2B5EF4-FFF2-40B4-BE49-F238E27FC236}">
                <a16:creationId xmlns:a16="http://schemas.microsoft.com/office/drawing/2014/main" id="{A7DACCF4-C951-AFE5-2750-A957C4E123BA}"/>
              </a:ext>
            </a:extLst>
          </p:cNvPr>
          <p:cNvSpPr>
            <a:spLocks noGrp="1"/>
          </p:cNvSpPr>
          <p:nvPr>
            <p:ph type="sldNum" sz="quarter" idx="12"/>
          </p:nvPr>
        </p:nvSpPr>
        <p:spPr/>
        <p:txBody>
          <a:bodyPr/>
          <a:lstStyle/>
          <a:p>
            <a:fld id="{441E4A3E-16F6-FF44-B4DD-5D27CCED9977}" type="slidenum">
              <a:rPr lang="en-US" dirty="0" smtClean="0">
                <a:solidFill>
                  <a:schemeClr val="bg1"/>
                </a:solidFill>
              </a:rPr>
              <a:t>5</a:t>
            </a:fld>
            <a:endParaRPr lang="en-US">
              <a:solidFill>
                <a:schemeClr val="bg1"/>
              </a:solidFill>
            </a:endParaRPr>
          </a:p>
        </p:txBody>
      </p:sp>
    </p:spTree>
    <p:extLst>
      <p:ext uri="{BB962C8B-B14F-4D97-AF65-F5344CB8AC3E}">
        <p14:creationId xmlns:p14="http://schemas.microsoft.com/office/powerpoint/2010/main" val="1909847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11000">
              <a:srgbClr val="C00000"/>
            </a:gs>
            <a:gs pos="99000">
              <a:schemeClr val="tx1"/>
            </a:gs>
          </a:gsLst>
          <a:path path="circle">
            <a:fillToRect l="100000" t="100000"/>
          </a:path>
        </a:gradFill>
        <a:effectLst/>
      </p:bgPr>
    </p:bg>
    <p:spTree>
      <p:nvGrpSpPr>
        <p:cNvPr id="1" name="">
          <a:extLst>
            <a:ext uri="{FF2B5EF4-FFF2-40B4-BE49-F238E27FC236}">
              <a16:creationId xmlns:a16="http://schemas.microsoft.com/office/drawing/2014/main" id="{E0EBE0F5-5889-587F-F7AD-A0B056AF5DD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E8D0A10-8B5E-CB0C-9C88-A150D65BEDC0}"/>
              </a:ext>
            </a:extLst>
          </p:cNvPr>
          <p:cNvSpPr/>
          <p:nvPr/>
        </p:nvSpPr>
        <p:spPr>
          <a:xfrm>
            <a:off x="-1" y="-1"/>
            <a:ext cx="5172363" cy="6865696"/>
          </a:xfrm>
          <a:prstGeom prst="rect">
            <a:avLst/>
          </a:prstGeom>
          <a:solidFill>
            <a:srgbClr val="87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CC1811A-A1EC-0FDB-D18A-03D9B81825C6}"/>
              </a:ext>
            </a:extLst>
          </p:cNvPr>
          <p:cNvSpPr>
            <a:spLocks noGrp="1"/>
          </p:cNvSpPr>
          <p:nvPr>
            <p:ph type="body" sz="half" idx="2"/>
          </p:nvPr>
        </p:nvSpPr>
        <p:spPr>
          <a:xfrm>
            <a:off x="406400" y="1389103"/>
            <a:ext cx="4292341" cy="5332372"/>
          </a:xfrm>
        </p:spPr>
        <p:txBody>
          <a:bodyPr vert="horz" lIns="91440" tIns="45720" rIns="91440" bIns="45720" rtlCol="0" anchor="t">
            <a:normAutofit fontScale="62500" lnSpcReduction="20000"/>
          </a:bodyPr>
          <a:lstStyle/>
          <a:p>
            <a:pPr marL="342900" indent="-342900">
              <a:lnSpc>
                <a:spcPct val="100000"/>
              </a:lnSpc>
              <a:buFont typeface="Arial" panose="020B0604020202020204" pitchFamily="34" charset="0"/>
              <a:buChar char="•"/>
            </a:pPr>
            <a:r>
              <a:rPr lang="en-US" sz="2600" b="1">
                <a:solidFill>
                  <a:schemeClr val="bg1"/>
                </a:solidFill>
              </a:rPr>
              <a:t>Entering the food delivery service industry</a:t>
            </a:r>
          </a:p>
          <a:p>
            <a:pPr marL="342900" indent="-342900">
              <a:lnSpc>
                <a:spcPct val="100000"/>
              </a:lnSpc>
              <a:buFont typeface="Arial" panose="020B0604020202020204" pitchFamily="34" charset="0"/>
              <a:buChar char="•"/>
            </a:pPr>
            <a:r>
              <a:rPr lang="en-US" sz="2600" b="1">
                <a:solidFill>
                  <a:schemeClr val="bg1"/>
                </a:solidFill>
              </a:rPr>
              <a:t>Trends</a:t>
            </a:r>
          </a:p>
          <a:p>
            <a:pPr marL="800100" lvl="1" indent="-342900">
              <a:lnSpc>
                <a:spcPct val="100000"/>
              </a:lnSpc>
              <a:buFont typeface="Courier New" panose="020B0604020202020204" pitchFamily="34" charset="0"/>
              <a:buChar char="o"/>
            </a:pPr>
            <a:r>
              <a:rPr lang="en-US" sz="2400" b="1">
                <a:solidFill>
                  <a:schemeClr val="bg1"/>
                </a:solidFill>
              </a:rPr>
              <a:t>Demand skyrocketed since COVID, will continue to rise</a:t>
            </a:r>
          </a:p>
          <a:p>
            <a:pPr marL="800100" lvl="1" indent="-342900">
              <a:lnSpc>
                <a:spcPct val="100000"/>
              </a:lnSpc>
              <a:buFont typeface="Courier New" panose="020B0604020202020204" pitchFamily="34" charset="0"/>
              <a:buChar char="o"/>
            </a:pPr>
            <a:r>
              <a:rPr lang="en-US" sz="2400" b="1">
                <a:solidFill>
                  <a:schemeClr val="bg1"/>
                </a:solidFill>
              </a:rPr>
              <a:t>Advanced tech -&gt; easier orders</a:t>
            </a:r>
          </a:p>
          <a:p>
            <a:pPr marL="800100" lvl="1" indent="-342900">
              <a:lnSpc>
                <a:spcPct val="100000"/>
              </a:lnSpc>
              <a:buFont typeface="Courier New" panose="020B0604020202020204" pitchFamily="34" charset="0"/>
              <a:buChar char="o"/>
            </a:pPr>
            <a:r>
              <a:rPr lang="en-US" sz="2400" b="1">
                <a:solidFill>
                  <a:schemeClr val="bg1"/>
                </a:solidFill>
              </a:rPr>
              <a:t>Busy lifestyles and remote work -&gt; online food delivery</a:t>
            </a:r>
          </a:p>
          <a:p>
            <a:pPr marL="800100" lvl="1" indent="-342900">
              <a:lnSpc>
                <a:spcPct val="100000"/>
              </a:lnSpc>
              <a:buFont typeface="Courier New" panose="020B0604020202020204" pitchFamily="34" charset="0"/>
              <a:buChar char="o"/>
            </a:pPr>
            <a:r>
              <a:rPr lang="en-US" sz="2400" b="1">
                <a:solidFill>
                  <a:schemeClr val="bg1"/>
                </a:solidFill>
              </a:rPr>
              <a:t>Younger demographics prefer digital methods over traditional dining or phone orders</a:t>
            </a:r>
          </a:p>
          <a:p>
            <a:pPr marL="342900" indent="-342900">
              <a:lnSpc>
                <a:spcPct val="100000"/>
              </a:lnSpc>
              <a:buFont typeface="Arial" panose="020B0604020202020204" pitchFamily="34" charset="0"/>
              <a:buChar char="•"/>
            </a:pPr>
            <a:r>
              <a:rPr lang="en-US" sz="2600" b="1">
                <a:solidFill>
                  <a:schemeClr val="bg1"/>
                </a:solidFill>
              </a:rPr>
              <a:t>Industry market size in 2024 = $288 billion USD*</a:t>
            </a:r>
          </a:p>
          <a:p>
            <a:pPr marL="342900" indent="-342900">
              <a:lnSpc>
                <a:spcPct val="100000"/>
              </a:lnSpc>
              <a:buFont typeface="Arial" panose="020B0604020202020204" pitchFamily="34" charset="0"/>
              <a:buChar char="•"/>
            </a:pPr>
            <a:r>
              <a:rPr lang="en-US" sz="2600" b="1">
                <a:solidFill>
                  <a:schemeClr val="bg1"/>
                </a:solidFill>
              </a:rPr>
              <a:t>Forecasted to exceed $500 billion USD by 2030*</a:t>
            </a:r>
          </a:p>
          <a:p>
            <a:pPr marL="342900" indent="-342900">
              <a:lnSpc>
                <a:spcPct val="100000"/>
              </a:lnSpc>
              <a:buFont typeface="Arial" panose="020B0604020202020204" pitchFamily="34" charset="0"/>
              <a:buChar char="•"/>
            </a:pPr>
            <a:r>
              <a:rPr lang="en-US" sz="2600" b="1">
                <a:solidFill>
                  <a:schemeClr val="bg1"/>
                </a:solidFill>
              </a:rPr>
              <a:t>CAGR of 9.4% from 2025 to 2030</a:t>
            </a:r>
          </a:p>
          <a:p>
            <a:pPr marL="342900" indent="-342900">
              <a:lnSpc>
                <a:spcPct val="100000"/>
              </a:lnSpc>
              <a:buFont typeface="Arial" panose="020B0604020202020204" pitchFamily="34" charset="0"/>
              <a:buChar char="•"/>
            </a:pPr>
            <a:r>
              <a:rPr lang="en-US" sz="2600" b="1">
                <a:solidFill>
                  <a:schemeClr val="bg1"/>
                </a:solidFill>
              </a:rPr>
              <a:t>Difficult entry</a:t>
            </a:r>
          </a:p>
          <a:p>
            <a:pPr marL="800100" lvl="1" indent="-342900">
              <a:lnSpc>
                <a:spcPct val="100000"/>
              </a:lnSpc>
              <a:buFont typeface="Courier New" panose="020B0604020202020204" pitchFamily="34" charset="0"/>
              <a:buChar char="o"/>
            </a:pPr>
            <a:r>
              <a:rPr lang="en-US" sz="2400" b="1">
                <a:solidFill>
                  <a:schemeClr val="bg1"/>
                </a:solidFill>
              </a:rPr>
              <a:t>Oligopoly</a:t>
            </a:r>
          </a:p>
          <a:p>
            <a:pPr marL="800100" lvl="1" indent="-342900">
              <a:lnSpc>
                <a:spcPct val="100000"/>
              </a:lnSpc>
              <a:buFont typeface="Courier New" panose="020B0604020202020204" pitchFamily="34" charset="0"/>
              <a:buChar char="o"/>
            </a:pPr>
            <a:r>
              <a:rPr lang="en-US" sz="2400" b="1">
                <a:solidFill>
                  <a:schemeClr val="bg1"/>
                </a:solidFill>
              </a:rPr>
              <a:t>Heavy rivalry</a:t>
            </a:r>
          </a:p>
          <a:p>
            <a:pPr marL="800100" lvl="1" indent="-342900">
              <a:lnSpc>
                <a:spcPct val="100000"/>
              </a:lnSpc>
              <a:buFont typeface="Courier New" panose="020B0604020202020204" pitchFamily="34" charset="0"/>
              <a:buChar char="o"/>
            </a:pPr>
            <a:r>
              <a:rPr lang="en-US" sz="2400" b="1">
                <a:solidFill>
                  <a:schemeClr val="bg1"/>
                </a:solidFill>
              </a:rPr>
              <a:t>Very strong brand images</a:t>
            </a:r>
          </a:p>
          <a:p>
            <a:pPr marL="800100" lvl="1" indent="-342900">
              <a:lnSpc>
                <a:spcPct val="100000"/>
              </a:lnSpc>
              <a:buFont typeface="Courier New" panose="020B0604020202020204" pitchFamily="34" charset="0"/>
              <a:buChar char="o"/>
            </a:pPr>
            <a:r>
              <a:rPr lang="en-US" sz="2400" b="1">
                <a:solidFill>
                  <a:schemeClr val="bg1"/>
                </a:solidFill>
              </a:rPr>
              <a:t>We offer unique value proposition </a:t>
            </a:r>
          </a:p>
          <a:p>
            <a:pPr marL="342900" indent="-342900">
              <a:lnSpc>
                <a:spcPct val="100000"/>
              </a:lnSpc>
              <a:buFont typeface="Arial" panose="020B0604020202020204" pitchFamily="34" charset="0"/>
              <a:buChar char="•"/>
            </a:pPr>
            <a:endParaRPr lang="en-US" sz="2600" b="1">
              <a:solidFill>
                <a:schemeClr val="bg1"/>
              </a:solidFill>
            </a:endParaRPr>
          </a:p>
        </p:txBody>
      </p:sp>
      <p:sp>
        <p:nvSpPr>
          <p:cNvPr id="16" name="Title 1">
            <a:extLst>
              <a:ext uri="{FF2B5EF4-FFF2-40B4-BE49-F238E27FC236}">
                <a16:creationId xmlns:a16="http://schemas.microsoft.com/office/drawing/2014/main" id="{4DBFC372-7858-C3DC-025C-4C6F09934D54}"/>
              </a:ext>
            </a:extLst>
          </p:cNvPr>
          <p:cNvSpPr txBox="1">
            <a:spLocks/>
          </p:cNvSpPr>
          <p:nvPr/>
        </p:nvSpPr>
        <p:spPr>
          <a:xfrm>
            <a:off x="404638" y="127000"/>
            <a:ext cx="4676864" cy="10247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4400" b="1">
                <a:solidFill>
                  <a:schemeClr val="bg1"/>
                </a:solidFill>
              </a:rPr>
              <a:t>Industry Analysis</a:t>
            </a:r>
          </a:p>
        </p:txBody>
      </p:sp>
      <p:pic>
        <p:nvPicPr>
          <p:cNvPr id="3" name="Picture 2" descr="A graph of a delivery market&#10;&#10;AI-generated content may be incorrect.">
            <a:extLst>
              <a:ext uri="{FF2B5EF4-FFF2-40B4-BE49-F238E27FC236}">
                <a16:creationId xmlns:a16="http://schemas.microsoft.com/office/drawing/2014/main" id="{857534A0-895F-4215-1F92-728000184ADC}"/>
              </a:ext>
            </a:extLst>
          </p:cNvPr>
          <p:cNvPicPr>
            <a:picLocks noChangeAspect="1"/>
          </p:cNvPicPr>
          <p:nvPr/>
        </p:nvPicPr>
        <p:blipFill>
          <a:blip r:embed="rId3"/>
          <a:stretch>
            <a:fillRect/>
          </a:stretch>
        </p:blipFill>
        <p:spPr>
          <a:xfrm>
            <a:off x="5469708" y="1017731"/>
            <a:ext cx="6290254" cy="3579475"/>
          </a:xfrm>
          <a:prstGeom prst="rect">
            <a:avLst/>
          </a:prstGeom>
        </p:spPr>
      </p:pic>
      <p:sp>
        <p:nvSpPr>
          <p:cNvPr id="5" name="TextBox 4">
            <a:extLst>
              <a:ext uri="{FF2B5EF4-FFF2-40B4-BE49-F238E27FC236}">
                <a16:creationId xmlns:a16="http://schemas.microsoft.com/office/drawing/2014/main" id="{A1DEB122-D0D8-5BBF-50D3-4945DD4E11A8}"/>
              </a:ext>
            </a:extLst>
          </p:cNvPr>
          <p:cNvSpPr txBox="1"/>
          <p:nvPr/>
        </p:nvSpPr>
        <p:spPr>
          <a:xfrm>
            <a:off x="6319211" y="4710544"/>
            <a:ext cx="4795211" cy="13381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fontScale="62500" lnSpcReduction="20000"/>
          </a:bodyPr>
          <a:lstStyle/>
          <a:p>
            <a:r>
              <a:rPr lang="en-US" i="1">
                <a:solidFill>
                  <a:schemeClr val="bg1"/>
                </a:solidFill>
              </a:rPr>
              <a:t>Shown is a chart of platform-to-consumer (Uber, DoorDash, Grubhub) data. The growth is still relative. </a:t>
            </a:r>
          </a:p>
          <a:p>
            <a:endParaRPr lang="en-US" i="1">
              <a:solidFill>
                <a:schemeClr val="bg1"/>
              </a:solidFill>
            </a:endParaRPr>
          </a:p>
          <a:p>
            <a:r>
              <a:rPr lang="en-US" i="1">
                <a:solidFill>
                  <a:schemeClr val="bg1"/>
                </a:solidFill>
              </a:rPr>
              <a:t>*These numbers are for the total market (all delivery methods combined). </a:t>
            </a:r>
          </a:p>
          <a:p>
            <a:endParaRPr lang="en-US" i="1">
              <a:solidFill>
                <a:schemeClr val="bg1"/>
              </a:solidFill>
            </a:endParaRPr>
          </a:p>
          <a:p>
            <a:r>
              <a:rPr lang="en-US" i="1">
                <a:solidFill>
                  <a:schemeClr val="bg1"/>
                </a:solidFill>
              </a:rPr>
              <a:t>The chart shown is one segment of the market but still accurately represents the projected growth. </a:t>
            </a:r>
          </a:p>
        </p:txBody>
      </p:sp>
      <p:sp>
        <p:nvSpPr>
          <p:cNvPr id="6" name="Slide Number Placeholder 5">
            <a:extLst>
              <a:ext uri="{FF2B5EF4-FFF2-40B4-BE49-F238E27FC236}">
                <a16:creationId xmlns:a16="http://schemas.microsoft.com/office/drawing/2014/main" id="{E3E58AF3-67A7-8320-6D0B-0DF01436921F}"/>
              </a:ext>
            </a:extLst>
          </p:cNvPr>
          <p:cNvSpPr>
            <a:spLocks noGrp="1"/>
          </p:cNvSpPr>
          <p:nvPr>
            <p:ph type="sldNum" sz="quarter" idx="12"/>
          </p:nvPr>
        </p:nvSpPr>
        <p:spPr/>
        <p:txBody>
          <a:bodyPr/>
          <a:lstStyle/>
          <a:p>
            <a:fld id="{441E4A3E-16F6-FF44-B4DD-5D27CCED9977}" type="slidenum">
              <a:rPr lang="en-US" dirty="0" smtClean="0">
                <a:solidFill>
                  <a:schemeClr val="bg1"/>
                </a:solidFill>
              </a:rPr>
              <a:t>6</a:t>
            </a:fld>
            <a:endParaRPr lang="en-US">
              <a:solidFill>
                <a:schemeClr val="bg1"/>
              </a:solidFill>
            </a:endParaRPr>
          </a:p>
        </p:txBody>
      </p:sp>
    </p:spTree>
    <p:extLst>
      <p:ext uri="{BB962C8B-B14F-4D97-AF65-F5344CB8AC3E}">
        <p14:creationId xmlns:p14="http://schemas.microsoft.com/office/powerpoint/2010/main" val="1521786994"/>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98000">
              <a:srgbClr val="C00000"/>
            </a:gs>
            <a:gs pos="1000">
              <a:schemeClr val="tx1"/>
            </a:gs>
          </a:gsLst>
          <a:path path="circle">
            <a:fillToRect l="100000" t="100000"/>
          </a:path>
        </a:gradFill>
        <a:effectLst/>
      </p:bgPr>
    </p:bg>
    <p:spTree>
      <p:nvGrpSpPr>
        <p:cNvPr id="1" name="">
          <a:extLst>
            <a:ext uri="{FF2B5EF4-FFF2-40B4-BE49-F238E27FC236}">
              <a16:creationId xmlns:a16="http://schemas.microsoft.com/office/drawing/2014/main" id="{9EB2DC37-3EE3-396C-0686-E6FE52027ABF}"/>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40A5F050-81D5-1923-90E1-E20445950CC4}"/>
              </a:ext>
            </a:extLst>
          </p:cNvPr>
          <p:cNvSpPr txBox="1">
            <a:spLocks/>
          </p:cNvSpPr>
          <p:nvPr/>
        </p:nvSpPr>
        <p:spPr>
          <a:xfrm>
            <a:off x="1043" y="15537"/>
            <a:ext cx="4328398" cy="6839706"/>
          </a:xfrm>
          <a:prstGeom prst="rect">
            <a:avLst/>
          </a:prstGeom>
          <a:solidFill>
            <a:srgbClr val="7F0001"/>
          </a:solidFill>
          <a:ln>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r>
              <a:rPr lang="en-US" sz="4400" b="1">
                <a:solidFill>
                  <a:schemeClr val="bg1"/>
                </a:solidFill>
              </a:rPr>
              <a:t>Environmental Analysis</a:t>
            </a:r>
            <a:endParaRPr lang="en-US">
              <a:solidFill>
                <a:schemeClr val="bg1"/>
              </a:solidFill>
            </a:endParaRPr>
          </a:p>
        </p:txBody>
      </p:sp>
      <p:sp>
        <p:nvSpPr>
          <p:cNvPr id="7" name="AutoShape 2" descr="How to Do a SWOT Analysis (Examples &amp; Free Templat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 Placeholder 1"/>
          <p:cNvSpPr txBox="1">
            <a:spLocks/>
          </p:cNvSpPr>
          <p:nvPr/>
        </p:nvSpPr>
        <p:spPr>
          <a:xfrm>
            <a:off x="4909221" y="4028918"/>
            <a:ext cx="6546942" cy="2324942"/>
          </a:xfrm>
          <a:prstGeom prst="rect">
            <a:avLst/>
          </a:prstGeom>
          <a:ln w="28575">
            <a:noFill/>
          </a:ln>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sz="1400" b="1">
                <a:solidFill>
                  <a:schemeClr val="bg1"/>
                </a:solidFill>
              </a:rPr>
              <a:t>Key Takeaways:</a:t>
            </a:r>
            <a:endParaRPr lang="en-US" sz="1400">
              <a:solidFill>
                <a:schemeClr val="bg1"/>
              </a:solidFill>
            </a:endParaRPr>
          </a:p>
          <a:p>
            <a:pPr marL="457200" indent="-457200">
              <a:buChar char="•"/>
            </a:pPr>
            <a:r>
              <a:rPr lang="en-US" sz="1400" b="1">
                <a:solidFill>
                  <a:schemeClr val="bg1"/>
                </a:solidFill>
              </a:rPr>
              <a:t>Students want convenience</a:t>
            </a:r>
          </a:p>
          <a:p>
            <a:pPr marL="457200" indent="-457200">
              <a:buChar char="•"/>
            </a:pPr>
            <a:r>
              <a:rPr lang="en-US" sz="1400" b="1">
                <a:solidFill>
                  <a:schemeClr val="bg1"/>
                </a:solidFill>
              </a:rPr>
              <a:t>Many students have extra meal swipes and look for different ways to use them</a:t>
            </a:r>
          </a:p>
          <a:p>
            <a:pPr marL="457200" indent="-457200">
              <a:buChar char="•"/>
            </a:pPr>
            <a:r>
              <a:rPr lang="en-US" sz="1400" b="1">
                <a:solidFill>
                  <a:schemeClr val="bg1"/>
                </a:solidFill>
              </a:rPr>
              <a:t>Differentiate from competitors because they do not accept meal swipes</a:t>
            </a:r>
          </a:p>
          <a:p>
            <a:pPr marL="457200" indent="-457200">
              <a:buChar char="•"/>
            </a:pPr>
            <a:r>
              <a:rPr lang="en-US" sz="1400" b="1">
                <a:solidFill>
                  <a:schemeClr val="bg1"/>
                </a:solidFill>
              </a:rPr>
              <a:t>Operational challenges</a:t>
            </a:r>
          </a:p>
          <a:p>
            <a:pPr marL="457200" indent="-457200">
              <a:buChar char="•"/>
            </a:pPr>
            <a:r>
              <a:rPr lang="en-US" sz="1400" b="1">
                <a:solidFill>
                  <a:schemeClr val="bg1"/>
                </a:solidFill>
              </a:rPr>
              <a:t>Challenge with size of Rutgers campuses</a:t>
            </a:r>
          </a:p>
          <a:p>
            <a:pPr marL="457200" indent="-457200">
              <a:buChar char="•"/>
            </a:pPr>
            <a:r>
              <a:rPr lang="en-US" sz="1400" b="1">
                <a:solidFill>
                  <a:schemeClr val="bg1"/>
                </a:solidFill>
              </a:rPr>
              <a:t>Need a seamless way to integrate Rutgers systems with delivery systems</a:t>
            </a:r>
          </a:p>
        </p:txBody>
      </p:sp>
      <p:grpSp>
        <p:nvGrpSpPr>
          <p:cNvPr id="16" name="Group 15">
            <a:extLst>
              <a:ext uri="{FF2B5EF4-FFF2-40B4-BE49-F238E27FC236}">
                <a16:creationId xmlns:a16="http://schemas.microsoft.com/office/drawing/2014/main" id="{C01104BA-3540-9253-BD72-D01932176194}"/>
              </a:ext>
            </a:extLst>
          </p:cNvPr>
          <p:cNvGrpSpPr/>
          <p:nvPr/>
        </p:nvGrpSpPr>
        <p:grpSpPr>
          <a:xfrm>
            <a:off x="5685948" y="152732"/>
            <a:ext cx="4996510" cy="3606755"/>
            <a:chOff x="6193948" y="1818673"/>
            <a:chExt cx="5146021" cy="3756165"/>
          </a:xfrm>
        </p:grpSpPr>
        <p:sp>
          <p:nvSpPr>
            <p:cNvPr id="3" name="TextBox 2">
              <a:extLst>
                <a:ext uri="{FF2B5EF4-FFF2-40B4-BE49-F238E27FC236}">
                  <a16:creationId xmlns:a16="http://schemas.microsoft.com/office/drawing/2014/main" id="{179436E4-1A06-22A8-784F-4965910762C9}"/>
                </a:ext>
              </a:extLst>
            </p:cNvPr>
            <p:cNvSpPr txBox="1"/>
            <p:nvPr/>
          </p:nvSpPr>
          <p:spPr>
            <a:xfrm>
              <a:off x="6194612" y="1834989"/>
              <a:ext cx="2518023" cy="1829635"/>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buFont typeface="Arial"/>
                <a:buChar char="•"/>
              </a:pPr>
              <a:endParaRPr lang="en-US" sz="1600"/>
            </a:p>
            <a:p>
              <a:pPr marL="285750" indent="-285750">
                <a:buFont typeface="Arial"/>
                <a:buChar char="•"/>
              </a:pPr>
              <a:r>
                <a:rPr lang="en-US" sz="1500"/>
                <a:t>Convenience for students</a:t>
              </a:r>
            </a:p>
            <a:p>
              <a:pPr marL="285750" indent="-285750">
                <a:buFont typeface="Arial"/>
                <a:buChar char="•"/>
              </a:pPr>
              <a:r>
                <a:rPr lang="en-US" sz="1500"/>
                <a:t>Strong market (40,000 + students)</a:t>
              </a:r>
            </a:p>
            <a:p>
              <a:pPr marL="285750" indent="-285750">
                <a:buFont typeface="Arial"/>
                <a:buChar char="•"/>
              </a:pPr>
              <a:r>
                <a:rPr lang="en-US" sz="1500"/>
                <a:t>No competition that accepts meal swipes</a:t>
              </a:r>
            </a:p>
          </p:txBody>
        </p:sp>
        <p:sp>
          <p:nvSpPr>
            <p:cNvPr id="4" name="TextBox 3">
              <a:extLst>
                <a:ext uri="{FF2B5EF4-FFF2-40B4-BE49-F238E27FC236}">
                  <a16:creationId xmlns:a16="http://schemas.microsoft.com/office/drawing/2014/main" id="{80652F7E-A870-FC66-1980-DD3D362505CA}"/>
                </a:ext>
              </a:extLst>
            </p:cNvPr>
            <p:cNvSpPr txBox="1"/>
            <p:nvPr/>
          </p:nvSpPr>
          <p:spPr>
            <a:xfrm>
              <a:off x="8812306" y="1834136"/>
              <a:ext cx="2517930" cy="1835327"/>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buFont typeface="Arial"/>
                <a:buChar char="•"/>
              </a:pPr>
              <a:endParaRPr lang="en-US" sz="1500"/>
            </a:p>
            <a:p>
              <a:endParaRPr lang="en-US" sz="1500"/>
            </a:p>
            <a:p>
              <a:pPr marL="285750" indent="-285750">
                <a:buFont typeface="Arial"/>
                <a:buChar char="•"/>
              </a:pPr>
              <a:r>
                <a:rPr lang="en-US" sz="1500"/>
                <a:t>Reliable staffing</a:t>
              </a:r>
              <a:endParaRPr lang="en-US"/>
            </a:p>
            <a:p>
              <a:pPr marL="285750" indent="-285750">
                <a:buFont typeface="Arial"/>
                <a:buChar char="•"/>
              </a:pPr>
              <a:r>
                <a:rPr lang="en-US" sz="1500"/>
                <a:t>Difficulty delivering by foot to dorms</a:t>
              </a:r>
            </a:p>
            <a:p>
              <a:pPr marL="285750" indent="-285750">
                <a:buFont typeface="Arial"/>
                <a:buChar char="•"/>
              </a:pPr>
              <a:r>
                <a:rPr lang="en-US" sz="1500"/>
                <a:t>Startup cost</a:t>
              </a:r>
            </a:p>
          </p:txBody>
        </p:sp>
        <p:sp>
          <p:nvSpPr>
            <p:cNvPr id="10" name="TextBox 9">
              <a:extLst>
                <a:ext uri="{FF2B5EF4-FFF2-40B4-BE49-F238E27FC236}">
                  <a16:creationId xmlns:a16="http://schemas.microsoft.com/office/drawing/2014/main" id="{49683E1C-62BC-4FEF-C788-0E9F9A559251}"/>
                </a:ext>
              </a:extLst>
            </p:cNvPr>
            <p:cNvSpPr txBox="1"/>
            <p:nvPr/>
          </p:nvSpPr>
          <p:spPr>
            <a:xfrm>
              <a:off x="6196320" y="3740415"/>
              <a:ext cx="2516316" cy="1832019"/>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buFont typeface="Arial"/>
                <a:buChar char="•"/>
              </a:pPr>
              <a:endParaRPr lang="en-US" sz="1600"/>
            </a:p>
            <a:p>
              <a:pPr marL="285750" indent="-285750">
                <a:buFont typeface="Arial"/>
                <a:buChar char="•"/>
              </a:pPr>
              <a:r>
                <a:rPr lang="en-US" sz="1600"/>
                <a:t>Partnership with Rutgers or student organizations</a:t>
              </a:r>
              <a:endParaRPr lang="en-US"/>
            </a:p>
            <a:p>
              <a:pPr marL="285750" indent="-285750">
                <a:buFont typeface="Arial"/>
                <a:buChar char="•"/>
              </a:pPr>
              <a:r>
                <a:rPr lang="en-US" sz="1600"/>
                <a:t>Premium features like late night delivery, etc.</a:t>
              </a:r>
            </a:p>
          </p:txBody>
        </p:sp>
        <p:sp>
          <p:nvSpPr>
            <p:cNvPr id="14" name="TextBox 13">
              <a:extLst>
                <a:ext uri="{FF2B5EF4-FFF2-40B4-BE49-F238E27FC236}">
                  <a16:creationId xmlns:a16="http://schemas.microsoft.com/office/drawing/2014/main" id="{E12C1708-8A6A-77DE-C829-C14562F4183C}"/>
                </a:ext>
              </a:extLst>
            </p:cNvPr>
            <p:cNvSpPr txBox="1"/>
            <p:nvPr/>
          </p:nvSpPr>
          <p:spPr>
            <a:xfrm>
              <a:off x="8812733" y="3740416"/>
              <a:ext cx="2523803" cy="1834422"/>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buFont typeface="Arial"/>
                <a:buChar char="•"/>
              </a:pPr>
              <a:endParaRPr lang="en-US" sz="1600"/>
            </a:p>
            <a:p>
              <a:pPr marL="285750" indent="-285750">
                <a:buFont typeface="Arial"/>
                <a:buChar char="•"/>
              </a:pPr>
              <a:r>
                <a:rPr lang="en-US" sz="1600"/>
                <a:t>Easily replicable</a:t>
              </a:r>
              <a:endParaRPr lang="en-US"/>
            </a:p>
            <a:p>
              <a:pPr marL="285750" indent="-285750">
                <a:buFont typeface="Arial"/>
                <a:buChar char="•"/>
              </a:pPr>
              <a:r>
                <a:rPr lang="en-US" sz="1600"/>
                <a:t>Changes in weather</a:t>
              </a:r>
            </a:p>
            <a:p>
              <a:pPr marL="285750" indent="-285750">
                <a:buFont typeface="Arial"/>
                <a:buChar char="•"/>
              </a:pPr>
              <a:r>
                <a:rPr lang="en-US" sz="1600"/>
                <a:t>Technological issues</a:t>
              </a:r>
            </a:p>
            <a:p>
              <a:pPr marL="285750" indent="-285750">
                <a:buFont typeface="Arial"/>
                <a:buChar char="•"/>
              </a:pPr>
              <a:r>
                <a:rPr lang="en-US" sz="1600"/>
                <a:t>Difficulties with dining halls</a:t>
              </a:r>
            </a:p>
            <a:p>
              <a:pPr marL="285750" indent="-285750">
                <a:buFont typeface="Arial"/>
                <a:buChar char="•"/>
              </a:pPr>
              <a:endParaRPr lang="en-US" sz="1600"/>
            </a:p>
          </p:txBody>
        </p:sp>
        <p:sp>
          <p:nvSpPr>
            <p:cNvPr id="5" name="TextBox 4">
              <a:extLst>
                <a:ext uri="{FF2B5EF4-FFF2-40B4-BE49-F238E27FC236}">
                  <a16:creationId xmlns:a16="http://schemas.microsoft.com/office/drawing/2014/main" id="{DD18C662-65EA-C35A-3088-75F46D0336AA}"/>
                </a:ext>
              </a:extLst>
            </p:cNvPr>
            <p:cNvSpPr txBox="1"/>
            <p:nvPr/>
          </p:nvSpPr>
          <p:spPr>
            <a:xfrm>
              <a:off x="6193948" y="1822891"/>
              <a:ext cx="2547742" cy="327762"/>
            </a:xfrm>
            <a:prstGeom prst="rect">
              <a:avLst/>
            </a:prstGeom>
            <a:solidFill>
              <a:srgbClr val="9E00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en-US" sz="1600">
                  <a:solidFill>
                    <a:schemeClr val="bg1"/>
                  </a:solidFill>
                </a:rPr>
                <a:t>Strengths</a:t>
              </a:r>
            </a:p>
          </p:txBody>
        </p:sp>
        <p:sp>
          <p:nvSpPr>
            <p:cNvPr id="8" name="TextBox 7">
              <a:extLst>
                <a:ext uri="{FF2B5EF4-FFF2-40B4-BE49-F238E27FC236}">
                  <a16:creationId xmlns:a16="http://schemas.microsoft.com/office/drawing/2014/main" id="{6EE9269A-351E-7783-5974-AD7BEE4704ED}"/>
                </a:ext>
              </a:extLst>
            </p:cNvPr>
            <p:cNvSpPr txBox="1"/>
            <p:nvPr/>
          </p:nvSpPr>
          <p:spPr>
            <a:xfrm>
              <a:off x="8808654" y="1818673"/>
              <a:ext cx="2531315" cy="331979"/>
            </a:xfrm>
            <a:prstGeom prst="rect">
              <a:avLst/>
            </a:prstGeom>
            <a:solidFill>
              <a:srgbClr val="9E00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en-US" sz="1600">
                  <a:solidFill>
                    <a:schemeClr val="bg1"/>
                  </a:solidFill>
                </a:rPr>
                <a:t>Weaknesses</a:t>
              </a:r>
              <a:endParaRPr lang="en-US"/>
            </a:p>
          </p:txBody>
        </p:sp>
        <p:sp>
          <p:nvSpPr>
            <p:cNvPr id="9" name="TextBox 8">
              <a:extLst>
                <a:ext uri="{FF2B5EF4-FFF2-40B4-BE49-F238E27FC236}">
                  <a16:creationId xmlns:a16="http://schemas.microsoft.com/office/drawing/2014/main" id="{2515C43A-C32D-126C-8116-ACD59DB3E8FF}"/>
                </a:ext>
              </a:extLst>
            </p:cNvPr>
            <p:cNvSpPr txBox="1"/>
            <p:nvPr/>
          </p:nvSpPr>
          <p:spPr>
            <a:xfrm>
              <a:off x="6193948" y="3695718"/>
              <a:ext cx="2547743" cy="327762"/>
            </a:xfrm>
            <a:prstGeom prst="rect">
              <a:avLst/>
            </a:prstGeom>
            <a:solidFill>
              <a:srgbClr val="9E00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en-US" sz="1600">
                  <a:solidFill>
                    <a:schemeClr val="bg1"/>
                  </a:solidFill>
                </a:rPr>
                <a:t>Opportunities</a:t>
              </a:r>
            </a:p>
          </p:txBody>
        </p:sp>
        <p:sp>
          <p:nvSpPr>
            <p:cNvPr id="15" name="TextBox 14">
              <a:extLst>
                <a:ext uri="{FF2B5EF4-FFF2-40B4-BE49-F238E27FC236}">
                  <a16:creationId xmlns:a16="http://schemas.microsoft.com/office/drawing/2014/main" id="{86A2AD66-52FA-11B9-AC41-105D1BF85A63}"/>
                </a:ext>
              </a:extLst>
            </p:cNvPr>
            <p:cNvSpPr txBox="1"/>
            <p:nvPr/>
          </p:nvSpPr>
          <p:spPr>
            <a:xfrm>
              <a:off x="8808653" y="3698972"/>
              <a:ext cx="2523398" cy="324508"/>
            </a:xfrm>
            <a:prstGeom prst="rect">
              <a:avLst/>
            </a:prstGeom>
            <a:solidFill>
              <a:srgbClr val="9E00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en-US" sz="1600">
                  <a:solidFill>
                    <a:schemeClr val="bg1"/>
                  </a:solidFill>
                </a:rPr>
                <a:t>Threats</a:t>
              </a:r>
            </a:p>
          </p:txBody>
        </p:sp>
      </p:grpSp>
      <p:sp>
        <p:nvSpPr>
          <p:cNvPr id="2" name="Slide Number Placeholder 1">
            <a:extLst>
              <a:ext uri="{FF2B5EF4-FFF2-40B4-BE49-F238E27FC236}">
                <a16:creationId xmlns:a16="http://schemas.microsoft.com/office/drawing/2014/main" id="{D7141A1F-545B-D3F2-3FE7-27923D741FCE}"/>
              </a:ext>
            </a:extLst>
          </p:cNvPr>
          <p:cNvSpPr>
            <a:spLocks noGrp="1"/>
          </p:cNvSpPr>
          <p:nvPr>
            <p:ph type="sldNum" sz="quarter" idx="12"/>
          </p:nvPr>
        </p:nvSpPr>
        <p:spPr/>
        <p:txBody>
          <a:bodyPr/>
          <a:lstStyle/>
          <a:p>
            <a:fld id="{441E4A3E-16F6-FF44-B4DD-5D27CCED9977}" type="slidenum">
              <a:rPr lang="en-US" dirty="0" smtClean="0">
                <a:solidFill>
                  <a:schemeClr val="bg1"/>
                </a:solidFill>
              </a:rPr>
              <a:t>7</a:t>
            </a:fld>
            <a:endParaRPr lang="en-US">
              <a:solidFill>
                <a:schemeClr val="bg1"/>
              </a:solidFill>
            </a:endParaRPr>
          </a:p>
        </p:txBody>
      </p:sp>
    </p:spTree>
    <p:extLst>
      <p:ext uri="{BB962C8B-B14F-4D97-AF65-F5344CB8AC3E}">
        <p14:creationId xmlns:p14="http://schemas.microsoft.com/office/powerpoint/2010/main" val="117186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90000">
              <a:srgbClr val="C00000"/>
            </a:gs>
            <a:gs pos="10000">
              <a:schemeClr val="tx1"/>
            </a:gs>
          </a:gsLst>
          <a:path path="circle">
            <a:fillToRect l="100000" t="100000"/>
          </a:path>
          <a:tileRect r="-100000" b="-100000"/>
        </a:gradFill>
        <a:effectLst/>
      </p:bgPr>
    </p:bg>
    <p:spTree>
      <p:nvGrpSpPr>
        <p:cNvPr id="1" name="">
          <a:extLst>
            <a:ext uri="{FF2B5EF4-FFF2-40B4-BE49-F238E27FC236}">
              <a16:creationId xmlns:a16="http://schemas.microsoft.com/office/drawing/2014/main" id="{6849BA87-3875-AE88-A03B-D7034525264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7EB510B-0749-9CD8-AB02-3D172B54F6AA}"/>
              </a:ext>
            </a:extLst>
          </p:cNvPr>
          <p:cNvSpPr/>
          <p:nvPr/>
        </p:nvSpPr>
        <p:spPr>
          <a:xfrm>
            <a:off x="7140174" y="4217"/>
            <a:ext cx="5050971" cy="6836228"/>
          </a:xfrm>
          <a:prstGeom prst="rect">
            <a:avLst/>
          </a:prstGeom>
          <a:solidFill>
            <a:srgbClr val="66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p:cNvSpPr>
            <a:spLocks noGrp="1"/>
          </p:cNvSpPr>
          <p:nvPr>
            <p:ph type="body" sz="half" idx="2"/>
          </p:nvPr>
        </p:nvSpPr>
        <p:spPr>
          <a:xfrm>
            <a:off x="239841" y="166878"/>
            <a:ext cx="2206157" cy="1547854"/>
          </a:xfrm>
          <a:ln w="28575">
            <a:noFill/>
          </a:ln>
        </p:spPr>
        <p:txBody>
          <a:bodyPr vert="horz" lIns="91440" tIns="45720" rIns="91440" bIns="45720" rtlCol="0" anchor="t">
            <a:noAutofit/>
          </a:bodyPr>
          <a:lstStyle/>
          <a:p>
            <a:pPr>
              <a:lnSpc>
                <a:spcPct val="110000"/>
              </a:lnSpc>
            </a:pPr>
            <a:r>
              <a:rPr lang="en-US" sz="1000" b="1">
                <a:solidFill>
                  <a:schemeClr val="bg1"/>
                </a:solidFill>
              </a:rPr>
              <a:t>Direct Competitors:</a:t>
            </a:r>
            <a:endParaRPr lang="en-US" sz="1000">
              <a:solidFill>
                <a:schemeClr val="bg1"/>
              </a:solidFill>
            </a:endParaRPr>
          </a:p>
          <a:p>
            <a:pPr>
              <a:lnSpc>
                <a:spcPct val="110000"/>
              </a:lnSpc>
            </a:pPr>
            <a:r>
              <a:rPr lang="en-US" sz="1000" b="1">
                <a:solidFill>
                  <a:schemeClr val="bg1"/>
                </a:solidFill>
              </a:rPr>
              <a:t>U</a:t>
            </a:r>
            <a:r>
              <a:rPr lang="en-US" sz="1000">
                <a:solidFill>
                  <a:schemeClr val="bg1"/>
                </a:solidFill>
              </a:rPr>
              <a:t>ber Eats / Door Dash / Grubhub</a:t>
            </a:r>
          </a:p>
          <a:p>
            <a:pPr marL="171450" indent="-171450">
              <a:lnSpc>
                <a:spcPct val="110000"/>
              </a:lnSpc>
              <a:buChar char="•"/>
            </a:pPr>
            <a:r>
              <a:rPr lang="en-US" sz="1000">
                <a:solidFill>
                  <a:schemeClr val="bg1"/>
                </a:solidFill>
              </a:rPr>
              <a:t>Large User bases, fast delivery options.</a:t>
            </a:r>
          </a:p>
          <a:p>
            <a:pPr marL="171450" indent="-171450">
              <a:lnSpc>
                <a:spcPct val="110000"/>
              </a:lnSpc>
              <a:buChar char="•"/>
            </a:pPr>
            <a:r>
              <a:rPr lang="en-US" sz="1000">
                <a:solidFill>
                  <a:schemeClr val="bg1"/>
                </a:solidFill>
              </a:rPr>
              <a:t>Wide restaurant variety.</a:t>
            </a:r>
          </a:p>
          <a:p>
            <a:pPr marL="171450" indent="-171450">
              <a:lnSpc>
                <a:spcPct val="110000"/>
              </a:lnSpc>
              <a:buChar char="•"/>
            </a:pPr>
            <a:r>
              <a:rPr lang="en-US" sz="1000">
                <a:solidFill>
                  <a:schemeClr val="bg1"/>
                </a:solidFill>
              </a:rPr>
              <a:t>Strong brand recognition.</a:t>
            </a:r>
          </a:p>
          <a:p>
            <a:pPr>
              <a:lnSpc>
                <a:spcPct val="110000"/>
              </a:lnSpc>
            </a:pPr>
            <a:endParaRPr lang="en-US" sz="800">
              <a:solidFill>
                <a:schemeClr val="bg1"/>
              </a:solidFill>
            </a:endParaRPr>
          </a:p>
          <a:p>
            <a:pPr marL="171450" indent="-171450">
              <a:lnSpc>
                <a:spcPct val="80000"/>
              </a:lnSpc>
              <a:buFont typeface="Arial" panose="020B0604020202020204" pitchFamily="34" charset="0"/>
              <a:buChar char="•"/>
            </a:pPr>
            <a:endParaRPr lang="en-US" sz="900">
              <a:solidFill>
                <a:schemeClr val="bg1"/>
              </a:solidFill>
            </a:endParaRPr>
          </a:p>
          <a:p>
            <a:pPr marL="171450" indent="-171450">
              <a:buFont typeface="Arial" panose="020B0604020202020204" pitchFamily="34" charset="0"/>
              <a:buChar char="•"/>
            </a:pPr>
            <a:endParaRPr lang="en-US" sz="900" b="1">
              <a:solidFill>
                <a:schemeClr val="bg1"/>
              </a:solidFill>
            </a:endParaRPr>
          </a:p>
          <a:p>
            <a:endParaRPr lang="en-US" sz="900" b="1">
              <a:solidFill>
                <a:schemeClr val="bg1"/>
              </a:solidFill>
            </a:endParaRPr>
          </a:p>
          <a:p>
            <a:pPr marL="171450" indent="-171450">
              <a:buFont typeface="Arial" panose="020B0604020202020204" pitchFamily="34" charset="0"/>
              <a:buChar char="•"/>
            </a:pPr>
            <a:endParaRPr lang="en-US" sz="900" b="1">
              <a:solidFill>
                <a:schemeClr val="bg1"/>
              </a:solidFill>
            </a:endParaRPr>
          </a:p>
          <a:p>
            <a:endParaRPr lang="en-US" sz="1100" b="1">
              <a:solidFill>
                <a:schemeClr val="bg1"/>
              </a:solidFill>
            </a:endParaRPr>
          </a:p>
        </p:txBody>
      </p:sp>
      <p:sp>
        <p:nvSpPr>
          <p:cNvPr id="5" name="Rectangle: Rounded Corners 4">
            <a:extLst>
              <a:ext uri="{FF2B5EF4-FFF2-40B4-BE49-F238E27FC236}">
                <a16:creationId xmlns:a16="http://schemas.microsoft.com/office/drawing/2014/main" id="{1682CBA7-4CFE-318C-154A-04F11CCC9BE6}"/>
              </a:ext>
            </a:extLst>
          </p:cNvPr>
          <p:cNvSpPr/>
          <p:nvPr/>
        </p:nvSpPr>
        <p:spPr>
          <a:xfrm>
            <a:off x="7857083" y="698896"/>
            <a:ext cx="3617741" cy="603284"/>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
            <a:extLst>
              <a:ext uri="{FF2B5EF4-FFF2-40B4-BE49-F238E27FC236}">
                <a16:creationId xmlns:a16="http://schemas.microsoft.com/office/drawing/2014/main" id="{C6DAE371-EB8C-1CFB-13F6-D6D412A32D28}"/>
              </a:ext>
            </a:extLst>
          </p:cNvPr>
          <p:cNvSpPr txBox="1">
            <a:spLocks/>
          </p:cNvSpPr>
          <p:nvPr/>
        </p:nvSpPr>
        <p:spPr>
          <a:xfrm>
            <a:off x="7993713" y="162702"/>
            <a:ext cx="3456374" cy="154247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r>
              <a:rPr lang="en-US" sz="4400" b="1">
                <a:solidFill>
                  <a:schemeClr val="bg1"/>
                </a:solidFill>
                <a:effectLst>
                  <a:innerShdw blurRad="63500" dist="50800" dir="2700000">
                    <a:prstClr val="black">
                      <a:alpha val="50000"/>
                    </a:prstClr>
                  </a:innerShdw>
                </a:effectLst>
                <a:latin typeface="+mn-lt"/>
                <a:cs typeface="AngsanaUPC"/>
              </a:rPr>
              <a:t>Competitive Analysis</a:t>
            </a:r>
            <a:endParaRPr lang="en-US" sz="4400">
              <a:solidFill>
                <a:schemeClr val="bg1"/>
              </a:solidFill>
            </a:endParaRPr>
          </a:p>
        </p:txBody>
      </p:sp>
      <p:grpSp>
        <p:nvGrpSpPr>
          <p:cNvPr id="11" name="Group 10">
            <a:extLst>
              <a:ext uri="{FF2B5EF4-FFF2-40B4-BE49-F238E27FC236}">
                <a16:creationId xmlns:a16="http://schemas.microsoft.com/office/drawing/2014/main" id="{FC123D8F-60C1-A810-2A99-2D7CCF1E6F41}"/>
              </a:ext>
            </a:extLst>
          </p:cNvPr>
          <p:cNvGrpSpPr/>
          <p:nvPr/>
        </p:nvGrpSpPr>
        <p:grpSpPr>
          <a:xfrm>
            <a:off x="7581258" y="1893950"/>
            <a:ext cx="4166284" cy="4143893"/>
            <a:chOff x="7341772" y="1451264"/>
            <a:chExt cx="4166284" cy="4143893"/>
          </a:xfrm>
        </p:grpSpPr>
        <p:sp>
          <p:nvSpPr>
            <p:cNvPr id="13" name="Rectangle: Rounded Corners 12">
              <a:extLst>
                <a:ext uri="{FF2B5EF4-FFF2-40B4-BE49-F238E27FC236}">
                  <a16:creationId xmlns:a16="http://schemas.microsoft.com/office/drawing/2014/main" id="{F9344528-3324-7251-E730-0E7CE1AB4C36}"/>
                </a:ext>
              </a:extLst>
            </p:cNvPr>
            <p:cNvSpPr/>
            <p:nvPr/>
          </p:nvSpPr>
          <p:spPr>
            <a:xfrm>
              <a:off x="7573820" y="1451264"/>
              <a:ext cx="1469435" cy="1828081"/>
            </a:xfrm>
            <a:prstGeom prst="roundRect">
              <a:avLst/>
            </a:prstGeom>
            <a:noFill/>
            <a:ln>
              <a:solidFill>
                <a:schemeClr val="bg1"/>
              </a:solid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descr="A red and black logo&#10;&#10;AI-generated content may be incorrect.">
              <a:extLst>
                <a:ext uri="{FF2B5EF4-FFF2-40B4-BE49-F238E27FC236}">
                  <a16:creationId xmlns:a16="http://schemas.microsoft.com/office/drawing/2014/main" id="{FBFE8F92-C1E1-B690-659E-C950ADFE2961}"/>
                </a:ext>
              </a:extLst>
            </p:cNvPr>
            <p:cNvPicPr>
              <a:picLocks noChangeAspect="1"/>
            </p:cNvPicPr>
            <p:nvPr/>
          </p:nvPicPr>
          <p:blipFill>
            <a:blip r:embed="rId3"/>
            <a:stretch>
              <a:fillRect/>
            </a:stretch>
          </p:blipFill>
          <p:spPr>
            <a:xfrm>
              <a:off x="7573820" y="3871377"/>
              <a:ext cx="1542474" cy="1723780"/>
            </a:xfrm>
            <a:prstGeom prst="rect">
              <a:avLst/>
            </a:prstGeom>
            <a:effectLst>
              <a:innerShdw blurRad="63500" dist="50800" dir="2700000">
                <a:prstClr val="black">
                  <a:alpha val="50000"/>
                </a:prstClr>
              </a:innerShdw>
            </a:effectLst>
          </p:spPr>
        </p:pic>
        <p:sp>
          <p:nvSpPr>
            <p:cNvPr id="26" name="Rectangle: Rounded Corners 25">
              <a:extLst>
                <a:ext uri="{FF2B5EF4-FFF2-40B4-BE49-F238E27FC236}">
                  <a16:creationId xmlns:a16="http://schemas.microsoft.com/office/drawing/2014/main" id="{C3C2B01D-6284-5D42-E28C-FAC920EF8442}"/>
                </a:ext>
              </a:extLst>
            </p:cNvPr>
            <p:cNvSpPr/>
            <p:nvPr/>
          </p:nvSpPr>
          <p:spPr>
            <a:xfrm>
              <a:off x="7610340" y="3767076"/>
              <a:ext cx="1469435" cy="1828081"/>
            </a:xfrm>
            <a:prstGeom prst="roundRect">
              <a:avLst/>
            </a:prstGeom>
            <a:noFill/>
            <a:ln>
              <a:solidFill>
                <a:schemeClr val="bg1"/>
              </a:solid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C603F496-4198-5C08-A4A4-C975EF2278DA}"/>
                </a:ext>
              </a:extLst>
            </p:cNvPr>
            <p:cNvSpPr/>
            <p:nvPr/>
          </p:nvSpPr>
          <p:spPr>
            <a:xfrm>
              <a:off x="9758647" y="1451264"/>
              <a:ext cx="1469435" cy="1828081"/>
            </a:xfrm>
            <a:prstGeom prst="roundRect">
              <a:avLst/>
            </a:prstGeom>
            <a:noFill/>
            <a:ln>
              <a:solidFill>
                <a:schemeClr val="bg1"/>
              </a:solidFill>
            </a:ln>
            <a:effectLst>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9540B501-6C08-F9F2-D9E5-6C05E1B1CC19}"/>
                </a:ext>
              </a:extLst>
            </p:cNvPr>
            <p:cNvSpPr/>
            <p:nvPr/>
          </p:nvSpPr>
          <p:spPr>
            <a:xfrm>
              <a:off x="9898635" y="3767076"/>
              <a:ext cx="1469435" cy="1828081"/>
            </a:xfrm>
            <a:prstGeom prst="roundRect">
              <a:avLst/>
            </a:prstGeom>
            <a:noFill/>
            <a:ln>
              <a:solidFill>
                <a:schemeClr val="bg1"/>
              </a:solidFill>
            </a:ln>
            <a:effectLst>
              <a:glow rad="63500">
                <a:schemeClr val="accent3">
                  <a:satMod val="175000"/>
                  <a:alpha val="40000"/>
                </a:schemeClr>
              </a:glow>
              <a:innerShdw blurRad="63500" dist="50800" dir="27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A logo of a house with a fork and knife&#10;&#10;AI-generated content may be incorrect.">
              <a:extLst>
                <a:ext uri="{FF2B5EF4-FFF2-40B4-BE49-F238E27FC236}">
                  <a16:creationId xmlns:a16="http://schemas.microsoft.com/office/drawing/2014/main" id="{F8D45F8F-DAC0-ADBD-1200-BD827D148B6B}"/>
                </a:ext>
              </a:extLst>
            </p:cNvPr>
            <p:cNvPicPr>
              <a:picLocks noChangeAspect="1"/>
            </p:cNvPicPr>
            <p:nvPr/>
          </p:nvPicPr>
          <p:blipFill>
            <a:blip r:embed="rId4"/>
            <a:stretch>
              <a:fillRect/>
            </a:stretch>
          </p:blipFill>
          <p:spPr>
            <a:xfrm>
              <a:off x="7341772" y="1774508"/>
              <a:ext cx="1926201" cy="1188912"/>
            </a:xfrm>
            <a:prstGeom prst="rect">
              <a:avLst/>
            </a:prstGeom>
            <a:effectLst>
              <a:innerShdw blurRad="63500" dist="50800" dir="2700000">
                <a:prstClr val="black">
                  <a:alpha val="50000"/>
                </a:prstClr>
              </a:innerShdw>
            </a:effectLst>
          </p:spPr>
        </p:pic>
        <p:pic>
          <p:nvPicPr>
            <p:cNvPr id="4" name="Picture 3" descr="A white square with red text and a helmet on it&#10;&#10;AI-generated content may be incorrect.">
              <a:extLst>
                <a:ext uri="{FF2B5EF4-FFF2-40B4-BE49-F238E27FC236}">
                  <a16:creationId xmlns:a16="http://schemas.microsoft.com/office/drawing/2014/main" id="{0901045E-3932-C637-D584-FA28EA4C652F}"/>
                </a:ext>
              </a:extLst>
            </p:cNvPr>
            <p:cNvPicPr>
              <a:picLocks noChangeAspect="1"/>
            </p:cNvPicPr>
            <p:nvPr/>
          </p:nvPicPr>
          <p:blipFill>
            <a:blip r:embed="rId5"/>
            <a:stretch>
              <a:fillRect/>
            </a:stretch>
          </p:blipFill>
          <p:spPr>
            <a:xfrm>
              <a:off x="9758647" y="3806411"/>
              <a:ext cx="1749409" cy="1749409"/>
            </a:xfrm>
            <a:prstGeom prst="rect">
              <a:avLst/>
            </a:prstGeom>
            <a:effectLst>
              <a:glow rad="63500">
                <a:schemeClr val="accent3">
                  <a:satMod val="175000"/>
                  <a:alpha val="40000"/>
                </a:schemeClr>
              </a:glow>
              <a:innerShdw blurRad="63500" dist="50800" dir="2700000">
                <a:prstClr val="black">
                  <a:alpha val="50000"/>
                </a:prstClr>
              </a:innerShdw>
            </a:effectLst>
          </p:spPr>
        </p:pic>
        <p:pic>
          <p:nvPicPr>
            <p:cNvPr id="23" name="Picture 22" descr="A black background with white text&#10;&#10;AI-generated content may be incorrect.">
              <a:extLst>
                <a:ext uri="{FF2B5EF4-FFF2-40B4-BE49-F238E27FC236}">
                  <a16:creationId xmlns:a16="http://schemas.microsoft.com/office/drawing/2014/main" id="{02FA9D7C-4CF1-8CB8-B6B6-D1EF247B43CF}"/>
                </a:ext>
              </a:extLst>
            </p:cNvPr>
            <p:cNvPicPr>
              <a:picLocks noChangeAspect="1"/>
            </p:cNvPicPr>
            <p:nvPr/>
          </p:nvPicPr>
          <p:blipFill>
            <a:blip r:embed="rId6"/>
            <a:stretch>
              <a:fillRect/>
            </a:stretch>
          </p:blipFill>
          <p:spPr>
            <a:xfrm>
              <a:off x="9992014" y="1900235"/>
              <a:ext cx="1060761" cy="1060761"/>
            </a:xfrm>
            <a:prstGeom prst="rect">
              <a:avLst/>
            </a:prstGeom>
            <a:effectLst>
              <a:innerShdw blurRad="63500" dist="50800" dir="2700000">
                <a:prstClr val="black">
                  <a:alpha val="50000"/>
                </a:prstClr>
              </a:innerShdw>
            </a:effectLst>
          </p:spPr>
        </p:pic>
      </p:grpSp>
      <p:sp>
        <p:nvSpPr>
          <p:cNvPr id="3" name="TextBox 2">
            <a:extLst>
              <a:ext uri="{FF2B5EF4-FFF2-40B4-BE49-F238E27FC236}">
                <a16:creationId xmlns:a16="http://schemas.microsoft.com/office/drawing/2014/main" id="{FA6C5611-163B-F619-6606-08571C69908D}"/>
              </a:ext>
            </a:extLst>
          </p:cNvPr>
          <p:cNvSpPr txBox="1"/>
          <p:nvPr/>
        </p:nvSpPr>
        <p:spPr>
          <a:xfrm>
            <a:off x="2752441" y="166758"/>
            <a:ext cx="3728023" cy="19244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10000"/>
              </a:lnSpc>
              <a:spcBef>
                <a:spcPts val="1000"/>
              </a:spcBef>
            </a:pPr>
            <a:r>
              <a:rPr lang="en-US" sz="1000" b="1">
                <a:solidFill>
                  <a:schemeClr val="bg1"/>
                </a:solidFill>
              </a:rPr>
              <a:t>But:</a:t>
            </a:r>
            <a:endParaRPr lang="en-US" sz="1000">
              <a:solidFill>
                <a:schemeClr val="bg1"/>
              </a:solidFill>
            </a:endParaRPr>
          </a:p>
          <a:p>
            <a:pPr marL="171450" indent="-285750">
              <a:lnSpc>
                <a:spcPct val="110000"/>
              </a:lnSpc>
              <a:spcBef>
                <a:spcPts val="1000"/>
              </a:spcBef>
              <a:buFont typeface="Arial,Sans-Serif"/>
              <a:buChar char="•"/>
            </a:pPr>
            <a:r>
              <a:rPr lang="en-US" sz="1000">
                <a:solidFill>
                  <a:schemeClr val="bg1"/>
                </a:solidFill>
              </a:rPr>
              <a:t>Do not accept meal swipes</a:t>
            </a:r>
          </a:p>
          <a:p>
            <a:pPr marL="171450" indent="-285750">
              <a:lnSpc>
                <a:spcPct val="110000"/>
              </a:lnSpc>
              <a:spcBef>
                <a:spcPts val="1000"/>
              </a:spcBef>
              <a:buFont typeface="Arial,Sans-Serif"/>
              <a:buChar char="•"/>
            </a:pPr>
            <a:r>
              <a:rPr lang="en-US" sz="1000">
                <a:solidFill>
                  <a:schemeClr val="bg1"/>
                </a:solidFill>
              </a:rPr>
              <a:t>Higher deliver fees + surge pricing (A period in which there is high demand, but low supply and prices are temporarily increased.)</a:t>
            </a:r>
          </a:p>
          <a:p>
            <a:pPr marL="171450" indent="-285750">
              <a:lnSpc>
                <a:spcPct val="110000"/>
              </a:lnSpc>
              <a:spcBef>
                <a:spcPts val="1000"/>
              </a:spcBef>
              <a:buFont typeface="Arial,Sans-Serif"/>
              <a:buChar char="•"/>
            </a:pPr>
            <a:r>
              <a:rPr lang="en-US" sz="1000">
                <a:solidFill>
                  <a:schemeClr val="bg1"/>
                </a:solidFill>
              </a:rPr>
              <a:t>Often slow on large campuses due to unfamiliarity with layout.</a:t>
            </a:r>
          </a:p>
          <a:p>
            <a:pPr algn="l"/>
            <a:endParaRPr lang="en-US"/>
          </a:p>
        </p:txBody>
      </p:sp>
      <p:sp>
        <p:nvSpPr>
          <p:cNvPr id="6" name="TextBox 5">
            <a:extLst>
              <a:ext uri="{FF2B5EF4-FFF2-40B4-BE49-F238E27FC236}">
                <a16:creationId xmlns:a16="http://schemas.microsoft.com/office/drawing/2014/main" id="{8E6C8924-D03A-0B24-2515-D0D5167F3468}"/>
              </a:ext>
            </a:extLst>
          </p:cNvPr>
          <p:cNvSpPr txBox="1"/>
          <p:nvPr/>
        </p:nvSpPr>
        <p:spPr>
          <a:xfrm>
            <a:off x="2754684" y="3968810"/>
            <a:ext cx="1908699" cy="11746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10000"/>
              </a:lnSpc>
              <a:spcBef>
                <a:spcPts val="1000"/>
              </a:spcBef>
            </a:pPr>
            <a:r>
              <a:rPr lang="en-US" sz="1000" b="1">
                <a:solidFill>
                  <a:schemeClr val="bg1"/>
                </a:solidFill>
              </a:rPr>
              <a:t>Indirect competitors:</a:t>
            </a:r>
            <a:endParaRPr lang="en-US" sz="1000">
              <a:solidFill>
                <a:schemeClr val="bg1"/>
              </a:solidFill>
            </a:endParaRPr>
          </a:p>
          <a:p>
            <a:pPr marL="171450" indent="-285750">
              <a:lnSpc>
                <a:spcPct val="110000"/>
              </a:lnSpc>
              <a:spcBef>
                <a:spcPts val="1000"/>
              </a:spcBef>
              <a:buFont typeface="Arial,Sans-Serif"/>
              <a:buChar char="•"/>
            </a:pPr>
            <a:r>
              <a:rPr lang="en-US" sz="1000">
                <a:solidFill>
                  <a:schemeClr val="bg1"/>
                </a:solidFill>
              </a:rPr>
              <a:t>Rutgers Dining hall (walk in only), uses meal swipes but has no delivery option.</a:t>
            </a:r>
          </a:p>
          <a:p>
            <a:pPr algn="l"/>
            <a:endParaRPr lang="en-US"/>
          </a:p>
        </p:txBody>
      </p:sp>
      <p:sp>
        <p:nvSpPr>
          <p:cNvPr id="7" name="TextBox 6">
            <a:extLst>
              <a:ext uri="{FF2B5EF4-FFF2-40B4-BE49-F238E27FC236}">
                <a16:creationId xmlns:a16="http://schemas.microsoft.com/office/drawing/2014/main" id="{591D60AB-9103-3413-72A7-7E854A529F09}"/>
              </a:ext>
            </a:extLst>
          </p:cNvPr>
          <p:cNvSpPr txBox="1"/>
          <p:nvPr/>
        </p:nvSpPr>
        <p:spPr>
          <a:xfrm>
            <a:off x="241406" y="1882588"/>
            <a:ext cx="2510971" cy="32573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10000"/>
              </a:lnSpc>
              <a:spcBef>
                <a:spcPts val="1000"/>
              </a:spcBef>
            </a:pPr>
            <a:r>
              <a:rPr lang="en-US" sz="1000" b="1">
                <a:solidFill>
                  <a:schemeClr val="bg1"/>
                </a:solidFill>
              </a:rPr>
              <a:t>Scarlet Delivery competitive advantages:</a:t>
            </a:r>
            <a:endParaRPr lang="en-US" sz="1000">
              <a:solidFill>
                <a:schemeClr val="bg1"/>
              </a:solidFill>
            </a:endParaRPr>
          </a:p>
          <a:p>
            <a:pPr marL="171450" indent="-285750">
              <a:lnSpc>
                <a:spcPct val="110000"/>
              </a:lnSpc>
              <a:spcBef>
                <a:spcPts val="1000"/>
              </a:spcBef>
              <a:buFont typeface="Arial,Sans-Serif"/>
              <a:buChar char="•"/>
            </a:pPr>
            <a:r>
              <a:rPr lang="en-US" sz="1000">
                <a:solidFill>
                  <a:schemeClr val="bg1"/>
                </a:solidFill>
              </a:rPr>
              <a:t>Exclusive ability to accept campus meal swipes (A unique value proposition).</a:t>
            </a:r>
          </a:p>
          <a:p>
            <a:pPr marL="171450" indent="-285750">
              <a:lnSpc>
                <a:spcPct val="110000"/>
              </a:lnSpc>
              <a:spcBef>
                <a:spcPts val="1000"/>
              </a:spcBef>
              <a:buFont typeface="Arial,Sans-Serif"/>
              <a:buChar char="•"/>
            </a:pPr>
            <a:r>
              <a:rPr lang="en-US" sz="1000">
                <a:solidFill>
                  <a:schemeClr val="bg1"/>
                </a:solidFill>
              </a:rPr>
              <a:t>Lower cost than outside delivery apps (No food markup; just tip + small fee).</a:t>
            </a:r>
          </a:p>
          <a:p>
            <a:pPr marL="171450" indent="-285750">
              <a:lnSpc>
                <a:spcPct val="110000"/>
              </a:lnSpc>
              <a:spcBef>
                <a:spcPts val="1000"/>
              </a:spcBef>
              <a:buFont typeface="Arial,Sans-Serif"/>
              <a:buChar char="•"/>
            </a:pPr>
            <a:r>
              <a:rPr lang="en-US" sz="1000">
                <a:solidFill>
                  <a:schemeClr val="bg1"/>
                </a:solidFill>
              </a:rPr>
              <a:t>Campus exclusive couriers </a:t>
            </a:r>
            <a:r>
              <a:rPr lang="en-US" sz="1000">
                <a:solidFill>
                  <a:schemeClr val="bg1"/>
                </a:solidFill>
                <a:sym typeface="Wingdings" panose="05000000000000000000" pitchFamily="2" charset="2"/>
              </a:rPr>
              <a:t></a:t>
            </a:r>
            <a:r>
              <a:rPr lang="en-US" sz="1000">
                <a:solidFill>
                  <a:schemeClr val="bg1"/>
                </a:solidFill>
              </a:rPr>
              <a:t> Faster deliveries and safer service.</a:t>
            </a:r>
          </a:p>
          <a:p>
            <a:pPr marL="171450" indent="-285750">
              <a:lnSpc>
                <a:spcPct val="110000"/>
              </a:lnSpc>
              <a:spcBef>
                <a:spcPts val="1000"/>
              </a:spcBef>
              <a:buFont typeface="Arial,Sans-Serif"/>
              <a:buChar char="•"/>
            </a:pPr>
            <a:r>
              <a:rPr lang="en-US" sz="1000">
                <a:solidFill>
                  <a:schemeClr val="bg1"/>
                </a:solidFill>
              </a:rPr>
              <a:t>Eliminates wasted meal swipes (Major point for students)</a:t>
            </a:r>
          </a:p>
          <a:p>
            <a:pPr marL="171450" indent="-285750">
              <a:lnSpc>
                <a:spcPct val="110000"/>
              </a:lnSpc>
              <a:spcBef>
                <a:spcPts val="1000"/>
              </a:spcBef>
              <a:buFont typeface="Arial,Sans-Serif"/>
              <a:buChar char="•"/>
            </a:pPr>
            <a:r>
              <a:rPr lang="en-US" sz="1000">
                <a:solidFill>
                  <a:schemeClr val="bg1"/>
                </a:solidFill>
              </a:rPr>
              <a:t>Designed specifically for Rutgers campus geography + dining system.</a:t>
            </a:r>
          </a:p>
          <a:p>
            <a:pPr algn="l"/>
            <a:endParaRPr lang="en-US" sz="1000"/>
          </a:p>
        </p:txBody>
      </p:sp>
      <p:sp>
        <p:nvSpPr>
          <p:cNvPr id="8" name="TextBox 7">
            <a:extLst>
              <a:ext uri="{FF2B5EF4-FFF2-40B4-BE49-F238E27FC236}">
                <a16:creationId xmlns:a16="http://schemas.microsoft.com/office/drawing/2014/main" id="{9A881E1A-3112-BA1A-4714-1617DEDDA6CB}"/>
              </a:ext>
            </a:extLst>
          </p:cNvPr>
          <p:cNvSpPr txBox="1"/>
          <p:nvPr/>
        </p:nvSpPr>
        <p:spPr>
          <a:xfrm>
            <a:off x="2750828" y="1879579"/>
            <a:ext cx="3091542" cy="22365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10000"/>
              </a:lnSpc>
              <a:spcBef>
                <a:spcPts val="1000"/>
              </a:spcBef>
            </a:pPr>
            <a:r>
              <a:rPr lang="en-US" sz="1000" b="1">
                <a:solidFill>
                  <a:schemeClr val="bg1"/>
                </a:solidFill>
              </a:rPr>
              <a:t>Competitive disadvantages / Challenges:</a:t>
            </a:r>
            <a:endParaRPr lang="en-US" sz="1000">
              <a:solidFill>
                <a:schemeClr val="bg1"/>
              </a:solidFill>
            </a:endParaRPr>
          </a:p>
          <a:p>
            <a:pPr marL="171450" indent="-285750">
              <a:lnSpc>
                <a:spcPct val="110000"/>
              </a:lnSpc>
              <a:spcBef>
                <a:spcPts val="1000"/>
              </a:spcBef>
              <a:buFont typeface="Arial,Sans-Serif"/>
              <a:buChar char="•"/>
            </a:pPr>
            <a:r>
              <a:rPr lang="en-US" sz="1000">
                <a:solidFill>
                  <a:schemeClr val="bg1"/>
                </a:solidFill>
              </a:rPr>
              <a:t>Integration required with Rutgers dining + payment options.</a:t>
            </a:r>
          </a:p>
          <a:p>
            <a:pPr marL="171450" indent="-285750">
              <a:lnSpc>
                <a:spcPct val="110000"/>
              </a:lnSpc>
              <a:spcBef>
                <a:spcPts val="1000"/>
              </a:spcBef>
              <a:buFont typeface="Arial,Sans-Serif"/>
              <a:buChar char="•"/>
            </a:pPr>
            <a:r>
              <a:rPr lang="en-US" sz="1000">
                <a:solidFill>
                  <a:schemeClr val="bg1"/>
                </a:solidFill>
              </a:rPr>
              <a:t>Delivery services limited to campus radius.</a:t>
            </a:r>
          </a:p>
          <a:p>
            <a:pPr marL="171450" indent="-285750">
              <a:lnSpc>
                <a:spcPct val="110000"/>
              </a:lnSpc>
              <a:spcBef>
                <a:spcPts val="1000"/>
              </a:spcBef>
              <a:buFont typeface="Arial,Sans-Serif"/>
              <a:buChar char="•"/>
            </a:pPr>
            <a:r>
              <a:rPr lang="en-US" sz="1000">
                <a:solidFill>
                  <a:schemeClr val="bg1"/>
                </a:solidFill>
              </a:rPr>
              <a:t>Dependent on recruiting reliable student couriers.</a:t>
            </a:r>
          </a:p>
          <a:p>
            <a:pPr marL="171450" indent="-285750">
              <a:lnSpc>
                <a:spcPct val="110000"/>
              </a:lnSpc>
              <a:spcBef>
                <a:spcPts val="1000"/>
              </a:spcBef>
              <a:buFont typeface="Arial,Sans-Serif"/>
              <a:buChar char="•"/>
            </a:pPr>
            <a:r>
              <a:rPr lang="en-US" sz="1000">
                <a:solidFill>
                  <a:schemeClr val="bg1"/>
                </a:solidFill>
              </a:rPr>
              <a:t>It is possible for competitors to imitate our model if the university allows it.</a:t>
            </a:r>
          </a:p>
          <a:p>
            <a:pPr algn="l"/>
            <a:endParaRPr lang="en-US"/>
          </a:p>
        </p:txBody>
      </p:sp>
      <p:sp>
        <p:nvSpPr>
          <p:cNvPr id="9" name="TextBox 8">
            <a:extLst>
              <a:ext uri="{FF2B5EF4-FFF2-40B4-BE49-F238E27FC236}">
                <a16:creationId xmlns:a16="http://schemas.microsoft.com/office/drawing/2014/main" id="{08E78C13-89C3-DEB5-491D-AEA6901BA5C5}"/>
              </a:ext>
            </a:extLst>
          </p:cNvPr>
          <p:cNvSpPr txBox="1"/>
          <p:nvPr/>
        </p:nvSpPr>
        <p:spPr>
          <a:xfrm>
            <a:off x="239484" y="5021942"/>
            <a:ext cx="4753429" cy="20672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10000"/>
              </a:lnSpc>
              <a:spcBef>
                <a:spcPts val="1000"/>
              </a:spcBef>
            </a:pPr>
            <a:r>
              <a:rPr lang="en-US" sz="1000" b="1">
                <a:solidFill>
                  <a:schemeClr val="bg1"/>
                </a:solidFill>
              </a:rPr>
              <a:t>Key takeaways:</a:t>
            </a:r>
            <a:endParaRPr lang="en-US" sz="1000">
              <a:solidFill>
                <a:schemeClr val="bg1"/>
              </a:solidFill>
            </a:endParaRPr>
          </a:p>
          <a:p>
            <a:pPr marL="171450" indent="-285750">
              <a:lnSpc>
                <a:spcPct val="110000"/>
              </a:lnSpc>
              <a:spcBef>
                <a:spcPts val="1000"/>
              </a:spcBef>
              <a:buFont typeface="Arial,Sans-Serif"/>
              <a:buChar char="•"/>
            </a:pPr>
            <a:r>
              <a:rPr lang="en-US" sz="1000">
                <a:solidFill>
                  <a:schemeClr val="bg1"/>
                </a:solidFill>
              </a:rPr>
              <a:t>No competitor currently accepts meal swipes, giving Scarlet delivery a strategic opening.</a:t>
            </a:r>
          </a:p>
          <a:p>
            <a:pPr marL="171450" indent="-285750">
              <a:lnSpc>
                <a:spcPct val="110000"/>
              </a:lnSpc>
              <a:spcBef>
                <a:spcPts val="1000"/>
              </a:spcBef>
              <a:buFont typeface="Arial,Sans-Serif"/>
              <a:buChar char="•"/>
            </a:pPr>
            <a:r>
              <a:rPr lang="en-US" sz="1000">
                <a:solidFill>
                  <a:schemeClr val="bg1"/>
                </a:solidFill>
              </a:rPr>
              <a:t>Convenience + cost savings are core differentiators.</a:t>
            </a:r>
          </a:p>
          <a:p>
            <a:pPr marL="171450" indent="-285750">
              <a:lnSpc>
                <a:spcPct val="110000"/>
              </a:lnSpc>
              <a:spcBef>
                <a:spcPts val="1000"/>
              </a:spcBef>
              <a:buFont typeface="Arial,Sans-Serif"/>
              <a:buChar char="•"/>
            </a:pPr>
            <a:r>
              <a:rPr lang="en-US" sz="1000">
                <a:solidFill>
                  <a:schemeClr val="bg1"/>
                </a:solidFill>
              </a:rPr>
              <a:t>Competitors struggle with high fees, slow delivery on campus, and no campus integration.</a:t>
            </a:r>
          </a:p>
          <a:p>
            <a:pPr marL="171450" indent="-285750">
              <a:lnSpc>
                <a:spcPct val="110000"/>
              </a:lnSpc>
              <a:spcBef>
                <a:spcPts val="1000"/>
              </a:spcBef>
              <a:buFont typeface="Arial,Sans-Serif"/>
              <a:buChar char="•"/>
            </a:pPr>
            <a:r>
              <a:rPr lang="en-US" sz="1000">
                <a:solidFill>
                  <a:schemeClr val="bg1"/>
                </a:solidFill>
              </a:rPr>
              <a:t>Scarlet delivery would be the only service built for Rutgers student needs.</a:t>
            </a:r>
          </a:p>
          <a:p>
            <a:pPr algn="l"/>
            <a:endParaRPr lang="en-US"/>
          </a:p>
        </p:txBody>
      </p:sp>
      <p:sp>
        <p:nvSpPr>
          <p:cNvPr id="12" name="Slide Number Placeholder 11">
            <a:extLst>
              <a:ext uri="{FF2B5EF4-FFF2-40B4-BE49-F238E27FC236}">
                <a16:creationId xmlns:a16="http://schemas.microsoft.com/office/drawing/2014/main" id="{9664E622-4365-762C-E103-33FABC575DA8}"/>
              </a:ext>
            </a:extLst>
          </p:cNvPr>
          <p:cNvSpPr>
            <a:spLocks noGrp="1"/>
          </p:cNvSpPr>
          <p:nvPr>
            <p:ph type="sldNum" sz="quarter" idx="12"/>
          </p:nvPr>
        </p:nvSpPr>
        <p:spPr/>
        <p:txBody>
          <a:bodyPr/>
          <a:lstStyle/>
          <a:p>
            <a:fld id="{441E4A3E-16F6-FF44-B4DD-5D27CCED9977}" type="slidenum">
              <a:rPr lang="en-US" dirty="0" smtClean="0">
                <a:solidFill>
                  <a:schemeClr val="bg1"/>
                </a:solidFill>
              </a:rPr>
              <a:t>8</a:t>
            </a:fld>
            <a:endParaRPr lang="en-US">
              <a:solidFill>
                <a:schemeClr val="bg1"/>
              </a:solidFill>
            </a:endParaRPr>
          </a:p>
        </p:txBody>
      </p:sp>
    </p:spTree>
    <p:extLst>
      <p:ext uri="{BB962C8B-B14F-4D97-AF65-F5344CB8AC3E}">
        <p14:creationId xmlns:p14="http://schemas.microsoft.com/office/powerpoint/2010/main" val="2242732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51000">
              <a:srgbClr val="C00000"/>
            </a:gs>
            <a:gs pos="100000">
              <a:schemeClr val="tx1"/>
            </a:gs>
          </a:gsLst>
          <a:path path="circle">
            <a:fillToRect l="100000" t="100000"/>
          </a:path>
        </a:gradFill>
        <a:effectLst/>
      </p:bgPr>
    </p:bg>
    <p:spTree>
      <p:nvGrpSpPr>
        <p:cNvPr id="1" name="">
          <a:extLst>
            <a:ext uri="{FF2B5EF4-FFF2-40B4-BE49-F238E27FC236}">
              <a16:creationId xmlns:a16="http://schemas.microsoft.com/office/drawing/2014/main" id="{8F4A0A5A-ADA7-F0EE-E70D-94065EDA2A15}"/>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A2D3A552-8AC1-26D1-1D2C-A6F3C3218116}"/>
              </a:ext>
            </a:extLst>
          </p:cNvPr>
          <p:cNvSpPr txBox="1">
            <a:spLocks/>
          </p:cNvSpPr>
          <p:nvPr/>
        </p:nvSpPr>
        <p:spPr>
          <a:xfrm>
            <a:off x="545" y="1372"/>
            <a:ext cx="4641683" cy="6850404"/>
          </a:xfrm>
          <a:prstGeom prst="rect">
            <a:avLst/>
          </a:prstGeom>
          <a:solidFill>
            <a:srgbClr val="870000"/>
          </a:solidFill>
          <a:ln>
            <a:solidFill>
              <a:schemeClr val="tx1"/>
            </a:solidFill>
          </a:ln>
        </p:spPr>
        <p:txBody>
          <a:bodyPr vert="horz" lIns="91440" tIns="45720" rIns="91440" bIns="45720" rtlCol="0" anchor="t">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endParaRPr lang="en-US" sz="4400" b="1">
              <a:solidFill>
                <a:schemeClr val="bg1"/>
              </a:solidFill>
            </a:endParaRPr>
          </a:p>
          <a:p>
            <a:pPr algn="ctr"/>
            <a:r>
              <a:rPr lang="en-US" sz="4400" b="1">
                <a:solidFill>
                  <a:schemeClr val="bg1"/>
                </a:solidFill>
              </a:rPr>
              <a:t>Target Audience</a:t>
            </a:r>
          </a:p>
        </p:txBody>
      </p:sp>
      <p:sp>
        <p:nvSpPr>
          <p:cNvPr id="4" name="Text Placeholder 3">
            <a:extLst>
              <a:ext uri="{FF2B5EF4-FFF2-40B4-BE49-F238E27FC236}">
                <a16:creationId xmlns:a16="http://schemas.microsoft.com/office/drawing/2014/main" id="{1EA48BE1-D1CE-BD9E-2DAF-518F5FE92C99}"/>
              </a:ext>
            </a:extLst>
          </p:cNvPr>
          <p:cNvSpPr>
            <a:spLocks noGrp="1"/>
          </p:cNvSpPr>
          <p:nvPr>
            <p:ph type="body" sz="half" idx="2"/>
          </p:nvPr>
        </p:nvSpPr>
        <p:spPr>
          <a:xfrm>
            <a:off x="217513" y="2078802"/>
            <a:ext cx="4207040" cy="4455746"/>
          </a:xfrm>
        </p:spPr>
        <p:txBody>
          <a:bodyPr vert="horz" lIns="91440" tIns="45720" rIns="91440" bIns="45720" rtlCol="0" anchor="t">
            <a:normAutofit fontScale="85000" lnSpcReduction="20000"/>
          </a:bodyPr>
          <a:lstStyle/>
          <a:p>
            <a:pPr marL="342900" indent="-342900">
              <a:lnSpc>
                <a:spcPct val="100000"/>
              </a:lnSpc>
              <a:buChar char="•"/>
            </a:pPr>
            <a:r>
              <a:rPr lang="en-US" sz="2400" b="1">
                <a:solidFill>
                  <a:schemeClr val="bg1"/>
                </a:solidFill>
              </a:rPr>
              <a:t>Demographics: </a:t>
            </a:r>
            <a:r>
              <a:rPr lang="en-US" sz="2400">
                <a:solidFill>
                  <a:schemeClr val="bg1"/>
                </a:solidFill>
              </a:rPr>
              <a:t>Rutgers-New Brunswick  students (primarily aged 18-22) </a:t>
            </a:r>
            <a:endParaRPr lang="en-US">
              <a:solidFill>
                <a:schemeClr val="bg1"/>
              </a:solidFill>
            </a:endParaRPr>
          </a:p>
          <a:p>
            <a:pPr marL="342900" indent="-342900">
              <a:lnSpc>
                <a:spcPct val="100000"/>
              </a:lnSpc>
              <a:buFont typeface="Arial" panose="020B0604020202020204" pitchFamily="34" charset="0"/>
              <a:buChar char="•"/>
            </a:pPr>
            <a:r>
              <a:rPr lang="en-US" sz="2400" b="1">
                <a:solidFill>
                  <a:schemeClr val="bg1"/>
                </a:solidFill>
              </a:rPr>
              <a:t>Geographic: </a:t>
            </a:r>
            <a:r>
              <a:rPr lang="en-US" sz="2400">
                <a:solidFill>
                  <a:schemeClr val="bg1"/>
                </a:solidFill>
              </a:rPr>
              <a:t>Primarily students who live in on-campus housing or nearby off-campus student residences </a:t>
            </a:r>
            <a:endParaRPr lang="en-US">
              <a:solidFill>
                <a:schemeClr val="bg1"/>
              </a:solidFill>
            </a:endParaRPr>
          </a:p>
          <a:p>
            <a:pPr marL="342900" indent="-342900">
              <a:lnSpc>
                <a:spcPct val="100000"/>
              </a:lnSpc>
              <a:buFont typeface="Arial" panose="020B0604020202020204" pitchFamily="34" charset="0"/>
              <a:buChar char="•"/>
            </a:pPr>
            <a:r>
              <a:rPr lang="en-US" sz="2400" b="1">
                <a:solidFill>
                  <a:schemeClr val="bg1"/>
                </a:solidFill>
              </a:rPr>
              <a:t>Psychographic: </a:t>
            </a:r>
            <a:r>
              <a:rPr lang="en-US" sz="2400">
                <a:solidFill>
                  <a:schemeClr val="bg1"/>
                </a:solidFill>
              </a:rPr>
              <a:t>Busy lifestyle, prioritize Convenience, tech-savvy, budget-aware, doesn't have a car on campus </a:t>
            </a:r>
            <a:endParaRPr lang="en-US">
              <a:solidFill>
                <a:schemeClr val="bg1"/>
              </a:solidFill>
            </a:endParaRPr>
          </a:p>
          <a:p>
            <a:pPr marL="342900" indent="-342900">
              <a:lnSpc>
                <a:spcPct val="100000"/>
              </a:lnSpc>
              <a:buFont typeface="Arial" panose="020B0604020202020204" pitchFamily="34" charset="0"/>
              <a:buChar char="•"/>
            </a:pPr>
            <a:r>
              <a:rPr lang="en-US" sz="2400" b="1">
                <a:solidFill>
                  <a:schemeClr val="bg1"/>
                </a:solidFill>
              </a:rPr>
              <a:t>Behavioral: </a:t>
            </a:r>
            <a:r>
              <a:rPr lang="en-US" sz="2400">
                <a:solidFill>
                  <a:schemeClr val="bg1"/>
                </a:solidFill>
              </a:rPr>
              <a:t>Has a campus meal plan and opts for meal-swipe eligible locations, orders food multiple times a week especially during midterm and finals season</a:t>
            </a:r>
            <a:endParaRPr lang="en-US" sz="2400">
              <a:solidFill>
                <a:schemeClr val="bg1"/>
              </a:solidFill>
              <a:effectLst/>
            </a:endParaRPr>
          </a:p>
          <a:p>
            <a:pPr marL="342900" indent="-342900">
              <a:lnSpc>
                <a:spcPct val="100000"/>
              </a:lnSpc>
              <a:buFont typeface="Arial" panose="020B0604020202020204" pitchFamily="34" charset="0"/>
              <a:buChar char="•"/>
            </a:pPr>
            <a:endParaRPr lang="en-US" sz="2400" b="1">
              <a:solidFill>
                <a:srgbClr val="FF0000"/>
              </a:solidFill>
            </a:endParaRPr>
          </a:p>
        </p:txBody>
      </p:sp>
      <p:pic>
        <p:nvPicPr>
          <p:cNvPr id="3" name="Picture 2" descr="A group of people with text&#10;&#10;AI-generated content may be incorrect.">
            <a:extLst>
              <a:ext uri="{FF2B5EF4-FFF2-40B4-BE49-F238E27FC236}">
                <a16:creationId xmlns:a16="http://schemas.microsoft.com/office/drawing/2014/main" id="{31F48601-7AE6-B84F-1B8B-B032C452BD14}"/>
              </a:ext>
            </a:extLst>
          </p:cNvPr>
          <p:cNvPicPr>
            <a:picLocks noChangeAspect="1"/>
          </p:cNvPicPr>
          <p:nvPr/>
        </p:nvPicPr>
        <p:blipFill>
          <a:blip r:embed="rId3"/>
          <a:stretch>
            <a:fillRect/>
          </a:stretch>
        </p:blipFill>
        <p:spPr>
          <a:xfrm>
            <a:off x="4923904" y="183218"/>
            <a:ext cx="7014164" cy="6174867"/>
          </a:xfrm>
          <a:prstGeom prst="rect">
            <a:avLst/>
          </a:prstGeom>
        </p:spPr>
      </p:pic>
      <p:sp>
        <p:nvSpPr>
          <p:cNvPr id="2" name="Slide Number Placeholder 1">
            <a:extLst>
              <a:ext uri="{FF2B5EF4-FFF2-40B4-BE49-F238E27FC236}">
                <a16:creationId xmlns:a16="http://schemas.microsoft.com/office/drawing/2014/main" id="{0C76B19A-2843-9453-28DA-A5CE7A3BE96B}"/>
              </a:ext>
            </a:extLst>
          </p:cNvPr>
          <p:cNvSpPr>
            <a:spLocks noGrp="1"/>
          </p:cNvSpPr>
          <p:nvPr>
            <p:ph type="sldNum" sz="quarter" idx="12"/>
          </p:nvPr>
        </p:nvSpPr>
        <p:spPr/>
        <p:txBody>
          <a:bodyPr/>
          <a:lstStyle/>
          <a:p>
            <a:fld id="{441E4A3E-16F6-FF44-B4DD-5D27CCED9977}" type="slidenum">
              <a:rPr lang="en-US" dirty="0" smtClean="0">
                <a:solidFill>
                  <a:schemeClr val="bg1"/>
                </a:solidFill>
              </a:rPr>
              <a:t>9</a:t>
            </a:fld>
            <a:endParaRPr lang="en-US">
              <a:solidFill>
                <a:schemeClr val="bg1"/>
              </a:solidFill>
            </a:endParaRPr>
          </a:p>
        </p:txBody>
      </p:sp>
    </p:spTree>
    <p:extLst>
      <p:ext uri="{BB962C8B-B14F-4D97-AF65-F5344CB8AC3E}">
        <p14:creationId xmlns:p14="http://schemas.microsoft.com/office/powerpoint/2010/main" val="83581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87000">
              <a:srgbClr val="C00000"/>
            </a:gs>
            <a:gs pos="2000">
              <a:schemeClr val="tx1"/>
            </a:gs>
          </a:gsLst>
          <a:path path="circle">
            <a:fillToRect l="100000" t="100000"/>
          </a:path>
        </a:gradFill>
        <a:effectLst/>
      </p:bgPr>
    </p:bg>
    <p:spTree>
      <p:nvGrpSpPr>
        <p:cNvPr id="1" name="">
          <a:extLst>
            <a:ext uri="{FF2B5EF4-FFF2-40B4-BE49-F238E27FC236}">
              <a16:creationId xmlns:a16="http://schemas.microsoft.com/office/drawing/2014/main" id="{9EB2DC37-3EE3-396C-0686-E6FE52027AB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26FD7FC-206D-9997-E7D8-1AAD31D81D82}"/>
              </a:ext>
            </a:extLst>
          </p:cNvPr>
          <p:cNvSpPr/>
          <p:nvPr/>
        </p:nvSpPr>
        <p:spPr>
          <a:xfrm>
            <a:off x="0" y="1288"/>
            <a:ext cx="3922058" cy="6841305"/>
          </a:xfrm>
          <a:prstGeom prst="rect">
            <a:avLst/>
          </a:prstGeom>
          <a:solidFill>
            <a:srgbClr val="74001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40A5F050-81D5-1923-90E1-E20445950CC4}"/>
              </a:ext>
            </a:extLst>
          </p:cNvPr>
          <p:cNvSpPr txBox="1">
            <a:spLocks/>
          </p:cNvSpPr>
          <p:nvPr/>
        </p:nvSpPr>
        <p:spPr>
          <a:xfrm>
            <a:off x="437285" y="2415958"/>
            <a:ext cx="3043729" cy="200616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r>
              <a:rPr lang="en-US" sz="4400" b="1">
                <a:solidFill>
                  <a:schemeClr val="bg1"/>
                </a:solidFill>
              </a:rPr>
              <a:t>Marketing Goals and Objectives</a:t>
            </a:r>
            <a:endParaRPr lang="en-US"/>
          </a:p>
        </p:txBody>
      </p:sp>
      <p:sp>
        <p:nvSpPr>
          <p:cNvPr id="5" name="Text Placeholder 4">
            <a:extLst>
              <a:ext uri="{FF2B5EF4-FFF2-40B4-BE49-F238E27FC236}">
                <a16:creationId xmlns:a16="http://schemas.microsoft.com/office/drawing/2014/main" id="{3DDBAC2D-5511-1F4B-FED8-7B326D34E39E}"/>
              </a:ext>
            </a:extLst>
          </p:cNvPr>
          <p:cNvSpPr>
            <a:spLocks noGrp="1"/>
          </p:cNvSpPr>
          <p:nvPr>
            <p:ph type="body" sz="half" idx="2"/>
          </p:nvPr>
        </p:nvSpPr>
        <p:spPr>
          <a:xfrm>
            <a:off x="4314078" y="511456"/>
            <a:ext cx="7040001" cy="5813705"/>
          </a:xfrm>
        </p:spPr>
        <p:txBody>
          <a:bodyPr vert="horz" lIns="91440" tIns="45720" rIns="91440" bIns="45720" rtlCol="0" anchor="t">
            <a:normAutofit fontScale="92500"/>
          </a:bodyPr>
          <a:lstStyle/>
          <a:p>
            <a:pPr marL="457200" indent="-457200">
              <a:lnSpc>
                <a:spcPct val="100000"/>
              </a:lnSpc>
              <a:spcBef>
                <a:spcPts val="0"/>
              </a:spcBef>
              <a:buFont typeface="Arial,Sans-Serif"/>
              <a:buChar char="•"/>
            </a:pPr>
            <a:r>
              <a:rPr lang="en-US" sz="3000">
                <a:solidFill>
                  <a:schemeClr val="bg1"/>
                </a:solidFill>
              </a:rPr>
              <a:t>Achieve 15% brand recognition with the first year of operation, and 40% brand recognition within the first three years</a:t>
            </a:r>
          </a:p>
          <a:p>
            <a:pPr marL="457200" indent="-457200">
              <a:lnSpc>
                <a:spcPct val="100000"/>
              </a:lnSpc>
              <a:spcBef>
                <a:spcPts val="0"/>
              </a:spcBef>
              <a:buFont typeface="Arial,Sans-Serif"/>
              <a:buChar char="•"/>
            </a:pPr>
            <a:endParaRPr lang="en-US" sz="3000">
              <a:solidFill>
                <a:schemeClr val="bg1"/>
              </a:solidFill>
            </a:endParaRPr>
          </a:p>
          <a:p>
            <a:pPr marL="457200" indent="-457200">
              <a:lnSpc>
                <a:spcPct val="100000"/>
              </a:lnSpc>
              <a:spcBef>
                <a:spcPts val="0"/>
              </a:spcBef>
              <a:buFont typeface="Arial,Sans-Serif"/>
              <a:buChar char="•"/>
            </a:pPr>
            <a:r>
              <a:rPr lang="en-US" sz="3000">
                <a:solidFill>
                  <a:schemeClr val="bg1"/>
                </a:solidFill>
              </a:rPr>
              <a:t>Achieve 15% market share within the first two years</a:t>
            </a:r>
          </a:p>
          <a:p>
            <a:pPr marL="457200" indent="-457200">
              <a:lnSpc>
                <a:spcPct val="100000"/>
              </a:lnSpc>
              <a:spcBef>
                <a:spcPts val="0"/>
              </a:spcBef>
              <a:buFont typeface="Arial,Sans-Serif"/>
              <a:buChar char="•"/>
            </a:pPr>
            <a:endParaRPr lang="en-US" sz="3000">
              <a:solidFill>
                <a:schemeClr val="bg1"/>
              </a:solidFill>
            </a:endParaRPr>
          </a:p>
          <a:p>
            <a:pPr marL="457200" indent="-457200">
              <a:lnSpc>
                <a:spcPct val="100000"/>
              </a:lnSpc>
              <a:spcBef>
                <a:spcPts val="0"/>
              </a:spcBef>
              <a:buFont typeface="Arial,Sans-Serif"/>
              <a:buChar char="•"/>
            </a:pPr>
            <a:r>
              <a:rPr lang="en-US" sz="3000">
                <a:solidFill>
                  <a:schemeClr val="bg1"/>
                </a:solidFill>
              </a:rPr>
              <a:t>$175,000 annual sales revenue by the second year of operation</a:t>
            </a:r>
          </a:p>
          <a:p>
            <a:pPr marL="457200" indent="-457200">
              <a:lnSpc>
                <a:spcPct val="100000"/>
              </a:lnSpc>
              <a:spcBef>
                <a:spcPts val="0"/>
              </a:spcBef>
              <a:buFont typeface="Arial,Sans-Serif"/>
              <a:buChar char="•"/>
            </a:pPr>
            <a:endParaRPr lang="en-US" sz="3000">
              <a:solidFill>
                <a:schemeClr val="bg1"/>
              </a:solidFill>
            </a:endParaRPr>
          </a:p>
          <a:p>
            <a:pPr marL="457200" indent="-457200">
              <a:lnSpc>
                <a:spcPct val="100000"/>
              </a:lnSpc>
              <a:spcBef>
                <a:spcPts val="0"/>
              </a:spcBef>
              <a:buFont typeface="Arial,Sans-Serif"/>
              <a:buChar char="•"/>
            </a:pPr>
            <a:r>
              <a:rPr lang="en-US" sz="3000">
                <a:solidFill>
                  <a:schemeClr val="bg1"/>
                </a:solidFill>
              </a:rPr>
              <a:t>Increase our monthly sales revenue by 10% each semester for the first two years</a:t>
            </a:r>
          </a:p>
          <a:p>
            <a:endParaRPr lang="en-US">
              <a:solidFill>
                <a:schemeClr val="bg1"/>
              </a:solidFill>
            </a:endParaRPr>
          </a:p>
        </p:txBody>
      </p:sp>
      <p:sp>
        <p:nvSpPr>
          <p:cNvPr id="2" name="Slide Number Placeholder 1">
            <a:extLst>
              <a:ext uri="{FF2B5EF4-FFF2-40B4-BE49-F238E27FC236}">
                <a16:creationId xmlns:a16="http://schemas.microsoft.com/office/drawing/2014/main" id="{51E2B383-3B5C-07B8-63B0-447A7865E0EA}"/>
              </a:ext>
            </a:extLst>
          </p:cNvPr>
          <p:cNvSpPr>
            <a:spLocks noGrp="1"/>
          </p:cNvSpPr>
          <p:nvPr>
            <p:ph type="sldNum" sz="quarter" idx="12"/>
          </p:nvPr>
        </p:nvSpPr>
        <p:spPr/>
        <p:txBody>
          <a:bodyPr/>
          <a:lstStyle/>
          <a:p>
            <a:fld id="{441E4A3E-16F6-FF44-B4DD-5D27CCED9977}" type="slidenum">
              <a:rPr lang="en-US" dirty="0" smtClean="0">
                <a:solidFill>
                  <a:schemeClr val="bg1"/>
                </a:solidFill>
              </a:rPr>
              <a:t>10</a:t>
            </a:fld>
            <a:endParaRPr lang="en-US">
              <a:solidFill>
                <a:schemeClr val="bg1"/>
              </a:solidFill>
            </a:endParaRPr>
          </a:p>
        </p:txBody>
      </p:sp>
    </p:spTree>
    <p:extLst>
      <p:ext uri="{BB962C8B-B14F-4D97-AF65-F5344CB8AC3E}">
        <p14:creationId xmlns:p14="http://schemas.microsoft.com/office/powerpoint/2010/main" val="4276957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87000">
              <a:srgbClr val="C00000"/>
            </a:gs>
            <a:gs pos="2000">
              <a:schemeClr val="tx1"/>
            </a:gs>
          </a:gsLst>
          <a:path path="circle">
            <a:fillToRect l="100000" t="100000"/>
          </a:path>
        </a:gradFill>
        <a:effectLst/>
      </p:bgPr>
    </p:bg>
    <p:spTree>
      <p:nvGrpSpPr>
        <p:cNvPr id="1" name="">
          <a:extLst>
            <a:ext uri="{FF2B5EF4-FFF2-40B4-BE49-F238E27FC236}">
              <a16:creationId xmlns:a16="http://schemas.microsoft.com/office/drawing/2014/main" id="{3B49C509-B5FB-9F23-DD09-A1378F2743B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2B55673-F257-925D-7488-85FA4E508A08}"/>
              </a:ext>
            </a:extLst>
          </p:cNvPr>
          <p:cNvSpPr/>
          <p:nvPr/>
        </p:nvSpPr>
        <p:spPr>
          <a:xfrm>
            <a:off x="0" y="8758"/>
            <a:ext cx="12191999" cy="797601"/>
          </a:xfrm>
          <a:prstGeom prst="rect">
            <a:avLst/>
          </a:prstGeom>
          <a:solidFill>
            <a:srgbClr val="74001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6FB4EE42-5A24-1266-7D45-60B0CECD8259}"/>
              </a:ext>
            </a:extLst>
          </p:cNvPr>
          <p:cNvSpPr txBox="1">
            <a:spLocks/>
          </p:cNvSpPr>
          <p:nvPr/>
        </p:nvSpPr>
        <p:spPr>
          <a:xfrm>
            <a:off x="-683302" y="-258513"/>
            <a:ext cx="12292315" cy="106487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r>
              <a:rPr lang="en-US" sz="4400" b="1">
                <a:solidFill>
                  <a:schemeClr val="bg1"/>
                </a:solidFill>
              </a:rPr>
              <a:t>Marketing Strategy (Mix) - </a:t>
            </a:r>
            <a:r>
              <a:rPr lang="en-US" sz="4400" b="1">
                <a:solidFill>
                  <a:srgbClr val="FFFF00"/>
                </a:solidFill>
              </a:rPr>
              <a:t>PRODUCT</a:t>
            </a:r>
          </a:p>
        </p:txBody>
      </p:sp>
      <p:sp>
        <p:nvSpPr>
          <p:cNvPr id="4" name="Text Placeholder 3">
            <a:extLst>
              <a:ext uri="{FF2B5EF4-FFF2-40B4-BE49-F238E27FC236}">
                <a16:creationId xmlns:a16="http://schemas.microsoft.com/office/drawing/2014/main" id="{FF2BE63B-B7E2-176C-2191-53CC2967E697}"/>
              </a:ext>
            </a:extLst>
          </p:cNvPr>
          <p:cNvSpPr>
            <a:spLocks noGrp="1"/>
          </p:cNvSpPr>
          <p:nvPr>
            <p:ph type="body" sz="half" idx="2"/>
          </p:nvPr>
        </p:nvSpPr>
        <p:spPr>
          <a:xfrm>
            <a:off x="1" y="1082281"/>
            <a:ext cx="12191999" cy="6447552"/>
          </a:xfrm>
        </p:spPr>
        <p:txBody>
          <a:bodyPr vert="horz" lIns="91440" tIns="45720" rIns="91440" bIns="45720" rtlCol="0" anchor="t">
            <a:noAutofit/>
          </a:bodyPr>
          <a:lstStyle/>
          <a:p>
            <a:pPr marL="342900" indent="-342900">
              <a:lnSpc>
                <a:spcPct val="100000"/>
              </a:lnSpc>
              <a:buFont typeface="Arial" panose="020B0604020202020204" pitchFamily="34" charset="0"/>
              <a:buChar char="•"/>
            </a:pPr>
            <a:r>
              <a:rPr lang="en-US" sz="1800" b="1">
                <a:solidFill>
                  <a:schemeClr val="bg1"/>
                </a:solidFill>
              </a:rPr>
              <a:t>Value Proposition: </a:t>
            </a:r>
            <a:r>
              <a:rPr lang="en-US" sz="1800">
                <a:solidFill>
                  <a:schemeClr val="bg1"/>
                </a:solidFill>
              </a:rPr>
              <a:t>Scarlet Delivery allows students to use their prepaid meal plans for delivery, avoiding extra spending while preventing wasted swipes. Students use a meal swipe, add a 20% tip, and a small distance fee while campus-affiliated couriers ensure fast, reliable delivery while also creating flexible on-campus job opportunities.</a:t>
            </a:r>
            <a:endParaRPr lang="en-US" sz="1800">
              <a:solidFill>
                <a:schemeClr val="bg1"/>
              </a:solidFill>
              <a:effectLst/>
            </a:endParaRPr>
          </a:p>
          <a:p>
            <a:pPr marL="342900" indent="-342900">
              <a:lnSpc>
                <a:spcPct val="100000"/>
              </a:lnSpc>
              <a:buFont typeface="Arial" panose="020B0604020202020204" pitchFamily="34" charset="0"/>
              <a:buChar char="•"/>
            </a:pPr>
            <a:r>
              <a:rPr lang="en-US" sz="1800" b="1">
                <a:solidFill>
                  <a:schemeClr val="bg1"/>
                </a:solidFill>
              </a:rPr>
              <a:t>USP: </a:t>
            </a:r>
            <a:r>
              <a:rPr lang="en-US" sz="1800">
                <a:solidFill>
                  <a:schemeClr val="bg1"/>
                </a:solidFill>
              </a:rPr>
              <a:t>Students can use their university meal plan to pay for delivered meals, something that no other major delivery platform offers.</a:t>
            </a:r>
          </a:p>
          <a:p>
            <a:pPr marL="342900" indent="-342900">
              <a:lnSpc>
                <a:spcPct val="100000"/>
              </a:lnSpc>
              <a:buFont typeface="Arial" panose="020B0604020202020204" pitchFamily="34" charset="0"/>
              <a:buChar char="•"/>
            </a:pPr>
            <a:r>
              <a:rPr lang="en-US" sz="1800" b="1">
                <a:solidFill>
                  <a:schemeClr val="bg1"/>
                </a:solidFill>
                <a:effectLst/>
              </a:rPr>
              <a:t>How do we differ?</a:t>
            </a:r>
          </a:p>
          <a:p>
            <a:pPr marL="800100" lvl="1" indent="-342900">
              <a:lnSpc>
                <a:spcPct val="100000"/>
              </a:lnSpc>
              <a:buFont typeface="Arial" panose="020B0604020202020204" pitchFamily="34" charset="0"/>
              <a:buChar char="•"/>
            </a:pPr>
            <a:r>
              <a:rPr lang="en-US" sz="1600">
                <a:solidFill>
                  <a:schemeClr val="bg1"/>
                </a:solidFill>
              </a:rPr>
              <a:t>Payment with meal swipes</a:t>
            </a:r>
          </a:p>
          <a:p>
            <a:pPr marL="800100" lvl="1" indent="-342900">
              <a:lnSpc>
                <a:spcPct val="100000"/>
              </a:lnSpc>
              <a:buFont typeface="Arial" panose="020B0604020202020204" pitchFamily="34" charset="0"/>
              <a:buChar char="•"/>
            </a:pPr>
            <a:r>
              <a:rPr lang="en-US" sz="1600">
                <a:solidFill>
                  <a:schemeClr val="bg1"/>
                </a:solidFill>
                <a:effectLst/>
              </a:rPr>
              <a:t>Cheaper!</a:t>
            </a:r>
          </a:p>
          <a:p>
            <a:pPr marL="800100" lvl="1" indent="-342900">
              <a:lnSpc>
                <a:spcPct val="100000"/>
              </a:lnSpc>
              <a:buFont typeface="Arial" panose="020B0604020202020204" pitchFamily="34" charset="0"/>
              <a:buChar char="•"/>
            </a:pPr>
            <a:r>
              <a:rPr lang="en-US" sz="1600">
                <a:solidFill>
                  <a:schemeClr val="bg1"/>
                </a:solidFill>
              </a:rPr>
              <a:t>Campus-focused: quicker delivery times and easier drop off to college dorms, apartments, and off-campus housing. </a:t>
            </a:r>
            <a:endParaRPr lang="en-US" sz="1600">
              <a:solidFill>
                <a:schemeClr val="bg1"/>
              </a:solidFill>
              <a:effectLst/>
            </a:endParaRPr>
          </a:p>
          <a:p>
            <a:pPr marL="342900" indent="-342900">
              <a:lnSpc>
                <a:spcPct val="100000"/>
              </a:lnSpc>
              <a:buFont typeface="Arial" panose="020B0604020202020204" pitchFamily="34" charset="0"/>
              <a:buChar char="•"/>
            </a:pPr>
            <a:r>
              <a:rPr lang="en-US" sz="1800" b="1">
                <a:solidFill>
                  <a:schemeClr val="bg1"/>
                </a:solidFill>
              </a:rPr>
              <a:t>Customer experience:</a:t>
            </a:r>
          </a:p>
          <a:p>
            <a:pPr marL="800100" lvl="1" indent="-342900">
              <a:lnSpc>
                <a:spcPct val="100000"/>
              </a:lnSpc>
              <a:buFont typeface="Arial" panose="020B0604020202020204" pitchFamily="34" charset="0"/>
              <a:buChar char="•"/>
            </a:pPr>
            <a:r>
              <a:rPr lang="en-US" sz="1600">
                <a:solidFill>
                  <a:schemeClr val="bg1"/>
                </a:solidFill>
              </a:rPr>
              <a:t>Seamless and convenient: As easy to use as the competitors</a:t>
            </a:r>
          </a:p>
          <a:p>
            <a:pPr marL="800100" lvl="1" indent="-342900">
              <a:lnSpc>
                <a:spcPct val="100000"/>
              </a:lnSpc>
              <a:buFont typeface="Arial" panose="020B0604020202020204" pitchFamily="34" charset="0"/>
              <a:buChar char="•"/>
            </a:pPr>
            <a:r>
              <a:rPr lang="en-US" sz="1600">
                <a:solidFill>
                  <a:schemeClr val="bg1"/>
                </a:solidFill>
              </a:rPr>
              <a:t>Reliable and safe: University-vetted staff only</a:t>
            </a:r>
          </a:p>
          <a:p>
            <a:pPr marL="800100" lvl="1" indent="-342900">
              <a:lnSpc>
                <a:spcPct val="100000"/>
              </a:lnSpc>
              <a:buFont typeface="Arial" panose="020B0604020202020204" pitchFamily="34" charset="0"/>
              <a:buChar char="•"/>
            </a:pPr>
            <a:r>
              <a:rPr lang="en-US" sz="1600">
                <a:solidFill>
                  <a:schemeClr val="bg1"/>
                </a:solidFill>
              </a:rPr>
              <a:t>Low cost: Students can use meal swipes that would other wise be wasted. </a:t>
            </a:r>
            <a:endParaRPr lang="en-US" sz="1800" b="1">
              <a:solidFill>
                <a:schemeClr val="bg1"/>
              </a:solidFill>
            </a:endParaRPr>
          </a:p>
          <a:p>
            <a:pPr marL="342900" indent="-342900">
              <a:lnSpc>
                <a:spcPct val="100000"/>
              </a:lnSpc>
              <a:buFont typeface="Arial" panose="020B0604020202020204" pitchFamily="34" charset="0"/>
              <a:buChar char="•"/>
            </a:pPr>
            <a:r>
              <a:rPr lang="en-US" sz="1800" b="1">
                <a:solidFill>
                  <a:schemeClr val="bg1"/>
                </a:solidFill>
              </a:rPr>
              <a:t>Aspects to draw customers and sustain loyalty:</a:t>
            </a:r>
          </a:p>
          <a:p>
            <a:pPr marL="800100" lvl="1" indent="-342900">
              <a:lnSpc>
                <a:spcPct val="100000"/>
              </a:lnSpc>
              <a:buFont typeface="Arial" panose="020B0604020202020204" pitchFamily="34" charset="0"/>
              <a:buChar char="•"/>
            </a:pPr>
            <a:r>
              <a:rPr lang="en-US" sz="1600">
                <a:solidFill>
                  <a:schemeClr val="bg1"/>
                </a:solidFill>
              </a:rPr>
              <a:t>Campus branded (extensions of Rutgers), consistently affordable, and loyalty incentives.</a:t>
            </a:r>
          </a:p>
        </p:txBody>
      </p:sp>
      <p:sp>
        <p:nvSpPr>
          <p:cNvPr id="2" name="Slide Number Placeholder 1">
            <a:extLst>
              <a:ext uri="{FF2B5EF4-FFF2-40B4-BE49-F238E27FC236}">
                <a16:creationId xmlns:a16="http://schemas.microsoft.com/office/drawing/2014/main" id="{6ED80002-4576-712E-E5FE-5774F98DAD8E}"/>
              </a:ext>
            </a:extLst>
          </p:cNvPr>
          <p:cNvSpPr>
            <a:spLocks noGrp="1"/>
          </p:cNvSpPr>
          <p:nvPr>
            <p:ph type="sldNum" sz="quarter" idx="12"/>
          </p:nvPr>
        </p:nvSpPr>
        <p:spPr/>
        <p:txBody>
          <a:bodyPr/>
          <a:lstStyle/>
          <a:p>
            <a:fld id="{441E4A3E-16F6-FF44-B4DD-5D27CCED9977}" type="slidenum">
              <a:rPr lang="en-US" dirty="0" smtClean="0">
                <a:solidFill>
                  <a:schemeClr val="bg1"/>
                </a:solidFill>
              </a:rPr>
              <a:t>11</a:t>
            </a:fld>
            <a:endParaRPr lang="en-US">
              <a:solidFill>
                <a:schemeClr val="bg1"/>
              </a:solidFill>
            </a:endParaRPr>
          </a:p>
        </p:txBody>
      </p:sp>
    </p:spTree>
    <p:extLst>
      <p:ext uri="{BB962C8B-B14F-4D97-AF65-F5344CB8AC3E}">
        <p14:creationId xmlns:p14="http://schemas.microsoft.com/office/powerpoint/2010/main" val="2351991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16000">
              <a:srgbClr val="C00000"/>
            </a:gs>
            <a:gs pos="98000">
              <a:schemeClr val="tx1"/>
            </a:gs>
          </a:gsLst>
          <a:path path="circle">
            <a:fillToRect l="100000" t="100000"/>
          </a:path>
        </a:gradFill>
        <a:effectLst/>
      </p:bgPr>
    </p:bg>
    <p:spTree>
      <p:nvGrpSpPr>
        <p:cNvPr id="1" name="">
          <a:extLst>
            <a:ext uri="{FF2B5EF4-FFF2-40B4-BE49-F238E27FC236}">
              <a16:creationId xmlns:a16="http://schemas.microsoft.com/office/drawing/2014/main" id="{490237EE-5649-5B50-D497-50848EF67A35}"/>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3CB993A8-0C17-D75E-6F52-D4D37924CCE4}"/>
              </a:ext>
            </a:extLst>
          </p:cNvPr>
          <p:cNvSpPr/>
          <p:nvPr/>
        </p:nvSpPr>
        <p:spPr>
          <a:xfrm>
            <a:off x="8096250" y="1581150"/>
            <a:ext cx="3695700" cy="3657600"/>
          </a:xfrm>
          <a:prstGeom prst="roundRect">
            <a:avLst/>
          </a:prstGeom>
          <a:solidFill>
            <a:srgbClr val="CC00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E2693FF-8568-CE20-A70B-8A6D3A9F34BF}"/>
              </a:ext>
            </a:extLst>
          </p:cNvPr>
          <p:cNvSpPr/>
          <p:nvPr/>
        </p:nvSpPr>
        <p:spPr>
          <a:xfrm>
            <a:off x="0" y="8758"/>
            <a:ext cx="12192000" cy="1056114"/>
          </a:xfrm>
          <a:prstGeom prst="rect">
            <a:avLst/>
          </a:prstGeom>
          <a:solidFill>
            <a:srgbClr val="7400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B95FF058-41CA-7085-C92D-87C3A8771FD9}"/>
              </a:ext>
            </a:extLst>
          </p:cNvPr>
          <p:cNvSpPr txBox="1">
            <a:spLocks/>
          </p:cNvSpPr>
          <p:nvPr/>
        </p:nvSpPr>
        <p:spPr>
          <a:xfrm>
            <a:off x="-347967" y="-133029"/>
            <a:ext cx="12292315" cy="106487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r>
              <a:rPr lang="en-US" sz="4400" b="1">
                <a:solidFill>
                  <a:schemeClr val="bg1"/>
                </a:solidFill>
              </a:rPr>
              <a:t>Marketing Strategy (Mix) – </a:t>
            </a:r>
            <a:r>
              <a:rPr lang="en-US" sz="4400" b="1">
                <a:solidFill>
                  <a:srgbClr val="FFFF00"/>
                </a:solidFill>
              </a:rPr>
              <a:t>PLACE</a:t>
            </a:r>
          </a:p>
        </p:txBody>
      </p:sp>
      <p:sp>
        <p:nvSpPr>
          <p:cNvPr id="4" name="Text Placeholder 3">
            <a:extLst>
              <a:ext uri="{FF2B5EF4-FFF2-40B4-BE49-F238E27FC236}">
                <a16:creationId xmlns:a16="http://schemas.microsoft.com/office/drawing/2014/main" id="{A9DF0637-5932-DEA6-0C2C-C341B0A21BA6}"/>
              </a:ext>
            </a:extLst>
          </p:cNvPr>
          <p:cNvSpPr>
            <a:spLocks noGrp="1"/>
          </p:cNvSpPr>
          <p:nvPr>
            <p:ph type="body" sz="half" idx="2"/>
          </p:nvPr>
        </p:nvSpPr>
        <p:spPr>
          <a:xfrm>
            <a:off x="201594" y="1327303"/>
            <a:ext cx="6759614" cy="6447552"/>
          </a:xfrm>
        </p:spPr>
        <p:txBody>
          <a:bodyPr vert="horz" lIns="91440" tIns="45720" rIns="91440" bIns="45720" rtlCol="0" anchor="t">
            <a:noAutofit/>
          </a:bodyPr>
          <a:lstStyle/>
          <a:p>
            <a:pPr marL="285750" lvl="0" indent="-285750">
              <a:buFont typeface="Arial" panose="020B0604020202020204" pitchFamily="34" charset="0"/>
              <a:buChar char="•"/>
            </a:pPr>
            <a:r>
              <a:rPr lang="en-US" sz="1800">
                <a:solidFill>
                  <a:schemeClr val="bg1"/>
                </a:solidFill>
              </a:rPr>
              <a:t>Scarlet Delivery uses </a:t>
            </a:r>
            <a:r>
              <a:rPr lang="en-US" sz="1800" b="1">
                <a:solidFill>
                  <a:schemeClr val="bg1"/>
                </a:solidFill>
              </a:rPr>
              <a:t>a local, campus-focused</a:t>
            </a:r>
            <a:r>
              <a:rPr lang="en-US" sz="1800">
                <a:solidFill>
                  <a:schemeClr val="bg1"/>
                </a:solidFill>
              </a:rPr>
              <a:t> distribution strategy.</a:t>
            </a:r>
          </a:p>
          <a:p>
            <a:pPr marL="285750" indent="-285750">
              <a:buFont typeface="Arial" panose="020B0604020202020204" pitchFamily="34" charset="0"/>
              <a:buChar char="•"/>
            </a:pPr>
            <a:r>
              <a:rPr lang="en-US" sz="1800">
                <a:solidFill>
                  <a:schemeClr val="bg1"/>
                </a:solidFill>
              </a:rPr>
              <a:t>Orders are placed online, through the app, and then delivered directly to the students’ dorms, apartments, or off-campus residences. </a:t>
            </a:r>
          </a:p>
          <a:p>
            <a:pPr lvl="0"/>
            <a:endParaRPr lang="en-US" sz="1800" b="1">
              <a:solidFill>
                <a:schemeClr val="bg1"/>
              </a:solidFill>
            </a:endParaRPr>
          </a:p>
          <a:p>
            <a:pPr lvl="0"/>
            <a:r>
              <a:rPr lang="en-US" sz="1800" b="1">
                <a:solidFill>
                  <a:schemeClr val="bg1"/>
                </a:solidFill>
              </a:rPr>
              <a:t>Why this method?</a:t>
            </a:r>
          </a:p>
          <a:p>
            <a:pPr marL="285750" lvl="0" indent="-285750">
              <a:buFont typeface="Arial" panose="020B0604020202020204" pitchFamily="34" charset="0"/>
              <a:buChar char="•"/>
            </a:pPr>
            <a:r>
              <a:rPr lang="en-US" sz="1800">
                <a:solidFill>
                  <a:schemeClr val="bg1"/>
                </a:solidFill>
              </a:rPr>
              <a:t>We chose the online and campus-focused local approach because we want to:</a:t>
            </a:r>
          </a:p>
          <a:p>
            <a:pPr marL="742950" lvl="1" indent="-285750">
              <a:buFont typeface="Arial" panose="020B0604020202020204" pitchFamily="34" charset="0"/>
              <a:buChar char="•"/>
            </a:pPr>
            <a:r>
              <a:rPr lang="en-US" sz="1600">
                <a:solidFill>
                  <a:schemeClr val="bg1"/>
                </a:solidFill>
              </a:rPr>
              <a:t>Maximize convenience for students</a:t>
            </a:r>
          </a:p>
          <a:p>
            <a:pPr marL="742950" lvl="1" indent="-285750">
              <a:buFont typeface="Arial" panose="020B0604020202020204" pitchFamily="34" charset="0"/>
              <a:buChar char="•"/>
            </a:pPr>
            <a:r>
              <a:rPr lang="en-US" sz="1600">
                <a:solidFill>
                  <a:schemeClr val="bg1"/>
                </a:solidFill>
              </a:rPr>
              <a:t>Leverage the delivery persons’ knowledge of the campus</a:t>
            </a:r>
          </a:p>
          <a:p>
            <a:pPr marL="742950" lvl="1" indent="-285750">
              <a:buFont typeface="Arial" panose="020B0604020202020204" pitchFamily="34" charset="0"/>
              <a:buChar char="•"/>
            </a:pPr>
            <a:r>
              <a:rPr lang="en-US" sz="1600">
                <a:solidFill>
                  <a:schemeClr val="bg1"/>
                </a:solidFill>
              </a:rPr>
              <a:t>Integrate efficiently and seamlessly with the campus dining systems already in place.</a:t>
            </a:r>
          </a:p>
          <a:p>
            <a:pPr marL="285750" lvl="0" indent="-285750">
              <a:buFont typeface="Arial" panose="020B0604020202020204" pitchFamily="34" charset="0"/>
              <a:buChar char="•"/>
            </a:pPr>
            <a:r>
              <a:rPr lang="en-US" sz="1800">
                <a:solidFill>
                  <a:schemeClr val="bg1"/>
                </a:solidFill>
              </a:rPr>
              <a:t>Having a direct-to-consumer and app-based local model is the most efficient way to serve our Rutgers University customer base. </a:t>
            </a:r>
          </a:p>
          <a:p>
            <a:pPr marL="285750" indent="-285750">
              <a:buFont typeface="Arial" panose="020B0604020202020204" pitchFamily="34" charset="0"/>
              <a:buChar char="•"/>
            </a:pPr>
            <a:endParaRPr lang="en-US" sz="1800"/>
          </a:p>
        </p:txBody>
      </p:sp>
      <p:pic>
        <p:nvPicPr>
          <p:cNvPr id="12" name="Picture 11" descr="A white square with red text and a helmet on it&#10;&#10;AI-generated content may be incorrect.">
            <a:extLst>
              <a:ext uri="{FF2B5EF4-FFF2-40B4-BE49-F238E27FC236}">
                <a16:creationId xmlns:a16="http://schemas.microsoft.com/office/drawing/2014/main" id="{1C76594B-625A-04F8-15FC-512B2BB8C64E}"/>
              </a:ext>
            </a:extLst>
          </p:cNvPr>
          <p:cNvPicPr>
            <a:picLocks noChangeAspect="1"/>
          </p:cNvPicPr>
          <p:nvPr/>
        </p:nvPicPr>
        <p:blipFill>
          <a:blip r:embed="rId2"/>
          <a:stretch>
            <a:fillRect/>
          </a:stretch>
        </p:blipFill>
        <p:spPr>
          <a:xfrm>
            <a:off x="7446943" y="912793"/>
            <a:ext cx="4994313" cy="4994313"/>
          </a:xfrm>
          <a:prstGeom prst="rect">
            <a:avLst/>
          </a:prstGeom>
        </p:spPr>
      </p:pic>
      <p:sp>
        <p:nvSpPr>
          <p:cNvPr id="2" name="Slide Number Placeholder 1">
            <a:extLst>
              <a:ext uri="{FF2B5EF4-FFF2-40B4-BE49-F238E27FC236}">
                <a16:creationId xmlns:a16="http://schemas.microsoft.com/office/drawing/2014/main" id="{3CA372B4-57FE-E21E-15B4-2F3269F41C7E}"/>
              </a:ext>
            </a:extLst>
          </p:cNvPr>
          <p:cNvSpPr>
            <a:spLocks noGrp="1"/>
          </p:cNvSpPr>
          <p:nvPr>
            <p:ph type="sldNum" sz="quarter" idx="12"/>
          </p:nvPr>
        </p:nvSpPr>
        <p:spPr/>
        <p:txBody>
          <a:bodyPr/>
          <a:lstStyle/>
          <a:p>
            <a:fld id="{441E4A3E-16F6-FF44-B4DD-5D27CCED9977}" type="slidenum">
              <a:rPr lang="en-US" dirty="0" smtClean="0">
                <a:solidFill>
                  <a:schemeClr val="bg1"/>
                </a:solidFill>
              </a:rPr>
              <a:t>12</a:t>
            </a:fld>
            <a:endParaRPr lang="en-US">
              <a:solidFill>
                <a:schemeClr val="bg1"/>
              </a:solidFill>
            </a:endParaRPr>
          </a:p>
        </p:txBody>
      </p:sp>
    </p:spTree>
    <p:extLst>
      <p:ext uri="{BB962C8B-B14F-4D97-AF65-F5344CB8AC3E}">
        <p14:creationId xmlns:p14="http://schemas.microsoft.com/office/powerpoint/2010/main" val="884217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94000">
              <a:srgbClr val="8A0000"/>
            </a:gs>
            <a:gs pos="11000">
              <a:schemeClr val="tx1"/>
            </a:gs>
          </a:gsLst>
          <a:path path="circle">
            <a:fillToRect l="100000" t="100000"/>
          </a:path>
        </a:gradFill>
        <a:effectLst/>
      </p:bgPr>
    </p:bg>
    <p:spTree>
      <p:nvGrpSpPr>
        <p:cNvPr id="1" name="">
          <a:extLst>
            <a:ext uri="{FF2B5EF4-FFF2-40B4-BE49-F238E27FC236}">
              <a16:creationId xmlns:a16="http://schemas.microsoft.com/office/drawing/2014/main" id="{9EB2DC37-3EE3-396C-0686-E6FE52027AB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8113877-8894-16D4-E030-22FC8EBCAB62}"/>
              </a:ext>
            </a:extLst>
          </p:cNvPr>
          <p:cNvSpPr/>
          <p:nvPr/>
        </p:nvSpPr>
        <p:spPr>
          <a:xfrm>
            <a:off x="0" y="0"/>
            <a:ext cx="4437847" cy="6858000"/>
          </a:xfrm>
          <a:prstGeom prst="rect">
            <a:avLst/>
          </a:prstGeom>
          <a:solidFill>
            <a:srgbClr val="7400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B74F3B7A-411A-8336-E0AF-85A7FB0F33F6}"/>
              </a:ext>
            </a:extLst>
          </p:cNvPr>
          <p:cNvSpPr>
            <a:spLocks noGrp="1"/>
          </p:cNvSpPr>
          <p:nvPr>
            <p:ph type="body" sz="half" idx="2"/>
          </p:nvPr>
        </p:nvSpPr>
        <p:spPr>
          <a:xfrm>
            <a:off x="4437847" y="377953"/>
            <a:ext cx="7557111" cy="6480047"/>
          </a:xfrm>
        </p:spPr>
        <p:txBody>
          <a:bodyPr vert="horz" lIns="91440" tIns="45720" rIns="91440" bIns="45720" rtlCol="0" anchor="t">
            <a:normAutofit fontScale="70000" lnSpcReduction="20000"/>
          </a:bodyPr>
          <a:lstStyle/>
          <a:p>
            <a:pPr marL="457200" indent="-457200">
              <a:lnSpc>
                <a:spcPct val="100000"/>
              </a:lnSpc>
              <a:buFont typeface="Arial" panose="020B0604020202020204" pitchFamily="34" charset="0"/>
              <a:buChar char="•"/>
            </a:pPr>
            <a:r>
              <a:rPr lang="en-US" sz="2800" b="1">
                <a:solidFill>
                  <a:schemeClr val="bg1"/>
                </a:solidFill>
              </a:rPr>
              <a:t>Pricing Strategy: Customer Value Based Pricing – Good Value</a:t>
            </a:r>
          </a:p>
          <a:p>
            <a:pPr marL="914400" lvl="1" indent="-457200">
              <a:lnSpc>
                <a:spcPct val="100000"/>
              </a:lnSpc>
              <a:buFont typeface="Arial" panose="020B0604020202020204" pitchFamily="34" charset="0"/>
              <a:buChar char="•"/>
            </a:pPr>
            <a:r>
              <a:rPr lang="en-US" sz="2600">
                <a:solidFill>
                  <a:schemeClr val="bg1"/>
                </a:solidFill>
              </a:rPr>
              <a:t>Prices are set according to the perceived convenience and benefit to the students, rather than just the cost. </a:t>
            </a:r>
          </a:p>
          <a:p>
            <a:pPr marL="914400" lvl="1" indent="-457200">
              <a:lnSpc>
                <a:spcPct val="100000"/>
              </a:lnSpc>
              <a:buFont typeface="Arial" panose="020B0604020202020204" pitchFamily="34" charset="0"/>
              <a:buChar char="•"/>
            </a:pPr>
            <a:r>
              <a:rPr lang="en-US" sz="2600">
                <a:solidFill>
                  <a:schemeClr val="bg1"/>
                </a:solidFill>
              </a:rPr>
              <a:t>Students will pay using a meal swipe, 20% gratuity, and a small service fee, which reflects the value of having their meal delivered to their desired location quickly, reliably, and safely. </a:t>
            </a:r>
            <a:endParaRPr lang="en-US" sz="2800" b="1">
              <a:solidFill>
                <a:schemeClr val="bg1"/>
              </a:solidFill>
            </a:endParaRPr>
          </a:p>
          <a:p>
            <a:pPr marL="457200" indent="-457200">
              <a:lnSpc>
                <a:spcPct val="100000"/>
              </a:lnSpc>
              <a:buFont typeface="Arial" panose="020B0604020202020204" pitchFamily="34" charset="0"/>
              <a:buChar char="•"/>
            </a:pPr>
            <a:r>
              <a:rPr lang="en-US" sz="2800" b="1">
                <a:solidFill>
                  <a:schemeClr val="bg1"/>
                </a:solidFill>
              </a:rPr>
              <a:t>Competitors Pricing:</a:t>
            </a:r>
          </a:p>
          <a:p>
            <a:pPr marL="914400" lvl="1" indent="-457200">
              <a:lnSpc>
                <a:spcPct val="100000"/>
              </a:lnSpc>
              <a:buFont typeface="Arial" panose="020B0604020202020204" pitchFamily="34" charset="0"/>
              <a:buChar char="•"/>
            </a:pPr>
            <a:r>
              <a:rPr lang="en-US" sz="2600">
                <a:solidFill>
                  <a:schemeClr val="bg1"/>
                </a:solidFill>
              </a:rPr>
              <a:t>Uber-Eats: Uber Eats uses a dynamic, competition-based pricing.</a:t>
            </a:r>
          </a:p>
          <a:p>
            <a:pPr marL="914400" lvl="1" indent="-457200">
              <a:lnSpc>
                <a:spcPct val="100000"/>
              </a:lnSpc>
              <a:buFont typeface="Arial" panose="020B0604020202020204" pitchFamily="34" charset="0"/>
              <a:buChar char="•"/>
            </a:pPr>
            <a:r>
              <a:rPr lang="en-US" sz="2600">
                <a:solidFill>
                  <a:schemeClr val="bg1"/>
                </a:solidFill>
              </a:rPr>
              <a:t>They consider factors such as demand, time, distance, competitor prices, with surge pricing applied during peak hours, causing prices to rise.</a:t>
            </a:r>
          </a:p>
          <a:p>
            <a:pPr marL="914400" lvl="1" indent="-457200">
              <a:lnSpc>
                <a:spcPct val="100000"/>
              </a:lnSpc>
              <a:buFont typeface="Arial" panose="020B0604020202020204" pitchFamily="34" charset="0"/>
              <a:buChar char="•"/>
            </a:pPr>
            <a:r>
              <a:rPr lang="en-US" sz="2600">
                <a:solidFill>
                  <a:schemeClr val="bg1"/>
                </a:solidFill>
              </a:rPr>
              <a:t>This, in addition to a tip and a delivery fee, causes prices to be much higher than the actual cost of food; presenting the need for Scarlet Delivery</a:t>
            </a:r>
            <a:endParaRPr lang="en-US" sz="2800" b="1">
              <a:solidFill>
                <a:schemeClr val="bg1"/>
              </a:solidFill>
            </a:endParaRPr>
          </a:p>
          <a:p>
            <a:pPr marL="457200" indent="-457200">
              <a:lnSpc>
                <a:spcPct val="100000"/>
              </a:lnSpc>
              <a:buFont typeface="Arial" panose="020B0604020202020204" pitchFamily="34" charset="0"/>
              <a:buChar char="•"/>
            </a:pPr>
            <a:r>
              <a:rPr lang="en-US" sz="2800" b="1">
                <a:solidFill>
                  <a:schemeClr val="bg1"/>
                </a:solidFill>
              </a:rPr>
              <a:t>Promotions/Seasonal Pricing:</a:t>
            </a:r>
          </a:p>
          <a:p>
            <a:pPr marL="914400" lvl="1" indent="-457200">
              <a:lnSpc>
                <a:spcPct val="100000"/>
              </a:lnSpc>
              <a:buFont typeface="Arial" panose="020B0604020202020204" pitchFamily="34" charset="0"/>
              <a:buChar char="•"/>
            </a:pPr>
            <a:r>
              <a:rPr lang="en-US" sz="2600">
                <a:solidFill>
                  <a:schemeClr val="bg1"/>
                </a:solidFill>
              </a:rPr>
              <a:t>Scarlet Delivery will have a multitude of promotions/seasonal pricing to offer to students, such as:</a:t>
            </a:r>
          </a:p>
          <a:p>
            <a:pPr marL="1371600" lvl="2" indent="-457200">
              <a:lnSpc>
                <a:spcPct val="100000"/>
              </a:lnSpc>
              <a:buFont typeface="Arial" panose="020B0604020202020204" pitchFamily="34" charset="0"/>
              <a:buChar char="•"/>
            </a:pPr>
            <a:r>
              <a:rPr lang="en-US" sz="2400">
                <a:solidFill>
                  <a:schemeClr val="bg1"/>
                </a:solidFill>
              </a:rPr>
              <a:t>Reduced prices and deals during mid-terms and finals</a:t>
            </a:r>
          </a:p>
          <a:p>
            <a:pPr marL="1371600" lvl="2" indent="-457200">
              <a:lnSpc>
                <a:spcPct val="100000"/>
              </a:lnSpc>
              <a:buFont typeface="Arial" panose="020B0604020202020204" pitchFamily="34" charset="0"/>
              <a:buChar char="•"/>
            </a:pPr>
            <a:r>
              <a:rPr lang="en-US" sz="2400">
                <a:solidFill>
                  <a:schemeClr val="bg1"/>
                </a:solidFill>
              </a:rPr>
              <a:t>Special holiday and semester kickoff promotions</a:t>
            </a:r>
          </a:p>
          <a:p>
            <a:pPr marL="1371600" lvl="2" indent="-457200">
              <a:lnSpc>
                <a:spcPct val="100000"/>
              </a:lnSpc>
              <a:buFont typeface="Arial" panose="020B0604020202020204" pitchFamily="34" charset="0"/>
              <a:buChar char="•"/>
            </a:pPr>
            <a:r>
              <a:rPr lang="en-US" sz="2400">
                <a:solidFill>
                  <a:schemeClr val="bg1"/>
                </a:solidFill>
              </a:rPr>
              <a:t>End of semester specials to ensure use of leftover swipes</a:t>
            </a:r>
          </a:p>
          <a:p>
            <a:pPr marL="1371600" lvl="2" indent="-457200">
              <a:lnSpc>
                <a:spcPct val="100000"/>
              </a:lnSpc>
              <a:buFont typeface="Arial" panose="020B0604020202020204" pitchFamily="34" charset="0"/>
              <a:buChar char="•"/>
            </a:pPr>
            <a:r>
              <a:rPr lang="en-US" sz="2400">
                <a:solidFill>
                  <a:schemeClr val="bg1"/>
                </a:solidFill>
              </a:rPr>
              <a:t>Freshman/first year transfer student welcome offers to encourage app use</a:t>
            </a:r>
          </a:p>
          <a:p>
            <a:pPr marL="1371600" lvl="2" indent="-457200">
              <a:lnSpc>
                <a:spcPct val="100000"/>
              </a:lnSpc>
              <a:buFont typeface="Arial" panose="020B0604020202020204" pitchFamily="34" charset="0"/>
              <a:buChar char="•"/>
            </a:pPr>
            <a:endParaRPr lang="en-US" sz="2400"/>
          </a:p>
        </p:txBody>
      </p:sp>
      <p:sp>
        <p:nvSpPr>
          <p:cNvPr id="11" name="Title 1">
            <a:extLst>
              <a:ext uri="{FF2B5EF4-FFF2-40B4-BE49-F238E27FC236}">
                <a16:creationId xmlns:a16="http://schemas.microsoft.com/office/drawing/2014/main" id="{40A5F050-81D5-1923-90E1-E20445950CC4}"/>
              </a:ext>
            </a:extLst>
          </p:cNvPr>
          <p:cNvSpPr txBox="1">
            <a:spLocks/>
          </p:cNvSpPr>
          <p:nvPr/>
        </p:nvSpPr>
        <p:spPr>
          <a:xfrm>
            <a:off x="-12471" y="652954"/>
            <a:ext cx="4450318" cy="1985699"/>
          </a:xfrm>
          <a:prstGeom prst="rect">
            <a:avLst/>
          </a:prstGeom>
        </p:spPr>
        <p:txBody>
          <a:bodyPr vert="horz" lIns="91440" tIns="45720" rIns="91440" bIns="45720" rtlCol="0" anchor="b">
            <a:normAutofit fontScale="92500" lnSpcReduction="200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r>
              <a:rPr lang="en-US" sz="4400" b="1">
                <a:solidFill>
                  <a:schemeClr val="bg1"/>
                </a:solidFill>
              </a:rPr>
              <a:t>Marketing Strategy (Mix)</a:t>
            </a:r>
          </a:p>
          <a:p>
            <a:pPr algn="ctr"/>
            <a:endParaRPr lang="en-US" sz="4400" b="1">
              <a:solidFill>
                <a:schemeClr val="bg1"/>
              </a:solidFill>
            </a:endParaRPr>
          </a:p>
          <a:p>
            <a:pPr algn="ctr"/>
            <a:r>
              <a:rPr lang="en-US" sz="4400" b="1">
                <a:solidFill>
                  <a:srgbClr val="FFFF00"/>
                </a:solidFill>
              </a:rPr>
              <a:t>PRICING</a:t>
            </a:r>
          </a:p>
        </p:txBody>
      </p:sp>
      <p:pic>
        <p:nvPicPr>
          <p:cNvPr id="7" name="Picture 6">
            <a:extLst>
              <a:ext uri="{FF2B5EF4-FFF2-40B4-BE49-F238E27FC236}">
                <a16:creationId xmlns:a16="http://schemas.microsoft.com/office/drawing/2014/main" id="{0C5DB7AE-C88C-A9D2-4731-CC51CEE93C4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6250" b="94271" l="3042" r="93916">
                        <a14:foregroundMark x1="9125" y1="38021" x2="12548" y2="54688"/>
                        <a14:foregroundMark x1="47909" y1="6250" x2="48289" y2="12500"/>
                        <a14:foregroundMark x1="89340" y1="55208" x2="89354" y2="56250"/>
                        <a14:foregroundMark x1="88973" y1="27604" x2="89340" y2="55208"/>
                        <a14:foregroundMark x1="92015" y1="53125" x2="93916" y2="53646"/>
                        <a14:foregroundMark x1="6084" y1="39063" x2="5703" y2="46354"/>
                        <a14:foregroundMark x1="69202" y1="91667" x2="69202" y2="91667"/>
                        <a14:foregroundMark x1="41445" y1="94271" x2="41445" y2="94271"/>
                        <a14:foregroundMark x1="3042" y1="73958" x2="3042" y2="73958"/>
                        <a14:foregroundMark x1="92776" y1="56771" x2="92776" y2="56771"/>
                        <a14:foregroundMark x1="93916" y1="56771" x2="93916" y2="56771"/>
                        <a14:backgroundMark x1="95057" y1="55208" x2="95057" y2="55208"/>
                        <a14:backgroundMark x1="93536" y1="55208" x2="93536" y2="55208"/>
                      </a14:backgroundRemoval>
                    </a14:imgEffect>
                  </a14:imgLayer>
                </a14:imgProps>
              </a:ext>
            </a:extLst>
          </a:blip>
          <a:stretch>
            <a:fillRect/>
          </a:stretch>
        </p:blipFill>
        <p:spPr>
          <a:xfrm>
            <a:off x="197042" y="3291607"/>
            <a:ext cx="3667861" cy="2687898"/>
          </a:xfrm>
          <a:prstGeom prst="rect">
            <a:avLst/>
          </a:prstGeom>
        </p:spPr>
      </p:pic>
      <p:sp>
        <p:nvSpPr>
          <p:cNvPr id="3" name="Slide Number Placeholder 2">
            <a:extLst>
              <a:ext uri="{FF2B5EF4-FFF2-40B4-BE49-F238E27FC236}">
                <a16:creationId xmlns:a16="http://schemas.microsoft.com/office/drawing/2014/main" id="{B59DA962-3DF3-38E3-7803-4ABD4EC0B11C}"/>
              </a:ext>
            </a:extLst>
          </p:cNvPr>
          <p:cNvSpPr>
            <a:spLocks noGrp="1"/>
          </p:cNvSpPr>
          <p:nvPr>
            <p:ph type="sldNum" sz="quarter" idx="12"/>
          </p:nvPr>
        </p:nvSpPr>
        <p:spPr/>
        <p:txBody>
          <a:bodyPr/>
          <a:lstStyle/>
          <a:p>
            <a:fld id="{441E4A3E-16F6-FF44-B4DD-5D27CCED9977}" type="slidenum">
              <a:rPr lang="en-US" dirty="0" smtClean="0">
                <a:solidFill>
                  <a:schemeClr val="bg1"/>
                </a:solidFill>
              </a:rPr>
              <a:t>13</a:t>
            </a:fld>
            <a:endParaRPr lang="en-US">
              <a:solidFill>
                <a:schemeClr val="bg1"/>
              </a:solidFill>
            </a:endParaRPr>
          </a:p>
        </p:txBody>
      </p:sp>
    </p:spTree>
    <p:extLst>
      <p:ext uri="{BB962C8B-B14F-4D97-AF65-F5344CB8AC3E}">
        <p14:creationId xmlns:p14="http://schemas.microsoft.com/office/powerpoint/2010/main" val="22914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8A0000"/>
            </a:gs>
            <a:gs pos="99000">
              <a:schemeClr val="tx1"/>
            </a:gs>
          </a:gsLst>
          <a:path path="circle">
            <a:fillToRect l="100000" t="100000"/>
          </a:path>
        </a:gradFill>
        <a:effectLst/>
      </p:bgPr>
    </p:bg>
    <p:spTree>
      <p:nvGrpSpPr>
        <p:cNvPr id="1" name="">
          <a:extLst>
            <a:ext uri="{FF2B5EF4-FFF2-40B4-BE49-F238E27FC236}">
              <a16:creationId xmlns:a16="http://schemas.microsoft.com/office/drawing/2014/main" id="{9EB2DC37-3EE3-396C-0686-E6FE52027AB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4CCDDD5-005D-331B-7A7E-BE17EA8F8641}"/>
              </a:ext>
            </a:extLst>
          </p:cNvPr>
          <p:cNvSpPr/>
          <p:nvPr/>
        </p:nvSpPr>
        <p:spPr>
          <a:xfrm>
            <a:off x="0" y="0"/>
            <a:ext cx="4381500" cy="6858000"/>
          </a:xfrm>
          <a:prstGeom prst="rect">
            <a:avLst/>
          </a:prstGeom>
          <a:solidFill>
            <a:srgbClr val="7400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B74F3B7A-411A-8336-E0AF-85A7FB0F33F6}"/>
              </a:ext>
            </a:extLst>
          </p:cNvPr>
          <p:cNvSpPr>
            <a:spLocks noGrp="1"/>
          </p:cNvSpPr>
          <p:nvPr>
            <p:ph type="body" sz="half" idx="2"/>
          </p:nvPr>
        </p:nvSpPr>
        <p:spPr>
          <a:xfrm>
            <a:off x="4414033" y="225218"/>
            <a:ext cx="7426566" cy="6175335"/>
          </a:xfrm>
        </p:spPr>
        <p:txBody>
          <a:bodyPr vert="horz" lIns="91440" tIns="45720" rIns="91440" bIns="45720" rtlCol="0" anchor="t">
            <a:normAutofit fontScale="92500"/>
          </a:bodyPr>
          <a:lstStyle/>
          <a:p>
            <a:pPr marL="457200" indent="-457200">
              <a:lnSpc>
                <a:spcPct val="100000"/>
              </a:lnSpc>
              <a:buFont typeface="Arial" panose="020B0604020202020204" pitchFamily="34" charset="0"/>
              <a:buChar char="•"/>
            </a:pPr>
            <a:r>
              <a:rPr lang="en-US" sz="2000" b="1">
                <a:solidFill>
                  <a:schemeClr val="bg1"/>
                </a:solidFill>
              </a:rPr>
              <a:t>Advertising: </a:t>
            </a:r>
            <a:r>
              <a:rPr lang="en-US" sz="2000">
                <a:solidFill>
                  <a:schemeClr val="bg1"/>
                </a:solidFill>
              </a:rPr>
              <a:t>Targeted social media ads (at Rutgers students), flyers around campus and residence halls, ads on busses, and posters/displays at each dining hall.</a:t>
            </a:r>
            <a:endParaRPr lang="en-US" sz="2000" b="1">
              <a:solidFill>
                <a:schemeClr val="bg1"/>
              </a:solidFill>
            </a:endParaRPr>
          </a:p>
          <a:p>
            <a:pPr marL="457200" indent="-457200">
              <a:lnSpc>
                <a:spcPct val="100000"/>
              </a:lnSpc>
              <a:buFont typeface="Arial" panose="020B0604020202020204" pitchFamily="34" charset="0"/>
              <a:buChar char="•"/>
            </a:pPr>
            <a:r>
              <a:rPr lang="en-US" sz="2000" b="1">
                <a:solidFill>
                  <a:schemeClr val="bg1"/>
                </a:solidFill>
              </a:rPr>
              <a:t>Public Relations: </a:t>
            </a:r>
            <a:r>
              <a:rPr lang="en-US" sz="2000">
                <a:solidFill>
                  <a:schemeClr val="bg1"/>
                </a:solidFill>
              </a:rPr>
              <a:t>Collaborate to have consistent shoutouts/ads from the Daily Targum (newspaper), WRSU 88.7 FM (radio), and email blasts to gain credibility with students</a:t>
            </a:r>
            <a:endParaRPr lang="en-US" sz="2000" b="1">
              <a:solidFill>
                <a:schemeClr val="bg1"/>
              </a:solidFill>
            </a:endParaRPr>
          </a:p>
          <a:p>
            <a:pPr marL="457200" indent="-457200">
              <a:lnSpc>
                <a:spcPct val="100000"/>
              </a:lnSpc>
              <a:buFont typeface="Arial" panose="020B0604020202020204" pitchFamily="34" charset="0"/>
              <a:buChar char="•"/>
            </a:pPr>
            <a:r>
              <a:rPr lang="en-US" sz="2000" b="1">
                <a:solidFill>
                  <a:schemeClr val="bg1"/>
                </a:solidFill>
              </a:rPr>
              <a:t>Content Marketing: </a:t>
            </a:r>
            <a:r>
              <a:rPr lang="en-US" sz="2000">
                <a:solidFill>
                  <a:schemeClr val="bg1"/>
                </a:solidFill>
              </a:rPr>
              <a:t>Will heavily focus on social media, as that is where college students are most accessible. Specific deals, promotions, and specials will be given out on social media, along with meal plan hacks, dining hall reviews, and key updates</a:t>
            </a:r>
            <a:endParaRPr lang="en-US" sz="2000" b="1">
              <a:solidFill>
                <a:schemeClr val="bg1"/>
              </a:solidFill>
            </a:endParaRPr>
          </a:p>
          <a:p>
            <a:pPr marL="457200" indent="-457200">
              <a:lnSpc>
                <a:spcPct val="100000"/>
              </a:lnSpc>
              <a:buFont typeface="Arial" panose="020B0604020202020204" pitchFamily="34" charset="0"/>
              <a:buChar char="•"/>
            </a:pPr>
            <a:r>
              <a:rPr lang="en-US" sz="2000" b="1">
                <a:solidFill>
                  <a:schemeClr val="bg1"/>
                </a:solidFill>
              </a:rPr>
              <a:t>Social Media Strategy / Influencer Partnerships: </a:t>
            </a:r>
            <a:r>
              <a:rPr lang="en-US" sz="2000">
                <a:solidFill>
                  <a:schemeClr val="bg1"/>
                </a:solidFill>
              </a:rPr>
              <a:t>Scarlet Delivery will have a presence on most social medias popular with students: Instagram, TikTok, Snapchat.</a:t>
            </a:r>
          </a:p>
          <a:p>
            <a:pPr marL="914400" lvl="1" indent="-457200">
              <a:lnSpc>
                <a:spcPct val="100000"/>
              </a:lnSpc>
              <a:buFont typeface="Arial" panose="020B0604020202020204" pitchFamily="34" charset="0"/>
              <a:buChar char="•"/>
            </a:pPr>
            <a:r>
              <a:rPr lang="en-US" sz="1600">
                <a:solidFill>
                  <a:schemeClr val="bg1"/>
                </a:solidFill>
              </a:rPr>
              <a:t>Engaging posts, videos, shorts/reels, will be made to draw attention. </a:t>
            </a:r>
          </a:p>
          <a:p>
            <a:pPr marL="914400" lvl="1" indent="-457200">
              <a:lnSpc>
                <a:spcPct val="100000"/>
              </a:lnSpc>
              <a:buFont typeface="Arial" panose="020B0604020202020204" pitchFamily="34" charset="0"/>
              <a:buChar char="•"/>
            </a:pPr>
            <a:r>
              <a:rPr lang="en-US" sz="1600">
                <a:solidFill>
                  <a:schemeClr val="bg1"/>
                </a:solidFill>
              </a:rPr>
              <a:t>Influencers: Athletes, professors, and current social media stars will be brought into help the social media team create content and gain popularity with the students. </a:t>
            </a:r>
          </a:p>
          <a:p>
            <a:pPr marL="457200" indent="-457200">
              <a:lnSpc>
                <a:spcPct val="100000"/>
              </a:lnSpc>
              <a:buFont typeface="Arial" panose="020B0604020202020204" pitchFamily="34" charset="0"/>
              <a:buChar char="•"/>
            </a:pPr>
            <a:r>
              <a:rPr lang="en-US" sz="2000" b="1">
                <a:solidFill>
                  <a:schemeClr val="bg1"/>
                </a:solidFill>
              </a:rPr>
              <a:t>Why? </a:t>
            </a:r>
            <a:r>
              <a:rPr lang="en-US" sz="2000">
                <a:solidFill>
                  <a:schemeClr val="bg1"/>
                </a:solidFill>
              </a:rPr>
              <a:t>– All of these choices are campus focused, driven to students, and will build trust, popularity, and drive app use. </a:t>
            </a:r>
            <a:endParaRPr lang="en-US" sz="2000">
              <a:solidFill>
                <a:schemeClr val="bg1"/>
              </a:solidFill>
              <a:effectLst/>
            </a:endParaRPr>
          </a:p>
        </p:txBody>
      </p:sp>
      <p:sp>
        <p:nvSpPr>
          <p:cNvPr id="11" name="Title 1">
            <a:extLst>
              <a:ext uri="{FF2B5EF4-FFF2-40B4-BE49-F238E27FC236}">
                <a16:creationId xmlns:a16="http://schemas.microsoft.com/office/drawing/2014/main" id="{40A5F050-81D5-1923-90E1-E20445950CC4}"/>
              </a:ext>
            </a:extLst>
          </p:cNvPr>
          <p:cNvSpPr txBox="1">
            <a:spLocks/>
          </p:cNvSpPr>
          <p:nvPr/>
        </p:nvSpPr>
        <p:spPr>
          <a:xfrm>
            <a:off x="-68818" y="268102"/>
            <a:ext cx="4450318" cy="1985699"/>
          </a:xfrm>
          <a:prstGeom prst="rect">
            <a:avLst/>
          </a:prstGeom>
        </p:spPr>
        <p:txBody>
          <a:bodyPr vert="horz" lIns="91440" tIns="45720" rIns="91440" bIns="45720" rtlCol="0" anchor="b">
            <a:normAutofit fontScale="92500" lnSpcReduction="20000"/>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r>
              <a:rPr lang="en-US" sz="4400" b="1">
                <a:solidFill>
                  <a:schemeClr val="bg1"/>
                </a:solidFill>
              </a:rPr>
              <a:t>Marketing Strategy (Mix) – </a:t>
            </a:r>
          </a:p>
          <a:p>
            <a:pPr algn="ctr"/>
            <a:endParaRPr lang="en-US" sz="4400" b="1">
              <a:solidFill>
                <a:schemeClr val="bg1"/>
              </a:solidFill>
            </a:endParaRPr>
          </a:p>
          <a:p>
            <a:pPr algn="ctr"/>
            <a:r>
              <a:rPr lang="en-US" sz="4400" b="1">
                <a:solidFill>
                  <a:srgbClr val="FFFF00"/>
                </a:solidFill>
              </a:rPr>
              <a:t>PROMOTION</a:t>
            </a:r>
          </a:p>
        </p:txBody>
      </p:sp>
      <p:pic>
        <p:nvPicPr>
          <p:cNvPr id="2" name="Picture 1">
            <a:extLst>
              <a:ext uri="{FF2B5EF4-FFF2-40B4-BE49-F238E27FC236}">
                <a16:creationId xmlns:a16="http://schemas.microsoft.com/office/drawing/2014/main" id="{7D2E4825-D4AF-CB63-1387-E98C071014AD}"/>
              </a:ext>
            </a:extLst>
          </p:cNvPr>
          <p:cNvPicPr>
            <a:picLocks noChangeAspect="1"/>
          </p:cNvPicPr>
          <p:nvPr/>
        </p:nvPicPr>
        <p:blipFill>
          <a:blip r:embed="rId2"/>
          <a:stretch>
            <a:fillRect/>
          </a:stretch>
        </p:blipFill>
        <p:spPr>
          <a:xfrm>
            <a:off x="819150" y="2762249"/>
            <a:ext cx="2743200" cy="2743200"/>
          </a:xfrm>
          <a:prstGeom prst="rect">
            <a:avLst/>
          </a:prstGeom>
        </p:spPr>
      </p:pic>
      <p:sp>
        <p:nvSpPr>
          <p:cNvPr id="5" name="Slide Number Placeholder 4">
            <a:extLst>
              <a:ext uri="{FF2B5EF4-FFF2-40B4-BE49-F238E27FC236}">
                <a16:creationId xmlns:a16="http://schemas.microsoft.com/office/drawing/2014/main" id="{3E9B3E4C-490D-1610-9557-324A216BF467}"/>
              </a:ext>
            </a:extLst>
          </p:cNvPr>
          <p:cNvSpPr>
            <a:spLocks noGrp="1"/>
          </p:cNvSpPr>
          <p:nvPr>
            <p:ph type="sldNum" sz="quarter" idx="12"/>
          </p:nvPr>
        </p:nvSpPr>
        <p:spPr/>
        <p:txBody>
          <a:bodyPr/>
          <a:lstStyle/>
          <a:p>
            <a:fld id="{441E4A3E-16F6-FF44-B4DD-5D27CCED9977}" type="slidenum">
              <a:rPr lang="en-US" dirty="0" smtClean="0">
                <a:solidFill>
                  <a:schemeClr val="bg1"/>
                </a:solidFill>
              </a:rPr>
              <a:t>14</a:t>
            </a:fld>
            <a:endParaRPr lang="en-US">
              <a:solidFill>
                <a:schemeClr val="bg1"/>
              </a:solidFill>
            </a:endParaRPr>
          </a:p>
        </p:txBody>
      </p:sp>
    </p:spTree>
    <p:extLst>
      <p:ext uri="{BB962C8B-B14F-4D97-AF65-F5344CB8AC3E}">
        <p14:creationId xmlns:p14="http://schemas.microsoft.com/office/powerpoint/2010/main" val="207528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33000">
              <a:srgbClr val="8A0000"/>
            </a:gs>
            <a:gs pos="70000">
              <a:schemeClr val="tx1"/>
            </a:gs>
          </a:gsLst>
          <a:path path="circle">
            <a:fillToRect l="100000" t="100000"/>
          </a:path>
        </a:gradFill>
        <a:effectLst/>
      </p:bgPr>
    </p:bg>
    <p:spTree>
      <p:nvGrpSpPr>
        <p:cNvPr id="1" name="">
          <a:extLst>
            <a:ext uri="{FF2B5EF4-FFF2-40B4-BE49-F238E27FC236}">
              <a16:creationId xmlns:a16="http://schemas.microsoft.com/office/drawing/2014/main" id="{5E2750C6-C785-D680-66E1-501D49819C0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2A88A96-D824-55E3-BB72-AA640CA14070}"/>
              </a:ext>
            </a:extLst>
          </p:cNvPr>
          <p:cNvSpPr/>
          <p:nvPr/>
        </p:nvSpPr>
        <p:spPr>
          <a:xfrm>
            <a:off x="0" y="0"/>
            <a:ext cx="5248418" cy="6858000"/>
          </a:xfrm>
          <a:prstGeom prst="rect">
            <a:avLst/>
          </a:prstGeom>
          <a:solidFill>
            <a:srgbClr val="7400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
            <a:extLst>
              <a:ext uri="{FF2B5EF4-FFF2-40B4-BE49-F238E27FC236}">
                <a16:creationId xmlns:a16="http://schemas.microsoft.com/office/drawing/2014/main" id="{788682DE-20AF-1135-7A78-83E0E123C0AD}"/>
              </a:ext>
            </a:extLst>
          </p:cNvPr>
          <p:cNvSpPr txBox="1">
            <a:spLocks/>
          </p:cNvSpPr>
          <p:nvPr/>
        </p:nvSpPr>
        <p:spPr>
          <a:xfrm>
            <a:off x="185232" y="1615599"/>
            <a:ext cx="6463220" cy="102476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4000" b="1">
                <a:solidFill>
                  <a:schemeClr val="bg1"/>
                </a:solidFill>
              </a:rPr>
              <a:t>Evaluation &amp; Control</a:t>
            </a:r>
          </a:p>
        </p:txBody>
      </p:sp>
      <p:grpSp>
        <p:nvGrpSpPr>
          <p:cNvPr id="10" name="Group 9">
            <a:extLst>
              <a:ext uri="{FF2B5EF4-FFF2-40B4-BE49-F238E27FC236}">
                <a16:creationId xmlns:a16="http://schemas.microsoft.com/office/drawing/2014/main" id="{5CBE4249-8960-2B07-9309-3125C4A462FE}"/>
              </a:ext>
            </a:extLst>
          </p:cNvPr>
          <p:cNvGrpSpPr/>
          <p:nvPr/>
        </p:nvGrpSpPr>
        <p:grpSpPr>
          <a:xfrm>
            <a:off x="185232" y="2587783"/>
            <a:ext cx="4805868" cy="2298266"/>
            <a:chOff x="185232" y="2826184"/>
            <a:chExt cx="4805868" cy="2348519"/>
          </a:xfrm>
        </p:grpSpPr>
        <p:sp>
          <p:nvSpPr>
            <p:cNvPr id="7" name="Rectangle: Rounded Corners 6">
              <a:extLst>
                <a:ext uri="{FF2B5EF4-FFF2-40B4-BE49-F238E27FC236}">
                  <a16:creationId xmlns:a16="http://schemas.microsoft.com/office/drawing/2014/main" id="{7B4EB46D-A8E3-30A9-FE44-0726FC682926}"/>
                </a:ext>
              </a:extLst>
            </p:cNvPr>
            <p:cNvSpPr/>
            <p:nvPr/>
          </p:nvSpPr>
          <p:spPr>
            <a:xfrm>
              <a:off x="185232" y="2826184"/>
              <a:ext cx="4805868" cy="2348519"/>
            </a:xfrm>
            <a:prstGeom prst="roundRect">
              <a:avLst/>
            </a:prstGeom>
            <a:gradFill>
              <a:gsLst>
                <a:gs pos="14000">
                  <a:srgbClr val="8A0000"/>
                </a:gs>
                <a:gs pos="75000">
                  <a:schemeClr val="tx1"/>
                </a:gs>
              </a:gsLst>
              <a:path path="circle">
                <a:fillToRect l="100000" t="100000"/>
              </a:path>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412287" y="2944408"/>
              <a:ext cx="4344815" cy="2112062"/>
            </a:xfrm>
            <a:prstGeom prst="rect">
              <a:avLst/>
            </a:prstGeom>
          </p:spPr>
        </p:pic>
      </p:grpSp>
      <p:sp>
        <p:nvSpPr>
          <p:cNvPr id="9" name="TextBox 8">
            <a:extLst>
              <a:ext uri="{FF2B5EF4-FFF2-40B4-BE49-F238E27FC236}">
                <a16:creationId xmlns:a16="http://schemas.microsoft.com/office/drawing/2014/main" id="{3F305ADF-0738-45F9-8863-5B68D6E9E3BE}"/>
              </a:ext>
            </a:extLst>
          </p:cNvPr>
          <p:cNvSpPr txBox="1"/>
          <p:nvPr/>
        </p:nvSpPr>
        <p:spPr>
          <a:xfrm>
            <a:off x="5585011" y="284522"/>
            <a:ext cx="6052457" cy="65455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lnSpcReduction="10000"/>
          </a:bodyPr>
          <a:lstStyle/>
          <a:p>
            <a:r>
              <a:rPr lang="en-US" b="1">
                <a:solidFill>
                  <a:schemeClr val="bg1"/>
                </a:solidFill>
              </a:rPr>
              <a:t>Plan: </a:t>
            </a:r>
            <a:r>
              <a:rPr lang="en-US">
                <a:solidFill>
                  <a:schemeClr val="bg1"/>
                </a:solidFill>
              </a:rPr>
              <a:t>Ensure the application's stability and technical performance through constant monitoring while gaining feedback through the app or university-wide efforts to work upon said issues to ensure an efficient and smooth process</a:t>
            </a:r>
          </a:p>
          <a:p>
            <a:endParaRPr lang="en-US">
              <a:solidFill>
                <a:schemeClr val="bg1"/>
              </a:solidFill>
            </a:endParaRPr>
          </a:p>
          <a:p>
            <a:r>
              <a:rPr lang="en-US" b="1">
                <a:solidFill>
                  <a:schemeClr val="bg1"/>
                </a:solidFill>
              </a:rPr>
              <a:t>KPIs:</a:t>
            </a:r>
            <a:r>
              <a:rPr lang="en-US">
                <a:solidFill>
                  <a:schemeClr val="bg1"/>
                </a:solidFill>
              </a:rPr>
              <a:t> Impressions, Conversion Rate, Churn Rate, Daily Active Users, Meal Swipe Usage Rate, Average Delivery Time, Driver Availability, Net Promoter Score, Sales</a:t>
            </a:r>
          </a:p>
          <a:p>
            <a:endParaRPr lang="en-US">
              <a:solidFill>
                <a:schemeClr val="bg1"/>
              </a:solidFill>
            </a:endParaRPr>
          </a:p>
          <a:p>
            <a:r>
              <a:rPr lang="en-US" b="1">
                <a:solidFill>
                  <a:schemeClr val="bg1"/>
                </a:solidFill>
              </a:rPr>
              <a:t>Timeframe of Review:</a:t>
            </a:r>
            <a:r>
              <a:rPr lang="en-US">
                <a:solidFill>
                  <a:schemeClr val="bg1"/>
                </a:solidFill>
              </a:rPr>
              <a:t> This will be a constant process at the beginning to catch any bumps along the way. At the very least, once a week, through metrics data from the app and feedback. Once determined we have hit a maturity stage, once every three months.</a:t>
            </a:r>
          </a:p>
          <a:p>
            <a:endParaRPr lang="en-US">
              <a:solidFill>
                <a:schemeClr val="bg1"/>
              </a:solidFill>
            </a:endParaRPr>
          </a:p>
          <a:p>
            <a:r>
              <a:rPr lang="en-US" b="1">
                <a:solidFill>
                  <a:schemeClr val="bg1"/>
                </a:solidFill>
              </a:rPr>
              <a:t>On Target:</a:t>
            </a:r>
            <a:r>
              <a:rPr lang="en-US">
                <a:solidFill>
                  <a:schemeClr val="bg1"/>
                </a:solidFill>
              </a:rPr>
              <a:t> Continue to set objectives and goals that fit the scope of our potential with continuous improvement from the voice of our customers and hope to implement across universities nationwide. </a:t>
            </a:r>
          </a:p>
          <a:p>
            <a:endParaRPr lang="en-US">
              <a:solidFill>
                <a:schemeClr val="bg1"/>
              </a:solidFill>
            </a:endParaRPr>
          </a:p>
          <a:p>
            <a:r>
              <a:rPr lang="en-US" b="1">
                <a:solidFill>
                  <a:schemeClr val="bg1"/>
                </a:solidFill>
              </a:rPr>
              <a:t>Off Target: </a:t>
            </a:r>
            <a:r>
              <a:rPr lang="en-US">
                <a:solidFill>
                  <a:schemeClr val="bg1"/>
                </a:solidFill>
              </a:rPr>
              <a:t>Begin to analyze where the plan is failing and aim to solve these root causes while remaining transparent with customers. If still in a downward trend, begin to re-evaluate/redesign or determine if the app is still feasible or have talks of terminating the service. </a:t>
            </a:r>
          </a:p>
        </p:txBody>
      </p:sp>
      <p:sp>
        <p:nvSpPr>
          <p:cNvPr id="4" name="Slide Number Placeholder 3">
            <a:extLst>
              <a:ext uri="{FF2B5EF4-FFF2-40B4-BE49-F238E27FC236}">
                <a16:creationId xmlns:a16="http://schemas.microsoft.com/office/drawing/2014/main" id="{2CAA7C98-0865-88F3-9FAA-3BD864DDD5AD}"/>
              </a:ext>
            </a:extLst>
          </p:cNvPr>
          <p:cNvSpPr>
            <a:spLocks noGrp="1"/>
          </p:cNvSpPr>
          <p:nvPr>
            <p:ph type="sldNum" sz="quarter" idx="12"/>
          </p:nvPr>
        </p:nvSpPr>
        <p:spPr/>
        <p:txBody>
          <a:bodyPr/>
          <a:lstStyle/>
          <a:p>
            <a:fld id="{441E4A3E-16F6-FF44-B4DD-5D27CCED9977}" type="slidenum">
              <a:rPr lang="en-US" dirty="0" smtClean="0">
                <a:solidFill>
                  <a:schemeClr val="bg1"/>
                </a:solidFill>
              </a:rPr>
              <a:t>15</a:t>
            </a:fld>
            <a:endParaRPr lang="en-US">
              <a:solidFill>
                <a:schemeClr val="bg1"/>
              </a:solidFill>
            </a:endParaRPr>
          </a:p>
        </p:txBody>
      </p:sp>
    </p:spTree>
    <p:extLst>
      <p:ext uri="{BB962C8B-B14F-4D97-AF65-F5344CB8AC3E}">
        <p14:creationId xmlns:p14="http://schemas.microsoft.com/office/powerpoint/2010/main" val="935513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10000">
              <a:srgbClr val="C00000"/>
            </a:gs>
            <a:gs pos="99000">
              <a:schemeClr val="tx1"/>
            </a:gs>
          </a:gsLst>
          <a:path path="circle">
            <a:fillToRect l="100000" t="100000"/>
          </a:path>
        </a:gradFill>
        <a:effectLst/>
      </p:bgPr>
    </p:bg>
    <p:spTree>
      <p:nvGrpSpPr>
        <p:cNvPr id="1" name="">
          <a:extLst>
            <a:ext uri="{FF2B5EF4-FFF2-40B4-BE49-F238E27FC236}">
              <a16:creationId xmlns:a16="http://schemas.microsoft.com/office/drawing/2014/main" id="{7CDA1949-6347-048F-E8AC-16E82FFB766B}"/>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DD5F4F90-1850-A668-88D8-9A4A47E5D12B}"/>
              </a:ext>
            </a:extLst>
          </p:cNvPr>
          <p:cNvSpPr txBox="1">
            <a:spLocks/>
          </p:cNvSpPr>
          <p:nvPr/>
        </p:nvSpPr>
        <p:spPr>
          <a:xfrm>
            <a:off x="3869675" y="3594"/>
            <a:ext cx="4450318" cy="89319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r>
              <a:rPr lang="en-US" sz="4400" b="1">
                <a:solidFill>
                  <a:schemeClr val="bg1"/>
                </a:solidFill>
              </a:rPr>
              <a:t>Works Cited</a:t>
            </a:r>
            <a:endParaRPr lang="en-US"/>
          </a:p>
        </p:txBody>
      </p:sp>
      <p:sp>
        <p:nvSpPr>
          <p:cNvPr id="14" name="TextBox 13">
            <a:extLst>
              <a:ext uri="{FF2B5EF4-FFF2-40B4-BE49-F238E27FC236}">
                <a16:creationId xmlns:a16="http://schemas.microsoft.com/office/drawing/2014/main" id="{ABF3999B-4596-46D7-9B64-1721F0FD6432}"/>
              </a:ext>
            </a:extLst>
          </p:cNvPr>
          <p:cNvSpPr txBox="1"/>
          <p:nvPr/>
        </p:nvSpPr>
        <p:spPr>
          <a:xfrm>
            <a:off x="800214" y="955086"/>
            <a:ext cx="10594730" cy="42216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600">
              <a:solidFill>
                <a:schemeClr val="bg1"/>
              </a:solidFill>
            </a:endParaRPr>
          </a:p>
          <a:p>
            <a:pPr marL="285750" indent="-285750">
              <a:spcBef>
                <a:spcPts val="1000"/>
              </a:spcBef>
              <a:buFont typeface="Arial"/>
              <a:buChar char="•"/>
            </a:pPr>
            <a:r>
              <a:rPr lang="en-US" sz="1600">
                <a:solidFill>
                  <a:schemeClr val="bg1"/>
                </a:solidFill>
                <a:hlinkClick r:id="rId3">
                  <a:extLst>
                    <a:ext uri="{A12FA001-AC4F-418D-AE19-62706E023703}">
                      <ahyp:hlinkClr xmlns:ahyp="http://schemas.microsoft.com/office/drawing/2018/hyperlinkcolor" val="tx"/>
                    </a:ext>
                  </a:extLst>
                </a:hlinkClick>
              </a:rPr>
              <a:t>https://www.grandviewresearch.com/industry-analysis/online-food-delivery-market-report#:~:text=Delivery%20Industry%20Trends-,The%20online%20food%20delivery%20market%20in%20the%20U.S.%20is%20expected,scope%20beyond%20traditional%20restaurant%20meals</a:t>
            </a:r>
            <a:endParaRPr lang="en-US" sz="1600">
              <a:solidFill>
                <a:schemeClr val="bg1"/>
              </a:solidFill>
            </a:endParaRPr>
          </a:p>
          <a:p>
            <a:pPr marL="285750" indent="-285750">
              <a:spcBef>
                <a:spcPts val="1000"/>
              </a:spcBef>
              <a:buFont typeface="Arial"/>
              <a:buChar char="•"/>
            </a:pPr>
            <a:r>
              <a:rPr lang="en-US" sz="1600">
                <a:solidFill>
                  <a:schemeClr val="bg1"/>
                </a:solidFill>
                <a:ea typeface="+mn-lt"/>
                <a:cs typeface="+mn-lt"/>
                <a:hlinkClick r:id="rId4">
                  <a:extLst>
                    <a:ext uri="{A12FA001-AC4F-418D-AE19-62706E023703}">
                      <ahyp:hlinkClr xmlns:ahyp="http://schemas.microsoft.com/office/drawing/2018/hyperlinkcolor" val="tx"/>
                    </a:ext>
                  </a:extLst>
                </a:hlinkClick>
              </a:rPr>
              <a:t>https://www.statista.com/outlook/emo/online-food-delivery/united-states</a:t>
            </a:r>
            <a:endParaRPr lang="en-US" sz="1600">
              <a:solidFill>
                <a:schemeClr val="bg1"/>
              </a:solidFill>
            </a:endParaRPr>
          </a:p>
          <a:p>
            <a:pPr marL="285750" indent="-285750">
              <a:spcBef>
                <a:spcPts val="1000"/>
              </a:spcBef>
              <a:buFont typeface="Arial"/>
              <a:buChar char="•"/>
            </a:pPr>
            <a:r>
              <a:rPr lang="en-US" sz="1600">
                <a:solidFill>
                  <a:schemeClr val="bg1"/>
                </a:solidFill>
                <a:ea typeface="+mn-lt"/>
                <a:cs typeface="+mn-lt"/>
                <a:hlinkClick r:id="rId5">
                  <a:extLst>
                    <a:ext uri="{A12FA001-AC4F-418D-AE19-62706E023703}">
                      <ahyp:hlinkClr xmlns:ahyp="http://schemas.microsoft.com/office/drawing/2018/hyperlinkcolor" val="tx"/>
                    </a:ext>
                  </a:extLst>
                </a:hlinkClick>
              </a:rPr>
              <a:t>https://pmc.ncbi.nlm.nih.gov/articles/PMC10163566/</a:t>
            </a:r>
            <a:endParaRPr lang="en-US" sz="1600">
              <a:solidFill>
                <a:schemeClr val="bg1"/>
              </a:solidFill>
            </a:endParaRPr>
          </a:p>
          <a:p>
            <a:pPr marL="285750" indent="-285750">
              <a:spcBef>
                <a:spcPts val="1000"/>
              </a:spcBef>
              <a:buFont typeface="Arial"/>
              <a:buChar char="•"/>
            </a:pPr>
            <a:r>
              <a:rPr lang="en-US" sz="1600">
                <a:solidFill>
                  <a:schemeClr val="bg1"/>
                </a:solidFill>
                <a:ea typeface="+mn-lt"/>
                <a:cs typeface="+mn-lt"/>
                <a:hlinkClick r:id="rId6">
                  <a:extLst>
                    <a:ext uri="{A12FA001-AC4F-418D-AE19-62706E023703}">
                      <ahyp:hlinkClr xmlns:ahyp="http://schemas.microsoft.com/office/drawing/2018/hyperlinkcolor" val="tx"/>
                    </a:ext>
                  </a:extLst>
                </a:hlinkClick>
              </a:rPr>
              <a:t>https://ag.purdue.edu/news/2024/10/consumer-food-insights-report-highlights-increasing-use-of-food-ordering-apps.html</a:t>
            </a:r>
            <a:endParaRPr lang="en-US" sz="1600">
              <a:solidFill>
                <a:schemeClr val="bg1"/>
              </a:solidFill>
              <a:ea typeface="+mn-lt"/>
              <a:cs typeface="+mn-lt"/>
            </a:endParaRPr>
          </a:p>
          <a:p>
            <a:pPr marL="285750" indent="-285750">
              <a:spcBef>
                <a:spcPts val="1000"/>
              </a:spcBef>
              <a:buFont typeface="Arial"/>
              <a:buChar char="•"/>
            </a:pPr>
            <a:endParaRPr lang="en-US" sz="1600">
              <a:solidFill>
                <a:schemeClr val="bg1"/>
              </a:solidFill>
            </a:endParaRPr>
          </a:p>
          <a:p>
            <a:pPr marL="285750" indent="-285750">
              <a:spcBef>
                <a:spcPts val="1000"/>
              </a:spcBef>
              <a:buFont typeface="Arial"/>
              <a:buChar char="•"/>
            </a:pPr>
            <a:endParaRPr lang="en-US" sz="1600">
              <a:solidFill>
                <a:srgbClr val="FFFFFF"/>
              </a:solidFill>
            </a:endParaRPr>
          </a:p>
          <a:p>
            <a:pPr marL="342900" indent="-342900">
              <a:spcBef>
                <a:spcPts val="1000"/>
              </a:spcBef>
              <a:buFont typeface="Arial"/>
              <a:buChar char="•"/>
            </a:pPr>
            <a:endParaRPr lang="en-US" sz="1600">
              <a:solidFill>
                <a:srgbClr val="000000"/>
              </a:solidFill>
            </a:endParaRPr>
          </a:p>
          <a:p>
            <a:endParaRPr lang="en-US">
              <a:solidFill>
                <a:srgbClr val="FFFFFF"/>
              </a:solidFill>
            </a:endParaRPr>
          </a:p>
        </p:txBody>
      </p:sp>
    </p:spTree>
    <p:extLst>
      <p:ext uri="{BB962C8B-B14F-4D97-AF65-F5344CB8AC3E}">
        <p14:creationId xmlns:p14="http://schemas.microsoft.com/office/powerpoint/2010/main" val="2402848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102DA1231611544B7633ABC55414EFF" ma:contentTypeVersion="17" ma:contentTypeDescription="Create a new document." ma:contentTypeScope="" ma:versionID="5fa979140ce30341f4780377ce301feb">
  <xsd:schema xmlns:xsd="http://www.w3.org/2001/XMLSchema" xmlns:xs="http://www.w3.org/2001/XMLSchema" xmlns:p="http://schemas.microsoft.com/office/2006/metadata/properties" xmlns:ns2="113e35d5-149a-42d0-9759-7e4251ca70ae" xmlns:ns3="7ea28f75-b447-4008-abb1-f022e6a61489" targetNamespace="http://schemas.microsoft.com/office/2006/metadata/properties" ma:root="true" ma:fieldsID="47d8b4c5f05c57c39bcda140eb90ea8c" ns2:_="" ns3:_="">
    <xsd:import namespace="113e35d5-149a-42d0-9759-7e4251ca70ae"/>
    <xsd:import namespace="7ea28f75-b447-4008-abb1-f022e6a6148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EventHashCode" minOccurs="0"/>
                <xsd:element ref="ns2:MediaServiceGenerationTime" minOccurs="0"/>
                <xsd:element ref="ns2:MediaServiceAutoKeyPoints" minOccurs="0"/>
                <xsd:element ref="ns2:MediaServiceKeyPoints" minOccurs="0"/>
                <xsd:element ref="ns2:MediaServiceAutoTags" minOccurs="0"/>
                <xsd:element ref="ns2:MediaServiceOCR" minOccurs="0"/>
                <xsd:element ref="ns2:MediaServiceDateTaken" minOccurs="0"/>
                <xsd:element ref="ns2:lcf76f155ced4ddcb4097134ff3c332f" minOccurs="0"/>
                <xsd:element ref="ns3:TaxCatchAll" minOccurs="0"/>
                <xsd:element ref="ns2:MediaServiceObjectDetectorVersions"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3e35d5-149a-42d0-9759-7e4251ca70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f48fd182-3af3-4b45-858c-95346ee1bc1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ea28f75-b447-4008-abb1-f022e6a6148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94c75616-ecdf-4ec9-ad19-abf48ff25f01}" ma:internalName="TaxCatchAll" ma:showField="CatchAllData" ma:web="7ea28f75-b447-4008-abb1-f022e6a6148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ea28f75-b447-4008-abb1-f022e6a61489" xsi:nil="true"/>
    <lcf76f155ced4ddcb4097134ff3c332f xmlns="113e35d5-149a-42d0-9759-7e4251ca70a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2BB505C-CEAA-40E8-AFF4-437FB0789CDA}">
  <ds:schemaRefs>
    <ds:schemaRef ds:uri="113e35d5-149a-42d0-9759-7e4251ca70ae"/>
    <ds:schemaRef ds:uri="7ea28f75-b447-4008-abb1-f022e6a6148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6A7DB3E-142C-4786-A80C-1AB0CF4D5EEE}">
  <ds:schemaRefs>
    <ds:schemaRef ds:uri="http://schemas.microsoft.com/sharepoint/v3/contenttype/forms"/>
  </ds:schemaRefs>
</ds:datastoreItem>
</file>

<file path=customXml/itemProps3.xml><?xml version="1.0" encoding="utf-8"?>
<ds:datastoreItem xmlns:ds="http://schemas.openxmlformats.org/officeDocument/2006/customXml" ds:itemID="{42D89DAB-525B-4EC2-AAA8-A39E1068B097}">
  <ds:schemaRefs>
    <ds:schemaRef ds:uri="http://schemas.openxmlformats.org/package/2006/metadata/core-properties"/>
    <ds:schemaRef ds:uri="7ea28f75-b447-4008-abb1-f022e6a61489"/>
    <ds:schemaRef ds:uri="http://schemas.microsoft.com/office/2006/metadata/properties"/>
    <ds:schemaRef ds:uri="http://purl.org/dc/elements/1.1/"/>
    <ds:schemaRef ds:uri="http://www.w3.org/XML/1998/namespace"/>
    <ds:schemaRef ds:uri="113e35d5-149a-42d0-9759-7e4251ca70ae"/>
    <ds:schemaRef ds:uri="http://schemas.microsoft.com/office/2006/documentManagement/types"/>
    <ds:schemaRef ds:uri="http://schemas.microsoft.com/office/infopath/2007/PartnerControl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0</TotalTime>
  <Words>2094</Words>
  <Application>Microsoft Office PowerPoint</Application>
  <PresentationFormat>Widescreen</PresentationFormat>
  <Paragraphs>204</Paragraphs>
  <Slides>16</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Aptos Display</vt:lpstr>
      <vt:lpstr>Arial</vt:lpstr>
      <vt:lpstr>Arial,Sans-Serif</vt:lpstr>
      <vt:lpstr>Courier New</vt:lpstr>
      <vt:lpstr>Wingdings</vt:lpstr>
      <vt:lpstr>Office Theme</vt:lpstr>
      <vt:lpstr>Team 6: Scarlet Delivery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 Title</dc:title>
  <dc:creator>Maria Hall</dc:creator>
  <cp:lastModifiedBy>Wesley Huang</cp:lastModifiedBy>
  <cp:revision>1</cp:revision>
  <dcterms:created xsi:type="dcterms:W3CDTF">2024-09-24T14:53:54Z</dcterms:created>
  <dcterms:modified xsi:type="dcterms:W3CDTF">2026-04-21T21:49:07Z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0x010100E102DA1231611544B7633ABC55414EFF</vt:lpwstr>
  </property>
</Properties>
</file>