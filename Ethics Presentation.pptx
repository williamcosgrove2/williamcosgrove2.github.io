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3" r:id="rId1"/>
  </p:sldMasterIdLst>
  <p:notesMasterIdLst>
    <p:notesMasterId r:id="rId12"/>
  </p:notesMasterIdLst>
  <p:sldIdLst>
    <p:sldId id="256" r:id="rId2"/>
    <p:sldId id="258" r:id="rId3"/>
    <p:sldId id="257" r:id="rId4"/>
    <p:sldId id="259" r:id="rId5"/>
    <p:sldId id="260" r:id="rId6"/>
    <p:sldId id="261" r:id="rId7"/>
    <p:sldId id="264" r:id="rId8"/>
    <p:sldId id="262" r:id="rId9"/>
    <p:sldId id="266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D2E4628-4D0C-5444-B5D4-3B0D9890D362}" v="77" dt="2026-03-19T11:41:58.1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865"/>
    <p:restoredTop sz="94690"/>
  </p:normalViewPr>
  <p:slideViewPr>
    <p:cSldViewPr snapToGrid="0">
      <p:cViewPr varScale="1">
        <p:scale>
          <a:sx n="111" d="100"/>
          <a:sy n="111" d="100"/>
        </p:scale>
        <p:origin x="124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liam Cosgrove" userId="0e11072a-250b-4367-9615-18d434da277f" providerId="ADAL" clId="{5F9BF70D-05C6-5A27-BB17-1A392228E87D}"/>
    <pc:docChg chg="undo custSel addSld delSld modSld sldOrd">
      <pc:chgData name="William Cosgrove" userId="0e11072a-250b-4367-9615-18d434da277f" providerId="ADAL" clId="{5F9BF70D-05C6-5A27-BB17-1A392228E87D}" dt="2026-03-19T11:33:19.071" v="1995" actId="20577"/>
      <pc:docMkLst>
        <pc:docMk/>
      </pc:docMkLst>
      <pc:sldChg chg="modSp mod">
        <pc:chgData name="William Cosgrove" userId="0e11072a-250b-4367-9615-18d434da277f" providerId="ADAL" clId="{5F9BF70D-05C6-5A27-BB17-1A392228E87D}" dt="2026-03-18T17:38:37.755" v="1855" actId="20577"/>
        <pc:sldMkLst>
          <pc:docMk/>
          <pc:sldMk cId="1736584982" sldId="256"/>
        </pc:sldMkLst>
        <pc:spChg chg="mod">
          <ac:chgData name="William Cosgrove" userId="0e11072a-250b-4367-9615-18d434da277f" providerId="ADAL" clId="{5F9BF70D-05C6-5A27-BB17-1A392228E87D}" dt="2026-03-18T17:38:37.755" v="1855" actId="20577"/>
          <ac:spMkLst>
            <pc:docMk/>
            <pc:sldMk cId="1736584982" sldId="256"/>
            <ac:spMk id="2" creationId="{AD28BF7A-056C-15CD-BE52-BF907D09369D}"/>
          </ac:spMkLst>
        </pc:spChg>
      </pc:sldChg>
      <pc:sldChg chg="modSp mod">
        <pc:chgData name="William Cosgrove" userId="0e11072a-250b-4367-9615-18d434da277f" providerId="ADAL" clId="{5F9BF70D-05C6-5A27-BB17-1A392228E87D}" dt="2026-03-18T17:07:22.506" v="57" actId="20577"/>
        <pc:sldMkLst>
          <pc:docMk/>
          <pc:sldMk cId="406726761" sldId="257"/>
        </pc:sldMkLst>
        <pc:spChg chg="mod">
          <ac:chgData name="William Cosgrove" userId="0e11072a-250b-4367-9615-18d434da277f" providerId="ADAL" clId="{5F9BF70D-05C6-5A27-BB17-1A392228E87D}" dt="2026-03-18T17:07:22.506" v="57" actId="20577"/>
          <ac:spMkLst>
            <pc:docMk/>
            <pc:sldMk cId="406726761" sldId="257"/>
            <ac:spMk id="3" creationId="{D6B22A76-F755-1DE5-4644-EC388D37DFC3}"/>
          </ac:spMkLst>
        </pc:spChg>
        <pc:picChg chg="mod">
          <ac:chgData name="William Cosgrove" userId="0e11072a-250b-4367-9615-18d434da277f" providerId="ADAL" clId="{5F9BF70D-05C6-5A27-BB17-1A392228E87D}" dt="2026-03-18T17:07:00.003" v="16" actId="1076"/>
          <ac:picMkLst>
            <pc:docMk/>
            <pc:sldMk cId="406726761" sldId="257"/>
            <ac:picMk id="4098" creationId="{353E4889-EE1E-4AC5-5316-DC69351AB2A4}"/>
          </ac:picMkLst>
        </pc:picChg>
      </pc:sldChg>
      <pc:sldChg chg="modSp mod">
        <pc:chgData name="William Cosgrove" userId="0e11072a-250b-4367-9615-18d434da277f" providerId="ADAL" clId="{5F9BF70D-05C6-5A27-BB17-1A392228E87D}" dt="2026-03-18T17:07:31.338" v="66" actId="113"/>
        <pc:sldMkLst>
          <pc:docMk/>
          <pc:sldMk cId="412658019" sldId="259"/>
        </pc:sldMkLst>
        <pc:spChg chg="mod">
          <ac:chgData name="William Cosgrove" userId="0e11072a-250b-4367-9615-18d434da277f" providerId="ADAL" clId="{5F9BF70D-05C6-5A27-BB17-1A392228E87D}" dt="2026-03-18T17:07:31.338" v="66" actId="113"/>
          <ac:spMkLst>
            <pc:docMk/>
            <pc:sldMk cId="412658019" sldId="259"/>
            <ac:spMk id="3" creationId="{623782C3-7BCE-79AB-E831-8C5E683279E3}"/>
          </ac:spMkLst>
        </pc:spChg>
      </pc:sldChg>
      <pc:sldChg chg="modSp">
        <pc:chgData name="William Cosgrove" userId="0e11072a-250b-4367-9615-18d434da277f" providerId="ADAL" clId="{5F9BF70D-05C6-5A27-BB17-1A392228E87D}" dt="2026-03-18T17:23:07.639" v="675"/>
        <pc:sldMkLst>
          <pc:docMk/>
          <pc:sldMk cId="677299033" sldId="260"/>
        </pc:sldMkLst>
        <pc:graphicFrameChg chg="mod">
          <ac:chgData name="William Cosgrove" userId="0e11072a-250b-4367-9615-18d434da277f" providerId="ADAL" clId="{5F9BF70D-05C6-5A27-BB17-1A392228E87D}" dt="2026-03-18T17:23:07.639" v="675"/>
          <ac:graphicFrameMkLst>
            <pc:docMk/>
            <pc:sldMk cId="677299033" sldId="260"/>
            <ac:graphicFrameMk id="5" creationId="{6E5E9395-DAB0-4B0A-BCED-53A8CB550DC6}"/>
          </ac:graphicFrameMkLst>
        </pc:graphicFrameChg>
      </pc:sldChg>
      <pc:sldChg chg="addSp modSp mod ord setBg">
        <pc:chgData name="William Cosgrove" userId="0e11072a-250b-4367-9615-18d434da277f" providerId="ADAL" clId="{5F9BF70D-05C6-5A27-BB17-1A392228E87D}" dt="2026-03-18T17:35:06.254" v="1795" actId="26606"/>
        <pc:sldMkLst>
          <pc:docMk/>
          <pc:sldMk cId="65745834" sldId="261"/>
        </pc:sldMkLst>
        <pc:spChg chg="mod">
          <ac:chgData name="William Cosgrove" userId="0e11072a-250b-4367-9615-18d434da277f" providerId="ADAL" clId="{5F9BF70D-05C6-5A27-BB17-1A392228E87D}" dt="2026-03-18T17:35:06.254" v="1795" actId="26606"/>
          <ac:spMkLst>
            <pc:docMk/>
            <pc:sldMk cId="65745834" sldId="261"/>
            <ac:spMk id="2" creationId="{88559903-587B-79FF-FC83-B01A810A4834}"/>
          </ac:spMkLst>
        </pc:spChg>
        <pc:spChg chg="mod">
          <ac:chgData name="William Cosgrove" userId="0e11072a-250b-4367-9615-18d434da277f" providerId="ADAL" clId="{5F9BF70D-05C6-5A27-BB17-1A392228E87D}" dt="2026-03-18T17:35:06.254" v="1795" actId="26606"/>
          <ac:spMkLst>
            <pc:docMk/>
            <pc:sldMk cId="65745834" sldId="261"/>
            <ac:spMk id="3" creationId="{EBB5A9A7-C9A7-946B-E06B-1322A7734026}"/>
          </ac:spMkLst>
        </pc:spChg>
        <pc:spChg chg="add">
          <ac:chgData name="William Cosgrove" userId="0e11072a-250b-4367-9615-18d434da277f" providerId="ADAL" clId="{5F9BF70D-05C6-5A27-BB17-1A392228E87D}" dt="2026-03-18T17:35:06.254" v="1795" actId="26606"/>
          <ac:spMkLst>
            <pc:docMk/>
            <pc:sldMk cId="65745834" sldId="261"/>
            <ac:spMk id="2055" creationId="{AD1BDCCC-E676-2A7E-BE11-2B8C23DB287F}"/>
          </ac:spMkLst>
        </pc:spChg>
        <pc:spChg chg="add">
          <ac:chgData name="William Cosgrove" userId="0e11072a-250b-4367-9615-18d434da277f" providerId="ADAL" clId="{5F9BF70D-05C6-5A27-BB17-1A392228E87D}" dt="2026-03-18T17:35:06.254" v="1795" actId="26606"/>
          <ac:spMkLst>
            <pc:docMk/>
            <pc:sldMk cId="65745834" sldId="261"/>
            <ac:spMk id="2057" creationId="{781C97B1-8A09-6383-8C65-A3B73577816A}"/>
          </ac:spMkLst>
        </pc:spChg>
        <pc:picChg chg="add mod">
          <ac:chgData name="William Cosgrove" userId="0e11072a-250b-4367-9615-18d434da277f" providerId="ADAL" clId="{5F9BF70D-05C6-5A27-BB17-1A392228E87D}" dt="2026-03-18T17:35:06.254" v="1795" actId="26606"/>
          <ac:picMkLst>
            <pc:docMk/>
            <pc:sldMk cId="65745834" sldId="261"/>
            <ac:picMk id="2050" creationId="{DFEF161C-C12E-9776-2038-1005FA10C3D2}"/>
          </ac:picMkLst>
        </pc:picChg>
      </pc:sldChg>
      <pc:sldChg chg="addSp modSp mod setBg">
        <pc:chgData name="William Cosgrove" userId="0e11072a-250b-4367-9615-18d434da277f" providerId="ADAL" clId="{5F9BF70D-05C6-5A27-BB17-1A392228E87D}" dt="2026-03-18T17:35:45.259" v="1800" actId="26606"/>
        <pc:sldMkLst>
          <pc:docMk/>
          <pc:sldMk cId="3677754028" sldId="262"/>
        </pc:sldMkLst>
        <pc:spChg chg="mod">
          <ac:chgData name="William Cosgrove" userId="0e11072a-250b-4367-9615-18d434da277f" providerId="ADAL" clId="{5F9BF70D-05C6-5A27-BB17-1A392228E87D}" dt="2026-03-18T17:35:45.259" v="1800" actId="26606"/>
          <ac:spMkLst>
            <pc:docMk/>
            <pc:sldMk cId="3677754028" sldId="262"/>
            <ac:spMk id="2" creationId="{48173306-0E7B-5D16-486F-A47FB1E5768B}"/>
          </ac:spMkLst>
        </pc:spChg>
        <pc:spChg chg="mod">
          <ac:chgData name="William Cosgrove" userId="0e11072a-250b-4367-9615-18d434da277f" providerId="ADAL" clId="{5F9BF70D-05C6-5A27-BB17-1A392228E87D}" dt="2026-03-18T17:35:45.259" v="1800" actId="26606"/>
          <ac:spMkLst>
            <pc:docMk/>
            <pc:sldMk cId="3677754028" sldId="262"/>
            <ac:spMk id="3" creationId="{7D632EC9-79EC-0028-3927-6EA606FEF124}"/>
          </ac:spMkLst>
        </pc:spChg>
        <pc:spChg chg="add">
          <ac:chgData name="William Cosgrove" userId="0e11072a-250b-4367-9615-18d434da277f" providerId="ADAL" clId="{5F9BF70D-05C6-5A27-BB17-1A392228E87D}" dt="2026-03-18T17:35:45.259" v="1800" actId="26606"/>
          <ac:spMkLst>
            <pc:docMk/>
            <pc:sldMk cId="3677754028" sldId="262"/>
            <ac:spMk id="4103" creationId="{4065D9BE-A58D-6E8A-D4A2-5056F3C5E9CA}"/>
          </ac:spMkLst>
        </pc:spChg>
        <pc:spChg chg="add">
          <ac:chgData name="William Cosgrove" userId="0e11072a-250b-4367-9615-18d434da277f" providerId="ADAL" clId="{5F9BF70D-05C6-5A27-BB17-1A392228E87D}" dt="2026-03-18T17:35:45.259" v="1800" actId="26606"/>
          <ac:spMkLst>
            <pc:docMk/>
            <pc:sldMk cId="3677754028" sldId="262"/>
            <ac:spMk id="4105" creationId="{A745E793-BC99-8991-71CD-53FFBB6A8F69}"/>
          </ac:spMkLst>
        </pc:spChg>
        <pc:picChg chg="add mod">
          <ac:chgData name="William Cosgrove" userId="0e11072a-250b-4367-9615-18d434da277f" providerId="ADAL" clId="{5F9BF70D-05C6-5A27-BB17-1A392228E87D}" dt="2026-03-18T17:35:45.259" v="1800" actId="26606"/>
          <ac:picMkLst>
            <pc:docMk/>
            <pc:sldMk cId="3677754028" sldId="262"/>
            <ac:picMk id="4098" creationId="{D2BEFA47-5633-2B2A-BD98-84F060512852}"/>
          </ac:picMkLst>
        </pc:picChg>
      </pc:sldChg>
      <pc:sldChg chg="del">
        <pc:chgData name="William Cosgrove" userId="0e11072a-250b-4367-9615-18d434da277f" providerId="ADAL" clId="{5F9BF70D-05C6-5A27-BB17-1A392228E87D}" dt="2026-03-18T17:36:46.175" v="1804" actId="2696"/>
        <pc:sldMkLst>
          <pc:docMk/>
          <pc:sldMk cId="3005638661" sldId="263"/>
        </pc:sldMkLst>
      </pc:sldChg>
      <pc:sldChg chg="addSp modSp add mod ord setBg">
        <pc:chgData name="William Cosgrove" userId="0e11072a-250b-4367-9615-18d434da277f" providerId="ADAL" clId="{5F9BF70D-05C6-5A27-BB17-1A392228E87D}" dt="2026-03-19T11:30:40.194" v="1966" actId="113"/>
        <pc:sldMkLst>
          <pc:docMk/>
          <pc:sldMk cId="4294665853" sldId="264"/>
        </pc:sldMkLst>
        <pc:spChg chg="mod">
          <ac:chgData name="William Cosgrove" userId="0e11072a-250b-4367-9615-18d434da277f" providerId="ADAL" clId="{5F9BF70D-05C6-5A27-BB17-1A392228E87D}" dt="2026-03-18T17:35:26.760" v="1798" actId="26606"/>
          <ac:spMkLst>
            <pc:docMk/>
            <pc:sldMk cId="4294665853" sldId="264"/>
            <ac:spMk id="2" creationId="{16B2A327-90AE-5E1B-A4A2-0C2B54752485}"/>
          </ac:spMkLst>
        </pc:spChg>
        <pc:spChg chg="mod">
          <ac:chgData name="William Cosgrove" userId="0e11072a-250b-4367-9615-18d434da277f" providerId="ADAL" clId="{5F9BF70D-05C6-5A27-BB17-1A392228E87D}" dt="2026-03-19T11:30:40.194" v="1966" actId="113"/>
          <ac:spMkLst>
            <pc:docMk/>
            <pc:sldMk cId="4294665853" sldId="264"/>
            <ac:spMk id="3" creationId="{FA02688D-509D-C5B6-D177-2439E757F048}"/>
          </ac:spMkLst>
        </pc:spChg>
        <pc:spChg chg="add">
          <ac:chgData name="William Cosgrove" userId="0e11072a-250b-4367-9615-18d434da277f" providerId="ADAL" clId="{5F9BF70D-05C6-5A27-BB17-1A392228E87D}" dt="2026-03-18T17:35:26.760" v="1798" actId="26606"/>
          <ac:spMkLst>
            <pc:docMk/>
            <pc:sldMk cId="4294665853" sldId="264"/>
            <ac:spMk id="3079" creationId="{AD1BDCCC-E676-2A7E-BE11-2B8C23DB287F}"/>
          </ac:spMkLst>
        </pc:spChg>
        <pc:spChg chg="add">
          <ac:chgData name="William Cosgrove" userId="0e11072a-250b-4367-9615-18d434da277f" providerId="ADAL" clId="{5F9BF70D-05C6-5A27-BB17-1A392228E87D}" dt="2026-03-18T17:35:26.760" v="1798" actId="26606"/>
          <ac:spMkLst>
            <pc:docMk/>
            <pc:sldMk cId="4294665853" sldId="264"/>
            <ac:spMk id="3081" creationId="{781C97B1-8A09-6383-8C65-A3B73577816A}"/>
          </ac:spMkLst>
        </pc:spChg>
        <pc:picChg chg="add mod">
          <ac:chgData name="William Cosgrove" userId="0e11072a-250b-4367-9615-18d434da277f" providerId="ADAL" clId="{5F9BF70D-05C6-5A27-BB17-1A392228E87D}" dt="2026-03-18T17:35:26.760" v="1798" actId="26606"/>
          <ac:picMkLst>
            <pc:docMk/>
            <pc:sldMk cId="4294665853" sldId="264"/>
            <ac:picMk id="3074" creationId="{670E8524-E367-1836-9F69-3FF85A1973D1}"/>
          </ac:picMkLst>
        </pc:picChg>
      </pc:sldChg>
      <pc:sldChg chg="addSp delSp modSp new mod setBg">
        <pc:chgData name="William Cosgrove" userId="0e11072a-250b-4367-9615-18d434da277f" providerId="ADAL" clId="{5F9BF70D-05C6-5A27-BB17-1A392228E87D}" dt="2026-03-18T17:36:31.323" v="1803" actId="18131"/>
        <pc:sldMkLst>
          <pc:docMk/>
          <pc:sldMk cId="1514163816" sldId="265"/>
        </pc:sldMkLst>
        <pc:spChg chg="mod">
          <ac:chgData name="William Cosgrove" userId="0e11072a-250b-4367-9615-18d434da277f" providerId="ADAL" clId="{5F9BF70D-05C6-5A27-BB17-1A392228E87D}" dt="2026-03-18T17:36:23.657" v="1802" actId="26606"/>
          <ac:spMkLst>
            <pc:docMk/>
            <pc:sldMk cId="1514163816" sldId="265"/>
            <ac:spMk id="2" creationId="{3349BCD5-2363-8C0E-5965-A566783B456E}"/>
          </ac:spMkLst>
        </pc:spChg>
        <pc:spChg chg="add del mod">
          <ac:chgData name="William Cosgrove" userId="0e11072a-250b-4367-9615-18d434da277f" providerId="ADAL" clId="{5F9BF70D-05C6-5A27-BB17-1A392228E87D}" dt="2026-03-18T17:36:23.657" v="1802" actId="26606"/>
          <ac:spMkLst>
            <pc:docMk/>
            <pc:sldMk cId="1514163816" sldId="265"/>
            <ac:spMk id="3" creationId="{88F372EE-B323-5178-FEC0-FA8C29112F03}"/>
          </ac:spMkLst>
        </pc:spChg>
        <pc:spChg chg="add mod">
          <ac:chgData name="William Cosgrove" userId="0e11072a-250b-4367-9615-18d434da277f" providerId="ADAL" clId="{5F9BF70D-05C6-5A27-BB17-1A392228E87D}" dt="2026-03-18T17:28:30.258" v="1443"/>
          <ac:spMkLst>
            <pc:docMk/>
            <pc:sldMk cId="1514163816" sldId="265"/>
            <ac:spMk id="4" creationId="{A500FD85-E800-1465-ABFE-6A86A6DB2716}"/>
          </ac:spMkLst>
        </pc:spChg>
        <pc:spChg chg="add">
          <ac:chgData name="William Cosgrove" userId="0e11072a-250b-4367-9615-18d434da277f" providerId="ADAL" clId="{5F9BF70D-05C6-5A27-BB17-1A392228E87D}" dt="2026-03-18T17:36:23.657" v="1802" actId="26606"/>
          <ac:spMkLst>
            <pc:docMk/>
            <pc:sldMk cId="1514163816" sldId="265"/>
            <ac:spMk id="1032" creationId="{4065D9BE-A58D-6E8A-D4A2-5056F3C5E9CA}"/>
          </ac:spMkLst>
        </pc:spChg>
        <pc:spChg chg="add">
          <ac:chgData name="William Cosgrove" userId="0e11072a-250b-4367-9615-18d434da277f" providerId="ADAL" clId="{5F9BF70D-05C6-5A27-BB17-1A392228E87D}" dt="2026-03-18T17:36:23.657" v="1802" actId="26606"/>
          <ac:spMkLst>
            <pc:docMk/>
            <pc:sldMk cId="1514163816" sldId="265"/>
            <ac:spMk id="1034" creationId="{A745E793-BC99-8991-71CD-53FFBB6A8F69}"/>
          </ac:spMkLst>
        </pc:spChg>
        <pc:picChg chg="add mod">
          <ac:chgData name="William Cosgrove" userId="0e11072a-250b-4367-9615-18d434da277f" providerId="ADAL" clId="{5F9BF70D-05C6-5A27-BB17-1A392228E87D}" dt="2026-03-18T17:36:31.323" v="1803" actId="18131"/>
          <ac:picMkLst>
            <pc:docMk/>
            <pc:sldMk cId="1514163816" sldId="265"/>
            <ac:picMk id="1027" creationId="{C59E7805-F2A7-8A52-97D6-23A6C3D2C471}"/>
          </ac:picMkLst>
        </pc:picChg>
      </pc:sldChg>
      <pc:sldChg chg="add del">
        <pc:chgData name="William Cosgrove" userId="0e11072a-250b-4367-9615-18d434da277f" providerId="ADAL" clId="{5F9BF70D-05C6-5A27-BB17-1A392228E87D}" dt="2026-03-18T17:23:25.649" v="677" actId="2696"/>
        <pc:sldMkLst>
          <pc:docMk/>
          <pc:sldMk cId="3803137769" sldId="265"/>
        </pc:sldMkLst>
      </pc:sldChg>
      <pc:sldChg chg="addSp delSp modSp new mod setBg">
        <pc:chgData name="William Cosgrove" userId="0e11072a-250b-4367-9615-18d434da277f" providerId="ADAL" clId="{5F9BF70D-05C6-5A27-BB17-1A392228E87D}" dt="2026-03-19T11:33:19.071" v="1995" actId="20577"/>
        <pc:sldMkLst>
          <pc:docMk/>
          <pc:sldMk cId="696154522" sldId="266"/>
        </pc:sldMkLst>
        <pc:spChg chg="mod">
          <ac:chgData name="William Cosgrove" userId="0e11072a-250b-4367-9615-18d434da277f" providerId="ADAL" clId="{5F9BF70D-05C6-5A27-BB17-1A392228E87D}" dt="2026-03-19T11:33:08.439" v="1984" actId="26606"/>
          <ac:spMkLst>
            <pc:docMk/>
            <pc:sldMk cId="696154522" sldId="266"/>
            <ac:spMk id="2" creationId="{11220C36-15C3-4893-B9F7-C80E2164B8F5}"/>
          </ac:spMkLst>
        </pc:spChg>
        <pc:spChg chg="mod">
          <ac:chgData name="William Cosgrove" userId="0e11072a-250b-4367-9615-18d434da277f" providerId="ADAL" clId="{5F9BF70D-05C6-5A27-BB17-1A392228E87D}" dt="2026-03-19T11:33:19.071" v="1995" actId="20577"/>
          <ac:spMkLst>
            <pc:docMk/>
            <pc:sldMk cId="696154522" sldId="266"/>
            <ac:spMk id="3" creationId="{82AC98B8-3A65-5959-7D33-F7DF0683CE7D}"/>
          </ac:spMkLst>
        </pc:spChg>
        <pc:spChg chg="add">
          <ac:chgData name="William Cosgrove" userId="0e11072a-250b-4367-9615-18d434da277f" providerId="ADAL" clId="{5F9BF70D-05C6-5A27-BB17-1A392228E87D}" dt="2026-03-19T11:28:56.909" v="1877"/>
          <ac:spMkLst>
            <pc:docMk/>
            <pc:sldMk cId="696154522" sldId="266"/>
            <ac:spMk id="4" creationId="{C4F61A31-DE45-D7F7-0C25-C29BD4F6E55D}"/>
          </ac:spMkLst>
        </pc:spChg>
        <pc:spChg chg="add">
          <ac:chgData name="William Cosgrove" userId="0e11072a-250b-4367-9615-18d434da277f" providerId="ADAL" clId="{5F9BF70D-05C6-5A27-BB17-1A392228E87D}" dt="2026-03-19T11:28:59.730" v="1894"/>
          <ac:spMkLst>
            <pc:docMk/>
            <pc:sldMk cId="696154522" sldId="266"/>
            <ac:spMk id="5" creationId="{4928F6A8-BA14-0081-20FC-ED1381F8A306}"/>
          </ac:spMkLst>
        </pc:spChg>
        <pc:spChg chg="add del mod">
          <ac:chgData name="William Cosgrove" userId="0e11072a-250b-4367-9615-18d434da277f" providerId="ADAL" clId="{5F9BF70D-05C6-5A27-BB17-1A392228E87D}" dt="2026-03-19T11:29:25.226" v="1899" actId="478"/>
          <ac:spMkLst>
            <pc:docMk/>
            <pc:sldMk cId="696154522" sldId="266"/>
            <ac:spMk id="6" creationId="{774588EC-AB22-E337-1A40-2B9A05C83FDE}"/>
          </ac:spMkLst>
        </pc:spChg>
        <pc:spChg chg="add">
          <ac:chgData name="William Cosgrove" userId="0e11072a-250b-4367-9615-18d434da277f" providerId="ADAL" clId="{5F9BF70D-05C6-5A27-BB17-1A392228E87D}" dt="2026-03-19T11:33:08.439" v="1984" actId="26606"/>
          <ac:spMkLst>
            <pc:docMk/>
            <pc:sldMk cId="696154522" sldId="266"/>
            <ac:spMk id="5130" creationId="{34C0330F-1D4F-4552-B799-615DD237B6DE}"/>
          </ac:spMkLst>
        </pc:spChg>
        <pc:spChg chg="add">
          <ac:chgData name="William Cosgrove" userId="0e11072a-250b-4367-9615-18d434da277f" providerId="ADAL" clId="{5F9BF70D-05C6-5A27-BB17-1A392228E87D}" dt="2026-03-19T11:33:08.439" v="1984" actId="26606"/>
          <ac:spMkLst>
            <pc:docMk/>
            <pc:sldMk cId="696154522" sldId="266"/>
            <ac:spMk id="5132" creationId="{92BE0106-0C20-465B-A1BE-0BAC2737B1AD}"/>
          </ac:spMkLst>
        </pc:spChg>
        <pc:picChg chg="add mod">
          <ac:chgData name="William Cosgrove" userId="0e11072a-250b-4367-9615-18d434da277f" providerId="ADAL" clId="{5F9BF70D-05C6-5A27-BB17-1A392228E87D}" dt="2026-03-19T11:33:08.439" v="1984" actId="26606"/>
          <ac:picMkLst>
            <pc:docMk/>
            <pc:sldMk cId="696154522" sldId="266"/>
            <ac:picMk id="5125" creationId="{CEBC796A-4F05-80E1-DBE5-17FB8FB4DC1F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AAE8BC2-F12B-47A0-9C88-F487039C41A0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3B75BBC6-7BEA-4320-93D0-F586A6C6393E}">
      <dgm:prSet/>
      <dgm:spPr/>
      <dgm:t>
        <a:bodyPr/>
        <a:lstStyle/>
        <a:p>
          <a:r>
            <a:rPr lang="en-US" dirty="0"/>
            <a:t>Deception</a:t>
          </a:r>
        </a:p>
      </dgm:t>
    </dgm:pt>
    <dgm:pt modelId="{1B7A52EA-FD83-434D-86D9-B43F7D9311B6}" type="parTrans" cxnId="{D901B5B4-541D-42BE-B939-28FB4CC11DED}">
      <dgm:prSet/>
      <dgm:spPr/>
      <dgm:t>
        <a:bodyPr/>
        <a:lstStyle/>
        <a:p>
          <a:endParaRPr lang="en-US"/>
        </a:p>
      </dgm:t>
    </dgm:pt>
    <dgm:pt modelId="{170EE42D-B4BA-4F18-8FF5-847B06086285}" type="sibTrans" cxnId="{D901B5B4-541D-42BE-B939-28FB4CC11DED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68820817-A86F-476E-BD8C-C803A490141F}">
      <dgm:prSet/>
      <dgm:spPr/>
      <dgm:t>
        <a:bodyPr/>
        <a:lstStyle/>
        <a:p>
          <a:r>
            <a:rPr lang="en-US" dirty="0"/>
            <a:t>Exploitation of the lack of customer knowledge</a:t>
          </a:r>
        </a:p>
      </dgm:t>
    </dgm:pt>
    <dgm:pt modelId="{B59EC33E-980E-4415-BFBB-8332C0D1916D}" type="parTrans" cxnId="{EAA88143-D418-488F-8FE8-8657658B30B3}">
      <dgm:prSet/>
      <dgm:spPr/>
      <dgm:t>
        <a:bodyPr/>
        <a:lstStyle/>
        <a:p>
          <a:endParaRPr lang="en-US"/>
        </a:p>
      </dgm:t>
    </dgm:pt>
    <dgm:pt modelId="{2D9461DB-4EEC-4D1E-9B9D-773ED79C0E57}" type="sibTrans" cxnId="{EAA88143-D418-488F-8FE8-8657658B30B3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D75A1E86-CEA0-4CD9-82AE-8CCDB520DBF4}">
      <dgm:prSet/>
      <dgm:spPr/>
      <dgm:t>
        <a:bodyPr/>
        <a:lstStyle/>
        <a:p>
          <a:r>
            <a:rPr lang="en-US" dirty="0"/>
            <a:t>Deliberate business model built on misconduct</a:t>
          </a:r>
        </a:p>
      </dgm:t>
    </dgm:pt>
    <dgm:pt modelId="{FD16EC98-1506-406D-B66D-B542C2A4B769}" type="parTrans" cxnId="{AD074F37-DEC3-4020-B148-49CB6B474299}">
      <dgm:prSet/>
      <dgm:spPr/>
      <dgm:t>
        <a:bodyPr/>
        <a:lstStyle/>
        <a:p>
          <a:endParaRPr lang="en-US"/>
        </a:p>
      </dgm:t>
    </dgm:pt>
    <dgm:pt modelId="{099B8567-D335-4D08-B747-B0A7501D43F2}" type="sibTrans" cxnId="{AD074F37-DEC3-4020-B148-49CB6B474299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F96AF08B-E38D-4F8A-83AD-29ED99CF3766}">
      <dgm:prSet/>
      <dgm:spPr/>
      <dgm:t>
        <a:bodyPr/>
        <a:lstStyle/>
        <a:p>
          <a:r>
            <a:rPr lang="en-US" b="1"/>
            <a:t>Main issue: Brennan and FJS profited through deception and manipulation </a:t>
          </a:r>
          <a:endParaRPr lang="en-US"/>
        </a:p>
      </dgm:t>
    </dgm:pt>
    <dgm:pt modelId="{39F71F40-8B7D-4FEB-9A43-20917C04A32B}" type="parTrans" cxnId="{F8DCC907-F23A-4CE6-ABD9-F811A176261B}">
      <dgm:prSet/>
      <dgm:spPr/>
      <dgm:t>
        <a:bodyPr/>
        <a:lstStyle/>
        <a:p>
          <a:endParaRPr lang="en-US"/>
        </a:p>
      </dgm:t>
    </dgm:pt>
    <dgm:pt modelId="{5FCC2FE5-1A85-437F-9445-E845BFB50982}" type="sibTrans" cxnId="{F8DCC907-F23A-4CE6-ABD9-F811A176261B}">
      <dgm:prSet phldrT="04" phldr="0"/>
      <dgm:spPr/>
      <dgm:t>
        <a:bodyPr/>
        <a:lstStyle/>
        <a:p>
          <a:r>
            <a:rPr lang="en-US"/>
            <a:t>04</a:t>
          </a:r>
        </a:p>
      </dgm:t>
    </dgm:pt>
    <dgm:pt modelId="{4893F98C-C8CB-4F4E-BD5D-CB37348AC2DE}" type="pres">
      <dgm:prSet presAssocID="{5AAE8BC2-F12B-47A0-9C88-F487039C41A0}" presName="Name0" presStyleCnt="0">
        <dgm:presLayoutVars>
          <dgm:animLvl val="lvl"/>
          <dgm:resizeHandles val="exact"/>
        </dgm:presLayoutVars>
      </dgm:prSet>
      <dgm:spPr/>
    </dgm:pt>
    <dgm:pt modelId="{04E2B917-91B8-5545-8A9B-2DE41598C6DB}" type="pres">
      <dgm:prSet presAssocID="{3B75BBC6-7BEA-4320-93D0-F586A6C6393E}" presName="compositeNode" presStyleCnt="0">
        <dgm:presLayoutVars>
          <dgm:bulletEnabled val="1"/>
        </dgm:presLayoutVars>
      </dgm:prSet>
      <dgm:spPr/>
    </dgm:pt>
    <dgm:pt modelId="{F33178E7-C5DB-DA4B-9E34-7AD75BD37A10}" type="pres">
      <dgm:prSet presAssocID="{3B75BBC6-7BEA-4320-93D0-F586A6C6393E}" presName="bgRect" presStyleLbl="alignNode1" presStyleIdx="0" presStyleCnt="4"/>
      <dgm:spPr/>
    </dgm:pt>
    <dgm:pt modelId="{D446493E-5B85-D84A-B203-5C5F83AFFD2D}" type="pres">
      <dgm:prSet presAssocID="{170EE42D-B4BA-4F18-8FF5-847B06086285}" presName="sibTransNodeRect" presStyleLbl="alignNode1" presStyleIdx="0" presStyleCnt="4">
        <dgm:presLayoutVars>
          <dgm:chMax val="0"/>
          <dgm:bulletEnabled val="1"/>
        </dgm:presLayoutVars>
      </dgm:prSet>
      <dgm:spPr/>
    </dgm:pt>
    <dgm:pt modelId="{40428926-8F91-E846-BCBA-396DC3400D25}" type="pres">
      <dgm:prSet presAssocID="{3B75BBC6-7BEA-4320-93D0-F586A6C6393E}" presName="nodeRect" presStyleLbl="alignNode1" presStyleIdx="0" presStyleCnt="4">
        <dgm:presLayoutVars>
          <dgm:bulletEnabled val="1"/>
        </dgm:presLayoutVars>
      </dgm:prSet>
      <dgm:spPr/>
    </dgm:pt>
    <dgm:pt modelId="{1A7D35BF-4A01-744C-9041-FE72538B4A08}" type="pres">
      <dgm:prSet presAssocID="{170EE42D-B4BA-4F18-8FF5-847B06086285}" presName="sibTrans" presStyleCnt="0"/>
      <dgm:spPr/>
    </dgm:pt>
    <dgm:pt modelId="{889E5EFB-3EC8-D940-AB14-D898B71846BA}" type="pres">
      <dgm:prSet presAssocID="{68820817-A86F-476E-BD8C-C803A490141F}" presName="compositeNode" presStyleCnt="0">
        <dgm:presLayoutVars>
          <dgm:bulletEnabled val="1"/>
        </dgm:presLayoutVars>
      </dgm:prSet>
      <dgm:spPr/>
    </dgm:pt>
    <dgm:pt modelId="{5855458B-654E-7A46-954E-B6B3A854F230}" type="pres">
      <dgm:prSet presAssocID="{68820817-A86F-476E-BD8C-C803A490141F}" presName="bgRect" presStyleLbl="alignNode1" presStyleIdx="1" presStyleCnt="4"/>
      <dgm:spPr/>
    </dgm:pt>
    <dgm:pt modelId="{E2D7EB56-1E77-C943-AF5D-70ACED81A775}" type="pres">
      <dgm:prSet presAssocID="{2D9461DB-4EEC-4D1E-9B9D-773ED79C0E57}" presName="sibTransNodeRect" presStyleLbl="alignNode1" presStyleIdx="1" presStyleCnt="4">
        <dgm:presLayoutVars>
          <dgm:chMax val="0"/>
          <dgm:bulletEnabled val="1"/>
        </dgm:presLayoutVars>
      </dgm:prSet>
      <dgm:spPr/>
    </dgm:pt>
    <dgm:pt modelId="{9251F523-0EFD-2F4B-AB64-5BB50FD4905D}" type="pres">
      <dgm:prSet presAssocID="{68820817-A86F-476E-BD8C-C803A490141F}" presName="nodeRect" presStyleLbl="alignNode1" presStyleIdx="1" presStyleCnt="4">
        <dgm:presLayoutVars>
          <dgm:bulletEnabled val="1"/>
        </dgm:presLayoutVars>
      </dgm:prSet>
      <dgm:spPr/>
    </dgm:pt>
    <dgm:pt modelId="{A5E260F8-5095-DD43-A424-892AE1EF85DE}" type="pres">
      <dgm:prSet presAssocID="{2D9461DB-4EEC-4D1E-9B9D-773ED79C0E57}" presName="sibTrans" presStyleCnt="0"/>
      <dgm:spPr/>
    </dgm:pt>
    <dgm:pt modelId="{879F27ED-DB03-0946-99EF-DEA92F7B523F}" type="pres">
      <dgm:prSet presAssocID="{D75A1E86-CEA0-4CD9-82AE-8CCDB520DBF4}" presName="compositeNode" presStyleCnt="0">
        <dgm:presLayoutVars>
          <dgm:bulletEnabled val="1"/>
        </dgm:presLayoutVars>
      </dgm:prSet>
      <dgm:spPr/>
    </dgm:pt>
    <dgm:pt modelId="{B70DBAB7-3194-6C4B-8A2B-FE33882147DE}" type="pres">
      <dgm:prSet presAssocID="{D75A1E86-CEA0-4CD9-82AE-8CCDB520DBF4}" presName="bgRect" presStyleLbl="alignNode1" presStyleIdx="2" presStyleCnt="4"/>
      <dgm:spPr/>
    </dgm:pt>
    <dgm:pt modelId="{C0D822CE-D922-8B4D-B870-1CD7B16A243D}" type="pres">
      <dgm:prSet presAssocID="{099B8567-D335-4D08-B747-B0A7501D43F2}" presName="sibTransNodeRect" presStyleLbl="alignNode1" presStyleIdx="2" presStyleCnt="4">
        <dgm:presLayoutVars>
          <dgm:chMax val="0"/>
          <dgm:bulletEnabled val="1"/>
        </dgm:presLayoutVars>
      </dgm:prSet>
      <dgm:spPr/>
    </dgm:pt>
    <dgm:pt modelId="{254BCA1F-EC6E-044F-84AB-02BEFC22BD0B}" type="pres">
      <dgm:prSet presAssocID="{D75A1E86-CEA0-4CD9-82AE-8CCDB520DBF4}" presName="nodeRect" presStyleLbl="alignNode1" presStyleIdx="2" presStyleCnt="4">
        <dgm:presLayoutVars>
          <dgm:bulletEnabled val="1"/>
        </dgm:presLayoutVars>
      </dgm:prSet>
      <dgm:spPr/>
    </dgm:pt>
    <dgm:pt modelId="{22B78B15-F8C1-A74E-9E2F-086FC9DBFEAD}" type="pres">
      <dgm:prSet presAssocID="{099B8567-D335-4D08-B747-B0A7501D43F2}" presName="sibTrans" presStyleCnt="0"/>
      <dgm:spPr/>
    </dgm:pt>
    <dgm:pt modelId="{8B7D2D1E-F057-474A-AC80-816DC4D435BC}" type="pres">
      <dgm:prSet presAssocID="{F96AF08B-E38D-4F8A-83AD-29ED99CF3766}" presName="compositeNode" presStyleCnt="0">
        <dgm:presLayoutVars>
          <dgm:bulletEnabled val="1"/>
        </dgm:presLayoutVars>
      </dgm:prSet>
      <dgm:spPr/>
    </dgm:pt>
    <dgm:pt modelId="{A82EF55C-7B68-1346-ABCA-A6F04880E32D}" type="pres">
      <dgm:prSet presAssocID="{F96AF08B-E38D-4F8A-83AD-29ED99CF3766}" presName="bgRect" presStyleLbl="alignNode1" presStyleIdx="3" presStyleCnt="4"/>
      <dgm:spPr/>
    </dgm:pt>
    <dgm:pt modelId="{0855240D-5B3B-FD47-8E3E-E63E690E4802}" type="pres">
      <dgm:prSet presAssocID="{5FCC2FE5-1A85-437F-9445-E845BFB50982}" presName="sibTransNodeRect" presStyleLbl="alignNode1" presStyleIdx="3" presStyleCnt="4">
        <dgm:presLayoutVars>
          <dgm:chMax val="0"/>
          <dgm:bulletEnabled val="1"/>
        </dgm:presLayoutVars>
      </dgm:prSet>
      <dgm:spPr/>
    </dgm:pt>
    <dgm:pt modelId="{FE0A72EE-FCBF-494F-B0A0-AB93A38E9DBC}" type="pres">
      <dgm:prSet presAssocID="{F96AF08B-E38D-4F8A-83AD-29ED99CF3766}" presName="nodeRect" presStyleLbl="alignNode1" presStyleIdx="3" presStyleCnt="4">
        <dgm:presLayoutVars>
          <dgm:bulletEnabled val="1"/>
        </dgm:presLayoutVars>
      </dgm:prSet>
      <dgm:spPr/>
    </dgm:pt>
  </dgm:ptLst>
  <dgm:cxnLst>
    <dgm:cxn modelId="{E1DB3201-D8D3-114A-9F58-AA82008E969B}" type="presOf" srcId="{F96AF08B-E38D-4F8A-83AD-29ED99CF3766}" destId="{A82EF55C-7B68-1346-ABCA-A6F04880E32D}" srcOrd="0" destOrd="0" presId="urn:microsoft.com/office/officeart/2016/7/layout/LinearBlockProcessNumbered"/>
    <dgm:cxn modelId="{F8DCC907-F23A-4CE6-ABD9-F811A176261B}" srcId="{5AAE8BC2-F12B-47A0-9C88-F487039C41A0}" destId="{F96AF08B-E38D-4F8A-83AD-29ED99CF3766}" srcOrd="3" destOrd="0" parTransId="{39F71F40-8B7D-4FEB-9A43-20917C04A32B}" sibTransId="{5FCC2FE5-1A85-437F-9445-E845BFB50982}"/>
    <dgm:cxn modelId="{8278BC0D-C764-1343-A26F-0DF5B5A65CDD}" type="presOf" srcId="{D75A1E86-CEA0-4CD9-82AE-8CCDB520DBF4}" destId="{B70DBAB7-3194-6C4B-8A2B-FE33882147DE}" srcOrd="0" destOrd="0" presId="urn:microsoft.com/office/officeart/2016/7/layout/LinearBlockProcessNumbered"/>
    <dgm:cxn modelId="{37E4A919-260B-8942-827D-40F0D3B033D8}" type="presOf" srcId="{68820817-A86F-476E-BD8C-C803A490141F}" destId="{5855458B-654E-7A46-954E-B6B3A854F230}" srcOrd="0" destOrd="0" presId="urn:microsoft.com/office/officeart/2016/7/layout/LinearBlockProcessNumbered"/>
    <dgm:cxn modelId="{A4C6201F-93BC-1D4D-8723-F0206A28C819}" type="presOf" srcId="{D75A1E86-CEA0-4CD9-82AE-8CCDB520DBF4}" destId="{254BCA1F-EC6E-044F-84AB-02BEFC22BD0B}" srcOrd="1" destOrd="0" presId="urn:microsoft.com/office/officeart/2016/7/layout/LinearBlockProcessNumbered"/>
    <dgm:cxn modelId="{AD074F37-DEC3-4020-B148-49CB6B474299}" srcId="{5AAE8BC2-F12B-47A0-9C88-F487039C41A0}" destId="{D75A1E86-CEA0-4CD9-82AE-8CCDB520DBF4}" srcOrd="2" destOrd="0" parTransId="{FD16EC98-1506-406D-B66D-B542C2A4B769}" sibTransId="{099B8567-D335-4D08-B747-B0A7501D43F2}"/>
    <dgm:cxn modelId="{ABDA1F40-E236-2944-BFBF-4095EBF417A4}" type="presOf" srcId="{170EE42D-B4BA-4F18-8FF5-847B06086285}" destId="{D446493E-5B85-D84A-B203-5C5F83AFFD2D}" srcOrd="0" destOrd="0" presId="urn:microsoft.com/office/officeart/2016/7/layout/LinearBlockProcessNumbered"/>
    <dgm:cxn modelId="{EAA88143-D418-488F-8FE8-8657658B30B3}" srcId="{5AAE8BC2-F12B-47A0-9C88-F487039C41A0}" destId="{68820817-A86F-476E-BD8C-C803A490141F}" srcOrd="1" destOrd="0" parTransId="{B59EC33E-980E-4415-BFBB-8332C0D1916D}" sibTransId="{2D9461DB-4EEC-4D1E-9B9D-773ED79C0E57}"/>
    <dgm:cxn modelId="{A1652E4A-6CA4-194F-9A19-323A97F7B5C6}" type="presOf" srcId="{3B75BBC6-7BEA-4320-93D0-F586A6C6393E}" destId="{40428926-8F91-E846-BCBA-396DC3400D25}" srcOrd="1" destOrd="0" presId="urn:microsoft.com/office/officeart/2016/7/layout/LinearBlockProcessNumbered"/>
    <dgm:cxn modelId="{F86E4E4B-09B0-2B41-AF64-EC6162E17024}" type="presOf" srcId="{68820817-A86F-476E-BD8C-C803A490141F}" destId="{9251F523-0EFD-2F4B-AB64-5BB50FD4905D}" srcOrd="1" destOrd="0" presId="urn:microsoft.com/office/officeart/2016/7/layout/LinearBlockProcessNumbered"/>
    <dgm:cxn modelId="{F6655976-AD72-EF4C-8A2D-445F3FC92B3C}" type="presOf" srcId="{3B75BBC6-7BEA-4320-93D0-F586A6C6393E}" destId="{F33178E7-C5DB-DA4B-9E34-7AD75BD37A10}" srcOrd="0" destOrd="0" presId="urn:microsoft.com/office/officeart/2016/7/layout/LinearBlockProcessNumbered"/>
    <dgm:cxn modelId="{86EC9584-1242-A148-9277-65F47AAED628}" type="presOf" srcId="{F96AF08B-E38D-4F8A-83AD-29ED99CF3766}" destId="{FE0A72EE-FCBF-494F-B0A0-AB93A38E9DBC}" srcOrd="1" destOrd="0" presId="urn:microsoft.com/office/officeart/2016/7/layout/LinearBlockProcessNumbered"/>
    <dgm:cxn modelId="{BB8C6488-4223-7C4F-A9D6-E164D6842CFF}" type="presOf" srcId="{099B8567-D335-4D08-B747-B0A7501D43F2}" destId="{C0D822CE-D922-8B4D-B870-1CD7B16A243D}" srcOrd="0" destOrd="0" presId="urn:microsoft.com/office/officeart/2016/7/layout/LinearBlockProcessNumbered"/>
    <dgm:cxn modelId="{71DFF688-86C1-1043-8DE3-B60B397199DA}" type="presOf" srcId="{5FCC2FE5-1A85-437F-9445-E845BFB50982}" destId="{0855240D-5B3B-FD47-8E3E-E63E690E4802}" srcOrd="0" destOrd="0" presId="urn:microsoft.com/office/officeart/2016/7/layout/LinearBlockProcessNumbered"/>
    <dgm:cxn modelId="{BC670CB3-0A31-064F-8140-C74B47B42B77}" type="presOf" srcId="{2D9461DB-4EEC-4D1E-9B9D-773ED79C0E57}" destId="{E2D7EB56-1E77-C943-AF5D-70ACED81A775}" srcOrd="0" destOrd="0" presId="urn:microsoft.com/office/officeart/2016/7/layout/LinearBlockProcessNumbered"/>
    <dgm:cxn modelId="{D901B5B4-541D-42BE-B939-28FB4CC11DED}" srcId="{5AAE8BC2-F12B-47A0-9C88-F487039C41A0}" destId="{3B75BBC6-7BEA-4320-93D0-F586A6C6393E}" srcOrd="0" destOrd="0" parTransId="{1B7A52EA-FD83-434D-86D9-B43F7D9311B6}" sibTransId="{170EE42D-B4BA-4F18-8FF5-847B06086285}"/>
    <dgm:cxn modelId="{301BD9FE-67EC-F646-A67B-46222B504DDB}" type="presOf" srcId="{5AAE8BC2-F12B-47A0-9C88-F487039C41A0}" destId="{4893F98C-C8CB-4F4E-BD5D-CB37348AC2DE}" srcOrd="0" destOrd="0" presId="urn:microsoft.com/office/officeart/2016/7/layout/LinearBlockProcessNumbered"/>
    <dgm:cxn modelId="{6AFA32E6-4600-A041-BD5C-858B30444E94}" type="presParOf" srcId="{4893F98C-C8CB-4F4E-BD5D-CB37348AC2DE}" destId="{04E2B917-91B8-5545-8A9B-2DE41598C6DB}" srcOrd="0" destOrd="0" presId="urn:microsoft.com/office/officeart/2016/7/layout/LinearBlockProcessNumbered"/>
    <dgm:cxn modelId="{57757EFF-9F55-1A44-B183-F567EF4759E5}" type="presParOf" srcId="{04E2B917-91B8-5545-8A9B-2DE41598C6DB}" destId="{F33178E7-C5DB-DA4B-9E34-7AD75BD37A10}" srcOrd="0" destOrd="0" presId="urn:microsoft.com/office/officeart/2016/7/layout/LinearBlockProcessNumbered"/>
    <dgm:cxn modelId="{4C124D02-093A-C344-B7D7-4F59DCA494A6}" type="presParOf" srcId="{04E2B917-91B8-5545-8A9B-2DE41598C6DB}" destId="{D446493E-5B85-D84A-B203-5C5F83AFFD2D}" srcOrd="1" destOrd="0" presId="urn:microsoft.com/office/officeart/2016/7/layout/LinearBlockProcessNumbered"/>
    <dgm:cxn modelId="{554A16A2-76F1-E443-9233-2DD006556470}" type="presParOf" srcId="{04E2B917-91B8-5545-8A9B-2DE41598C6DB}" destId="{40428926-8F91-E846-BCBA-396DC3400D25}" srcOrd="2" destOrd="0" presId="urn:microsoft.com/office/officeart/2016/7/layout/LinearBlockProcessNumbered"/>
    <dgm:cxn modelId="{AEC0EC7D-F12B-684D-AFD5-29E369FF9471}" type="presParOf" srcId="{4893F98C-C8CB-4F4E-BD5D-CB37348AC2DE}" destId="{1A7D35BF-4A01-744C-9041-FE72538B4A08}" srcOrd="1" destOrd="0" presId="urn:microsoft.com/office/officeart/2016/7/layout/LinearBlockProcessNumbered"/>
    <dgm:cxn modelId="{6C1E1BD7-ED9C-FE4E-8670-456C27F52C1C}" type="presParOf" srcId="{4893F98C-C8CB-4F4E-BD5D-CB37348AC2DE}" destId="{889E5EFB-3EC8-D940-AB14-D898B71846BA}" srcOrd="2" destOrd="0" presId="urn:microsoft.com/office/officeart/2016/7/layout/LinearBlockProcessNumbered"/>
    <dgm:cxn modelId="{2D349985-A5C7-AE43-AB90-7A712E11C3B8}" type="presParOf" srcId="{889E5EFB-3EC8-D940-AB14-D898B71846BA}" destId="{5855458B-654E-7A46-954E-B6B3A854F230}" srcOrd="0" destOrd="0" presId="urn:microsoft.com/office/officeart/2016/7/layout/LinearBlockProcessNumbered"/>
    <dgm:cxn modelId="{77C571B9-6B9E-264E-989B-77363787E724}" type="presParOf" srcId="{889E5EFB-3EC8-D940-AB14-D898B71846BA}" destId="{E2D7EB56-1E77-C943-AF5D-70ACED81A775}" srcOrd="1" destOrd="0" presId="urn:microsoft.com/office/officeart/2016/7/layout/LinearBlockProcessNumbered"/>
    <dgm:cxn modelId="{B9035F0E-55B7-A049-8EEB-F6F52B495A23}" type="presParOf" srcId="{889E5EFB-3EC8-D940-AB14-D898B71846BA}" destId="{9251F523-0EFD-2F4B-AB64-5BB50FD4905D}" srcOrd="2" destOrd="0" presId="urn:microsoft.com/office/officeart/2016/7/layout/LinearBlockProcessNumbered"/>
    <dgm:cxn modelId="{BAFFD32C-1C74-FA4E-B707-2494A1CFC135}" type="presParOf" srcId="{4893F98C-C8CB-4F4E-BD5D-CB37348AC2DE}" destId="{A5E260F8-5095-DD43-A424-892AE1EF85DE}" srcOrd="3" destOrd="0" presId="urn:microsoft.com/office/officeart/2016/7/layout/LinearBlockProcessNumbered"/>
    <dgm:cxn modelId="{9053C5E8-0D43-F640-BCA0-EFB181CDB5FB}" type="presParOf" srcId="{4893F98C-C8CB-4F4E-BD5D-CB37348AC2DE}" destId="{879F27ED-DB03-0946-99EF-DEA92F7B523F}" srcOrd="4" destOrd="0" presId="urn:microsoft.com/office/officeart/2016/7/layout/LinearBlockProcessNumbered"/>
    <dgm:cxn modelId="{CF886CC4-F04B-934C-B5E3-4E550FC5A3A4}" type="presParOf" srcId="{879F27ED-DB03-0946-99EF-DEA92F7B523F}" destId="{B70DBAB7-3194-6C4B-8A2B-FE33882147DE}" srcOrd="0" destOrd="0" presId="urn:microsoft.com/office/officeart/2016/7/layout/LinearBlockProcessNumbered"/>
    <dgm:cxn modelId="{42DD03AE-9B13-A940-B224-A1916900751C}" type="presParOf" srcId="{879F27ED-DB03-0946-99EF-DEA92F7B523F}" destId="{C0D822CE-D922-8B4D-B870-1CD7B16A243D}" srcOrd="1" destOrd="0" presId="urn:microsoft.com/office/officeart/2016/7/layout/LinearBlockProcessNumbered"/>
    <dgm:cxn modelId="{78F25C5F-6DA9-554E-99E0-E5BD160940A3}" type="presParOf" srcId="{879F27ED-DB03-0946-99EF-DEA92F7B523F}" destId="{254BCA1F-EC6E-044F-84AB-02BEFC22BD0B}" srcOrd="2" destOrd="0" presId="urn:microsoft.com/office/officeart/2016/7/layout/LinearBlockProcessNumbered"/>
    <dgm:cxn modelId="{AB1A1776-D428-A14F-8240-031703BF622A}" type="presParOf" srcId="{4893F98C-C8CB-4F4E-BD5D-CB37348AC2DE}" destId="{22B78B15-F8C1-A74E-9E2F-086FC9DBFEAD}" srcOrd="5" destOrd="0" presId="urn:microsoft.com/office/officeart/2016/7/layout/LinearBlockProcessNumbered"/>
    <dgm:cxn modelId="{A1148698-1EBE-D441-BD16-53BDAB1D51AC}" type="presParOf" srcId="{4893F98C-C8CB-4F4E-BD5D-CB37348AC2DE}" destId="{8B7D2D1E-F057-474A-AC80-816DC4D435BC}" srcOrd="6" destOrd="0" presId="urn:microsoft.com/office/officeart/2016/7/layout/LinearBlockProcessNumbered"/>
    <dgm:cxn modelId="{2A65A637-57CF-7343-86DE-F183C8E6B1C8}" type="presParOf" srcId="{8B7D2D1E-F057-474A-AC80-816DC4D435BC}" destId="{A82EF55C-7B68-1346-ABCA-A6F04880E32D}" srcOrd="0" destOrd="0" presId="urn:microsoft.com/office/officeart/2016/7/layout/LinearBlockProcessNumbered"/>
    <dgm:cxn modelId="{7B04E344-C822-2048-9387-BBD1B6ADEDD7}" type="presParOf" srcId="{8B7D2D1E-F057-474A-AC80-816DC4D435BC}" destId="{0855240D-5B3B-FD47-8E3E-E63E690E4802}" srcOrd="1" destOrd="0" presId="urn:microsoft.com/office/officeart/2016/7/layout/LinearBlockProcessNumbered"/>
    <dgm:cxn modelId="{9A4A3C4F-12B4-4245-BB1E-8F6CD2323453}" type="presParOf" srcId="{8B7D2D1E-F057-474A-AC80-816DC4D435BC}" destId="{FE0A72EE-FCBF-494F-B0A0-AB93A38E9DBC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3178E7-C5DB-DA4B-9E34-7AD75BD37A10}">
      <dsp:nvSpPr>
        <dsp:cNvPr id="0" name=""/>
        <dsp:cNvSpPr/>
      </dsp:nvSpPr>
      <dsp:spPr>
        <a:xfrm>
          <a:off x="217" y="304816"/>
          <a:ext cx="2631253" cy="315750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9909" tIns="0" rIns="259909" bIns="33020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Deception</a:t>
          </a:r>
        </a:p>
      </dsp:txBody>
      <dsp:txXfrm>
        <a:off x="217" y="1567818"/>
        <a:ext cx="2631253" cy="1894502"/>
      </dsp:txXfrm>
    </dsp:sp>
    <dsp:sp modelId="{D446493E-5B85-D84A-B203-5C5F83AFFD2D}">
      <dsp:nvSpPr>
        <dsp:cNvPr id="0" name=""/>
        <dsp:cNvSpPr/>
      </dsp:nvSpPr>
      <dsp:spPr>
        <a:xfrm>
          <a:off x="217" y="304816"/>
          <a:ext cx="2631253" cy="1263001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9909" tIns="165100" rIns="259909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01</a:t>
          </a:r>
        </a:p>
      </dsp:txBody>
      <dsp:txXfrm>
        <a:off x="217" y="304816"/>
        <a:ext cx="2631253" cy="1263001"/>
      </dsp:txXfrm>
    </dsp:sp>
    <dsp:sp modelId="{5855458B-654E-7A46-954E-B6B3A854F230}">
      <dsp:nvSpPr>
        <dsp:cNvPr id="0" name=""/>
        <dsp:cNvSpPr/>
      </dsp:nvSpPr>
      <dsp:spPr>
        <a:xfrm>
          <a:off x="2841971" y="304816"/>
          <a:ext cx="2631253" cy="315750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9909" tIns="0" rIns="259909" bIns="33020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Exploitation of the lack of customer knowledge</a:t>
          </a:r>
        </a:p>
      </dsp:txBody>
      <dsp:txXfrm>
        <a:off x="2841971" y="1567818"/>
        <a:ext cx="2631253" cy="1894502"/>
      </dsp:txXfrm>
    </dsp:sp>
    <dsp:sp modelId="{E2D7EB56-1E77-C943-AF5D-70ACED81A775}">
      <dsp:nvSpPr>
        <dsp:cNvPr id="0" name=""/>
        <dsp:cNvSpPr/>
      </dsp:nvSpPr>
      <dsp:spPr>
        <a:xfrm>
          <a:off x="2841971" y="304816"/>
          <a:ext cx="2631253" cy="1263001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9909" tIns="165100" rIns="259909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02</a:t>
          </a:r>
        </a:p>
      </dsp:txBody>
      <dsp:txXfrm>
        <a:off x="2841971" y="304816"/>
        <a:ext cx="2631253" cy="1263001"/>
      </dsp:txXfrm>
    </dsp:sp>
    <dsp:sp modelId="{B70DBAB7-3194-6C4B-8A2B-FE33882147DE}">
      <dsp:nvSpPr>
        <dsp:cNvPr id="0" name=""/>
        <dsp:cNvSpPr/>
      </dsp:nvSpPr>
      <dsp:spPr>
        <a:xfrm>
          <a:off x="5683725" y="304816"/>
          <a:ext cx="2631253" cy="315750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9909" tIns="0" rIns="259909" bIns="33020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Deliberate business model built on misconduct</a:t>
          </a:r>
        </a:p>
      </dsp:txBody>
      <dsp:txXfrm>
        <a:off x="5683725" y="1567818"/>
        <a:ext cx="2631253" cy="1894502"/>
      </dsp:txXfrm>
    </dsp:sp>
    <dsp:sp modelId="{C0D822CE-D922-8B4D-B870-1CD7B16A243D}">
      <dsp:nvSpPr>
        <dsp:cNvPr id="0" name=""/>
        <dsp:cNvSpPr/>
      </dsp:nvSpPr>
      <dsp:spPr>
        <a:xfrm>
          <a:off x="5683725" y="304816"/>
          <a:ext cx="2631253" cy="1263001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9909" tIns="165100" rIns="259909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03</a:t>
          </a:r>
        </a:p>
      </dsp:txBody>
      <dsp:txXfrm>
        <a:off x="5683725" y="304816"/>
        <a:ext cx="2631253" cy="1263001"/>
      </dsp:txXfrm>
    </dsp:sp>
    <dsp:sp modelId="{A82EF55C-7B68-1346-ABCA-A6F04880E32D}">
      <dsp:nvSpPr>
        <dsp:cNvPr id="0" name=""/>
        <dsp:cNvSpPr/>
      </dsp:nvSpPr>
      <dsp:spPr>
        <a:xfrm>
          <a:off x="8525478" y="304816"/>
          <a:ext cx="2631253" cy="315750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9909" tIns="0" rIns="259909" bIns="330200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Main issue: Brennan and FJS profited through deception and manipulation </a:t>
          </a:r>
          <a:endParaRPr lang="en-US" sz="2200" kern="1200"/>
        </a:p>
      </dsp:txBody>
      <dsp:txXfrm>
        <a:off x="8525478" y="1567818"/>
        <a:ext cx="2631253" cy="1894502"/>
      </dsp:txXfrm>
    </dsp:sp>
    <dsp:sp modelId="{0855240D-5B3B-FD47-8E3E-E63E690E4802}">
      <dsp:nvSpPr>
        <dsp:cNvPr id="0" name=""/>
        <dsp:cNvSpPr/>
      </dsp:nvSpPr>
      <dsp:spPr>
        <a:xfrm>
          <a:off x="8525478" y="304816"/>
          <a:ext cx="2631253" cy="1263001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9909" tIns="165100" rIns="259909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04</a:t>
          </a:r>
        </a:p>
      </dsp:txBody>
      <dsp:txXfrm>
        <a:off x="8525478" y="304816"/>
        <a:ext cx="2631253" cy="126300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387618-7C41-9846-8200-91DF9D6C5DDF}" type="datetimeFigureOut">
              <a:rPr lang="en-US" smtClean="0"/>
              <a:t>3/18/26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FB7BE9-9147-3E4D-A63E-30FE88808C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5560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FB7BE9-9147-3E4D-A63E-30FE88808CE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4621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9A99D-7483-DE33-F7D1-FDC658FB9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ACB5CB-925C-A631-AD15-60C91A6D64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E7CE50-BA07-615E-62F8-54B2890F2B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DC4D52-0E0B-C225-C1C9-B4734F59E2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FB7BE9-9147-3E4D-A63E-30FE88808CE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079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469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233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0799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01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3/18/26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984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3/18/26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937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3/18/26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0461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545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3/18/26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183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976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3/18/26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2870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3/18/26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994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72" r:id="rId6"/>
    <p:sldLayoutId id="2147483667" r:id="rId7"/>
    <p:sldLayoutId id="2147483668" r:id="rId8"/>
    <p:sldLayoutId id="2147483669" r:id="rId9"/>
    <p:sldLayoutId id="2147483671" r:id="rId10"/>
    <p:sldLayoutId id="2147483670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67A7C490-FB0D-4946-BDB7-1CF2F58DAE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28BF7A-056C-15CD-BE52-BF907D0936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8"/>
            <a:ext cx="6117661" cy="3047327"/>
          </a:xfrm>
        </p:spPr>
        <p:txBody>
          <a:bodyPr anchor="t">
            <a:normAutofit/>
          </a:bodyPr>
          <a:lstStyle/>
          <a:p>
            <a:r>
              <a:rPr lang="en-US" sz="6100" dirty="0"/>
              <a:t>Robert Brennan – First Jersey Securities </a:t>
            </a:r>
            <a:r>
              <a:rPr lang="en-US" sz="2700" dirty="0"/>
              <a:t>(1995-2001)</a:t>
            </a:r>
            <a:endParaRPr lang="en-US" sz="61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5B2185-D064-4033-E2DD-6DC6C4CBE7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7870" y="4482450"/>
            <a:ext cx="6141545" cy="1724029"/>
          </a:xfrm>
        </p:spPr>
        <p:txBody>
          <a:bodyPr anchor="t">
            <a:normAutofit/>
          </a:bodyPr>
          <a:lstStyle/>
          <a:p>
            <a:r>
              <a:rPr lang="en-US" dirty="0"/>
              <a:t>William Cosgrove</a:t>
            </a:r>
          </a:p>
        </p:txBody>
      </p:sp>
      <p:sp>
        <p:nvSpPr>
          <p:cNvPr id="1033" name="Rectangle 1032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61264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A person walking in front of a white building&#10;&#10;AI-generated content may be incorrect.">
            <a:extLst>
              <a:ext uri="{FF2B5EF4-FFF2-40B4-BE49-F238E27FC236}">
                <a16:creationId xmlns:a16="http://schemas.microsoft.com/office/drawing/2014/main" id="{EA00722E-0DF7-4363-7ACB-42820E35869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46" t="5787" r="6841" b="6918"/>
          <a:stretch>
            <a:fillRect/>
          </a:stretch>
        </p:blipFill>
        <p:spPr bwMode="auto">
          <a:xfrm>
            <a:off x="7464427" y="657369"/>
            <a:ext cx="4037043" cy="53877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5" name="Rectangle 1034">
            <a:extLst>
              <a:ext uri="{FF2B5EF4-FFF2-40B4-BE49-F238E27FC236}">
                <a16:creationId xmlns:a16="http://schemas.microsoft.com/office/drawing/2014/main" id="{F261CD1D-C921-4DD4-B856-8EA1D71A4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49513" y="6209925"/>
            <a:ext cx="4454723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5849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4908"/>
    </mc:Choice>
    <mc:Fallback>
      <p:transition spd="slow" advTm="24908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457B89-FE05-2B54-94B0-22ABC21F5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34C0330F-1D4F-4552-B799-615DD237B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5B08AB-2E8D-5FA6-7245-4712C50D5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754880" cy="1463040"/>
          </a:xfrm>
        </p:spPr>
        <p:txBody>
          <a:bodyPr>
            <a:normAutofit/>
          </a:bodyPr>
          <a:lstStyle/>
          <a:p>
            <a:r>
              <a:rPr lang="en-US" dirty="0"/>
              <a:t>How the Business Worked</a:t>
            </a:r>
          </a:p>
        </p:txBody>
      </p:sp>
      <p:sp>
        <p:nvSpPr>
          <p:cNvPr id="3081" name="Rectangle 3080">
            <a:extLst>
              <a:ext uri="{FF2B5EF4-FFF2-40B4-BE49-F238E27FC236}">
                <a16:creationId xmlns:a16="http://schemas.microsoft.com/office/drawing/2014/main" id="{92BE0106-0C20-465B-A1BE-0BAC2737B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1" y="508090"/>
            <a:ext cx="4672966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602FB8-2002-1897-1397-AD0D59FE26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4672584" cy="3767328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US" sz="1700" b="1"/>
              <a:t>Robert Brennan</a:t>
            </a:r>
            <a:r>
              <a:rPr lang="en-US" sz="1700"/>
              <a:t>: founder and CEO of First Jersey Securities</a:t>
            </a:r>
          </a:p>
          <a:p>
            <a:pPr lvl="1">
              <a:lnSpc>
                <a:spcPct val="100000"/>
              </a:lnSpc>
            </a:pPr>
            <a:r>
              <a:rPr lang="en-US" sz="1700"/>
              <a:t>(Specialized in promoting penny stocks to normal, everyday buyers.)</a:t>
            </a:r>
          </a:p>
          <a:p>
            <a:pPr>
              <a:lnSpc>
                <a:spcPct val="100000"/>
              </a:lnSpc>
            </a:pPr>
            <a:r>
              <a:rPr lang="en-US" sz="1700"/>
              <a:t>First Jersey Securities played the role of a </a:t>
            </a:r>
            <a:r>
              <a:rPr lang="en-US" sz="1700" b="1"/>
              <a:t>market maker </a:t>
            </a:r>
          </a:p>
          <a:p>
            <a:pPr lvl="1">
              <a:lnSpc>
                <a:spcPct val="100000"/>
              </a:lnSpc>
            </a:pPr>
            <a:r>
              <a:rPr lang="en-US" sz="1700"/>
              <a:t>They would buy and hold stocks of small, often unheard-of companies.</a:t>
            </a:r>
          </a:p>
          <a:p>
            <a:pPr lvl="1">
              <a:lnSpc>
                <a:spcPct val="100000"/>
              </a:lnSpc>
            </a:pPr>
            <a:r>
              <a:rPr lang="en-US" sz="1700"/>
              <a:t>FJS brokers promoted these stocks aggressively to their average, “retail” customers. </a:t>
            </a:r>
          </a:p>
          <a:p>
            <a:pPr>
              <a:lnSpc>
                <a:spcPct val="100000"/>
              </a:lnSpc>
            </a:pPr>
            <a:r>
              <a:rPr lang="en-US" sz="1700" b="1"/>
              <a:t>Issue </a:t>
            </a:r>
            <a:r>
              <a:rPr lang="en-US" sz="1700" b="1">
                <a:sym typeface="Wingdings" pitchFamily="2" charset="2"/>
              </a:rPr>
              <a:t> </a:t>
            </a:r>
            <a:r>
              <a:rPr lang="en-US" sz="1700" b="1"/>
              <a:t>They controlled both pricing and distribution </a:t>
            </a:r>
          </a:p>
          <a:p>
            <a:pPr>
              <a:lnSpc>
                <a:spcPct val="100000"/>
              </a:lnSpc>
            </a:pPr>
            <a:endParaRPr lang="en-US" sz="1700"/>
          </a:p>
          <a:p>
            <a:pPr>
              <a:lnSpc>
                <a:spcPct val="100000"/>
              </a:lnSpc>
            </a:pPr>
            <a:endParaRPr lang="en-US" sz="1700"/>
          </a:p>
        </p:txBody>
      </p:sp>
      <p:pic>
        <p:nvPicPr>
          <p:cNvPr id="3074" name="Picture 2" descr="Meet Robert E Brennan with Michael Santos">
            <a:extLst>
              <a:ext uri="{FF2B5EF4-FFF2-40B4-BE49-F238E27FC236}">
                <a16:creationId xmlns:a16="http://schemas.microsoft.com/office/drawing/2014/main" id="{9CB78C95-CE5E-178E-057D-5D77CDB606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7" r="44544" b="1"/>
          <a:stretch>
            <a:fillRect/>
          </a:stretch>
        </p:blipFill>
        <p:spPr bwMode="auto">
          <a:xfrm>
            <a:off x="5958018" y="508090"/>
            <a:ext cx="5709726" cy="5846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29422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7937"/>
    </mc:Choice>
    <mc:Fallback>
      <p:transition spd="slow" advTm="37937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3" name="Rectangle 4102">
            <a:extLst>
              <a:ext uri="{FF2B5EF4-FFF2-40B4-BE49-F238E27FC236}">
                <a16:creationId xmlns:a16="http://schemas.microsoft.com/office/drawing/2014/main" id="{4065D9BE-A58D-6E8A-D4A2-5056F3C5E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7B10E5-E8E6-F4A2-FB04-580A50D45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263640" cy="1463040"/>
          </a:xfrm>
        </p:spPr>
        <p:txBody>
          <a:bodyPr>
            <a:normAutofit/>
          </a:bodyPr>
          <a:lstStyle/>
          <a:p>
            <a:r>
              <a:rPr lang="en-US" dirty="0"/>
              <a:t>Scandal?</a:t>
            </a:r>
          </a:p>
        </p:txBody>
      </p:sp>
      <p:sp>
        <p:nvSpPr>
          <p:cNvPr id="4105" name="Freeform: Shape 4104">
            <a:extLst>
              <a:ext uri="{FF2B5EF4-FFF2-40B4-BE49-F238E27FC236}">
                <a16:creationId xmlns:a16="http://schemas.microsoft.com/office/drawing/2014/main" id="{A745E793-BC99-8991-71CD-53FFBB6A8F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6260" cy="149279"/>
          </a:xfrm>
          <a:custGeom>
            <a:avLst/>
            <a:gdLst>
              <a:gd name="connsiteX0" fmla="*/ 0 w 11156260"/>
              <a:gd name="connsiteY0" fmla="*/ 0 h 149279"/>
              <a:gd name="connsiteX1" fmla="*/ 11156260 w 11156260"/>
              <a:gd name="connsiteY1" fmla="*/ 0 h 149279"/>
              <a:gd name="connsiteX2" fmla="*/ 11156260 w 11156260"/>
              <a:gd name="connsiteY2" fmla="*/ 149279 h 149279"/>
              <a:gd name="connsiteX3" fmla="*/ 0 w 11156260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56260" h="149279">
                <a:moveTo>
                  <a:pt x="0" y="0"/>
                </a:moveTo>
                <a:lnTo>
                  <a:pt x="11156260" y="0"/>
                </a:lnTo>
                <a:lnTo>
                  <a:pt x="11156260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B22A76-F755-1DE5-4644-EC388D37DF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7" y="2112264"/>
            <a:ext cx="6539349" cy="4624202"/>
          </a:xfrm>
        </p:spPr>
        <p:txBody>
          <a:bodyPr>
            <a:normAutofit/>
          </a:bodyPr>
          <a:lstStyle/>
          <a:p>
            <a:r>
              <a:rPr lang="en-US" dirty="0"/>
              <a:t>FJS bought shares of </a:t>
            </a:r>
            <a:r>
              <a:rPr lang="en-US" b="1" dirty="0"/>
              <a:t>small, random, and obscure companies </a:t>
            </a:r>
            <a:r>
              <a:rPr lang="en-US" dirty="0"/>
              <a:t>for a very low price. </a:t>
            </a:r>
            <a:r>
              <a:rPr lang="en-US" dirty="0">
                <a:sym typeface="Wingdings" pitchFamily="2" charset="2"/>
              </a:rPr>
              <a:t> </a:t>
            </a:r>
            <a:r>
              <a:rPr lang="en-US" b="1" dirty="0">
                <a:sym typeface="Wingdings" pitchFamily="2" charset="2"/>
              </a:rPr>
              <a:t>Pennies</a:t>
            </a:r>
            <a:endParaRPr lang="en-US" b="1" dirty="0"/>
          </a:p>
          <a:p>
            <a:r>
              <a:rPr lang="en-US" dirty="0"/>
              <a:t>Resold them to their customers, at an </a:t>
            </a:r>
            <a:r>
              <a:rPr lang="en-US" b="1" dirty="0"/>
              <a:t>undisclosed, extreme markup</a:t>
            </a:r>
            <a:r>
              <a:rPr lang="en-US" dirty="0"/>
              <a:t>.</a:t>
            </a:r>
          </a:p>
          <a:p>
            <a:r>
              <a:rPr lang="en-US" dirty="0"/>
              <a:t>The brokers used </a:t>
            </a:r>
            <a:r>
              <a:rPr lang="en-US" b="1" dirty="0"/>
              <a:t>high-pressure sales tactics</a:t>
            </a:r>
            <a:r>
              <a:rPr lang="en-US" dirty="0"/>
              <a:t>, forcing their unsuspecting customers to buy. </a:t>
            </a:r>
          </a:p>
          <a:p>
            <a:r>
              <a:rPr lang="en-US" dirty="0"/>
              <a:t>Customers believed the prices were </a:t>
            </a:r>
            <a:r>
              <a:rPr lang="en-US" b="1" dirty="0"/>
              <a:t>legitimate</a:t>
            </a:r>
            <a:r>
              <a:rPr lang="en-US" dirty="0"/>
              <a:t>, but FJS was actually </a:t>
            </a:r>
            <a:r>
              <a:rPr lang="en-US" b="1" dirty="0"/>
              <a:t>setting and controlling the pricing </a:t>
            </a:r>
            <a:r>
              <a:rPr lang="en-US" dirty="0"/>
              <a:t>in these markets. </a:t>
            </a:r>
          </a:p>
          <a:p>
            <a:r>
              <a:rPr lang="en-US" b="1" dirty="0"/>
              <a:t>Result</a:t>
            </a:r>
            <a:r>
              <a:rPr lang="en-US" dirty="0"/>
              <a:t>: Customers paid far above the fair market value of the stocks, while FJS was making immense profit. </a:t>
            </a:r>
          </a:p>
          <a:p>
            <a:endParaRPr lang="en-US" dirty="0"/>
          </a:p>
        </p:txBody>
      </p:sp>
      <p:pic>
        <p:nvPicPr>
          <p:cNvPr id="4098" name="Picture 2" descr="No - Robert Brennan - wspólnik Gene'a | Facebook">
            <a:extLst>
              <a:ext uri="{FF2B5EF4-FFF2-40B4-BE49-F238E27FC236}">
                <a16:creationId xmlns:a16="http://schemas.microsoft.com/office/drawing/2014/main" id="{353E4889-EE1E-4AC5-5316-DC69351AB2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306056" y="2112264"/>
            <a:ext cx="4364590" cy="3853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7267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5983"/>
    </mc:Choice>
    <mc:Fallback>
      <p:transition spd="slow" advTm="75983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3DC936-7169-43AA-A830-22AAD4CD0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34" name="Rectangle 5133">
            <a:extLst>
              <a:ext uri="{FF2B5EF4-FFF2-40B4-BE49-F238E27FC236}">
                <a16:creationId xmlns:a16="http://schemas.microsoft.com/office/drawing/2014/main" id="{34C0330F-1D4F-4552-B799-615DD237B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1B2F59-6FB9-7801-4BD5-7BEABF7C3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754880" cy="1463040"/>
          </a:xfrm>
        </p:spPr>
        <p:txBody>
          <a:bodyPr>
            <a:normAutofit/>
          </a:bodyPr>
          <a:lstStyle/>
          <a:p>
            <a:r>
              <a:rPr lang="en-US" dirty="0"/>
              <a:t>Who was Harmed? </a:t>
            </a:r>
          </a:p>
        </p:txBody>
      </p:sp>
      <p:sp>
        <p:nvSpPr>
          <p:cNvPr id="5136" name="Rectangle 5135">
            <a:extLst>
              <a:ext uri="{FF2B5EF4-FFF2-40B4-BE49-F238E27FC236}">
                <a16:creationId xmlns:a16="http://schemas.microsoft.com/office/drawing/2014/main" id="{92BE0106-0C20-465B-A1BE-0BAC2737B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1" y="508090"/>
            <a:ext cx="4672966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3782C3-7BCE-79AB-E831-8C5E683279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4672584" cy="376732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400" b="1" dirty="0"/>
              <a:t>1. Everyday Investors (Retail investors)</a:t>
            </a:r>
          </a:p>
          <a:p>
            <a:pPr lvl="1">
              <a:lnSpc>
                <a:spcPct val="100000"/>
              </a:lnSpc>
            </a:pPr>
            <a:r>
              <a:rPr lang="en-US" sz="1400" dirty="0"/>
              <a:t>Paid inflated prices for otherwise worthless, risky stock.</a:t>
            </a:r>
          </a:p>
          <a:p>
            <a:pPr lvl="1">
              <a:lnSpc>
                <a:spcPct val="100000"/>
              </a:lnSpc>
            </a:pPr>
            <a:r>
              <a:rPr lang="en-US" sz="1400" dirty="0"/>
              <a:t>Lost extreme amounts of money when selling off their stock</a:t>
            </a:r>
          </a:p>
          <a:p>
            <a:pPr>
              <a:lnSpc>
                <a:spcPct val="100000"/>
              </a:lnSpc>
            </a:pPr>
            <a:r>
              <a:rPr lang="en-US" sz="1400" b="1" dirty="0"/>
              <a:t>2. The Market System:</a:t>
            </a:r>
          </a:p>
          <a:p>
            <a:pPr lvl="1">
              <a:lnSpc>
                <a:spcPct val="100000"/>
              </a:lnSpc>
            </a:pPr>
            <a:r>
              <a:rPr lang="en-US" sz="1400" dirty="0"/>
              <a:t>Trust was weakened in the market </a:t>
            </a:r>
            <a:r>
              <a:rPr lang="en-US" sz="1400" dirty="0">
                <a:sym typeface="Wingdings" pitchFamily="2" charset="2"/>
              </a:rPr>
              <a:t> people less willing to invest</a:t>
            </a:r>
          </a:p>
          <a:p>
            <a:pPr lvl="1">
              <a:lnSpc>
                <a:spcPct val="100000"/>
              </a:lnSpc>
            </a:pPr>
            <a:r>
              <a:rPr lang="en-US" sz="1400" dirty="0"/>
              <a:t>Fair pricing impacted </a:t>
            </a:r>
            <a:r>
              <a:rPr lang="en-US" sz="1400" dirty="0">
                <a:sym typeface="Wingdings" pitchFamily="2" charset="2"/>
              </a:rPr>
              <a:t> Brennan created his own supply and demand, false sense of value 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endParaRPr lang="en-US" sz="1400" dirty="0"/>
          </a:p>
          <a:p>
            <a:pPr>
              <a:lnSpc>
                <a:spcPct val="100000"/>
              </a:lnSpc>
            </a:pPr>
            <a:r>
              <a:rPr lang="en-US" sz="1400" dirty="0"/>
              <a:t>Main idea: The crimes were not victimless, real people lost money, and the basic trust in the Market System was lost. </a:t>
            </a:r>
          </a:p>
          <a:p>
            <a:pPr>
              <a:lnSpc>
                <a:spcPct val="100000"/>
              </a:lnSpc>
            </a:pPr>
            <a:endParaRPr lang="en-US" sz="1400" dirty="0"/>
          </a:p>
          <a:p>
            <a:pPr>
              <a:lnSpc>
                <a:spcPct val="100000"/>
              </a:lnSpc>
            </a:pPr>
            <a:endParaRPr lang="en-US" sz="1400" dirty="0"/>
          </a:p>
        </p:txBody>
      </p:sp>
      <p:pic>
        <p:nvPicPr>
          <p:cNvPr id="5122" name="Picture 2" descr="Trading Floor: Definition, Overview, Applications">
            <a:extLst>
              <a:ext uri="{FF2B5EF4-FFF2-40B4-BE49-F238E27FC236}">
                <a16:creationId xmlns:a16="http://schemas.microsoft.com/office/drawing/2014/main" id="{0DC7CA23-89AA-0C37-D63E-9924AE83AB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765" r="17981" b="-2"/>
          <a:stretch>
            <a:fillRect/>
          </a:stretch>
        </p:blipFill>
        <p:spPr bwMode="auto">
          <a:xfrm>
            <a:off x="5958018" y="508090"/>
            <a:ext cx="5709726" cy="5846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6580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1368"/>
    </mc:Choice>
    <mc:Fallback>
      <p:transition spd="slow" advTm="51368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04851A-26FB-1416-9A00-57A87E491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4213918-F1EB-4BCE-BE23-F5E9851EE0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532D57-5329-B9CE-794E-2DA0A6278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</p:spPr>
        <p:txBody>
          <a:bodyPr>
            <a:normAutofit/>
          </a:bodyPr>
          <a:lstStyle/>
          <a:p>
            <a:r>
              <a:rPr lang="en-US" dirty="0"/>
              <a:t>Ethical Wrongs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62E862-C7F7-4CA1-B929-D0B75F5E9F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5680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E5E9395-DAB0-4B0A-BCED-53A8CB550D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45435558"/>
              </p:ext>
            </p:extLst>
          </p:nvPr>
        </p:nvGraphicFramePr>
        <p:xfrm>
          <a:off x="520700" y="2578100"/>
          <a:ext cx="11156950" cy="37671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772990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1345"/>
    </mc:Choice>
    <mc:Fallback>
      <p:transition spd="slow" advTm="21345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AD1BDCCC-E676-2A7E-BE11-2B8C23DB2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559903-587B-79FF-FC83-B01A810A4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115568"/>
          </a:xfrm>
        </p:spPr>
        <p:txBody>
          <a:bodyPr>
            <a:normAutofit/>
          </a:bodyPr>
          <a:lstStyle/>
          <a:p>
            <a:r>
              <a:rPr lang="en-US" dirty="0"/>
              <a:t>Elaine Sternberg:</a:t>
            </a:r>
          </a:p>
        </p:txBody>
      </p:sp>
      <p:sp>
        <p:nvSpPr>
          <p:cNvPr id="2057" name="Freeform: Shape 2056">
            <a:extLst>
              <a:ext uri="{FF2B5EF4-FFF2-40B4-BE49-F238E27FC236}">
                <a16:creationId xmlns:a16="http://schemas.microsoft.com/office/drawing/2014/main" id="{781C97B1-8A09-6383-8C65-A3B7357781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B5A9A7-C9A7-946B-E06B-1322A77340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304288"/>
            <a:ext cx="6821424" cy="405079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Elaine Sternberg states that markets require:</a:t>
            </a:r>
            <a:endParaRPr lang="en-US"/>
          </a:p>
          <a:p>
            <a:pPr lvl="1">
              <a:lnSpc>
                <a:spcPct val="100000"/>
              </a:lnSpc>
            </a:pPr>
            <a:r>
              <a:rPr lang="en-US" dirty="0"/>
              <a:t>Distributive Justice </a:t>
            </a:r>
            <a:r>
              <a:rPr lang="en-US" dirty="0">
                <a:sym typeface="Wingdings" pitchFamily="2" charset="2"/>
              </a:rPr>
              <a:t> </a:t>
            </a:r>
            <a:r>
              <a:rPr lang="en-US" dirty="0"/>
              <a:t>rewards are distributed within the company = DOES NOT APPLY</a:t>
            </a:r>
            <a:endParaRPr lang="en-US"/>
          </a:p>
          <a:p>
            <a:pPr lvl="1">
              <a:lnSpc>
                <a:spcPct val="100000"/>
              </a:lnSpc>
            </a:pPr>
            <a:r>
              <a:rPr lang="en-US" b="1" dirty="0"/>
              <a:t>** Ordinary Decency </a:t>
            </a:r>
            <a:r>
              <a:rPr lang="en-US" dirty="0">
                <a:sym typeface="Wingdings" pitchFamily="2" charset="2"/>
              </a:rPr>
              <a:t> </a:t>
            </a:r>
            <a:r>
              <a:rPr lang="en-US" dirty="0"/>
              <a:t>businesses must operate honestly and fairly, without any form of violence or coercion</a:t>
            </a:r>
            <a:endParaRPr lang="en-US"/>
          </a:p>
          <a:p>
            <a:pPr>
              <a:lnSpc>
                <a:spcPct val="100000"/>
              </a:lnSpc>
            </a:pPr>
            <a:r>
              <a:rPr lang="en-US" dirty="0"/>
              <a:t>Brennan and FSJ clearly violate Sternberg's principle of Ordinary Decency</a:t>
            </a:r>
            <a:endParaRPr lang="en-US"/>
          </a:p>
          <a:p>
            <a:pPr lvl="1">
              <a:lnSpc>
                <a:spcPct val="100000"/>
              </a:lnSpc>
            </a:pPr>
            <a:r>
              <a:rPr lang="en-US" dirty="0"/>
              <a:t>Mislead customers about true stock prices</a:t>
            </a:r>
            <a:endParaRPr lang="en-US"/>
          </a:p>
          <a:p>
            <a:pPr lvl="1">
              <a:lnSpc>
                <a:spcPct val="100000"/>
              </a:lnSpc>
            </a:pPr>
            <a:r>
              <a:rPr lang="en-US" dirty="0"/>
              <a:t>Charged hidden and extreme markups</a:t>
            </a:r>
            <a:endParaRPr lang="en-US"/>
          </a:p>
          <a:p>
            <a:pPr lvl="1">
              <a:lnSpc>
                <a:spcPct val="100000"/>
              </a:lnSpc>
            </a:pPr>
            <a:r>
              <a:rPr lang="en-US" dirty="0"/>
              <a:t>Exploited the lack of knowledge of said customers</a:t>
            </a:r>
            <a:endParaRPr lang="en-US"/>
          </a:p>
          <a:p>
            <a:pPr>
              <a:lnSpc>
                <a:spcPct val="100000"/>
              </a:lnSpc>
            </a:pPr>
            <a:r>
              <a:rPr lang="en-US" dirty="0"/>
              <a:t>By lacking </a:t>
            </a:r>
            <a:r>
              <a:rPr lang="en-US" b="1" dirty="0"/>
              <a:t>Ordinary Decency</a:t>
            </a:r>
            <a:r>
              <a:rPr lang="en-US" dirty="0"/>
              <a:t>, they violated the </a:t>
            </a:r>
            <a:r>
              <a:rPr lang="en-US" b="1" dirty="0"/>
              <a:t>basic moral rules of the market</a:t>
            </a:r>
            <a:r>
              <a:rPr lang="en-US" dirty="0"/>
              <a:t>, undermining </a:t>
            </a:r>
            <a:r>
              <a:rPr lang="en-US" b="1" dirty="0"/>
              <a:t>trust</a:t>
            </a:r>
            <a:r>
              <a:rPr lang="en-US" dirty="0"/>
              <a:t> and creating an </a:t>
            </a:r>
            <a:r>
              <a:rPr lang="en-US" b="1" dirty="0"/>
              <a:t>unfair</a:t>
            </a:r>
            <a:r>
              <a:rPr lang="en-US" dirty="0"/>
              <a:t> outcome. </a:t>
            </a:r>
            <a:endParaRPr lang="en-US"/>
          </a:p>
          <a:p>
            <a:pPr marL="457200" lvl="1" indent="0">
              <a:lnSpc>
                <a:spcPct val="100000"/>
              </a:lnSpc>
              <a:buNone/>
            </a:pPr>
            <a:endParaRPr lang="en-US"/>
          </a:p>
          <a:p>
            <a:pPr>
              <a:lnSpc>
                <a:spcPct val="100000"/>
              </a:lnSpc>
            </a:pPr>
            <a:endParaRPr lang="en-US"/>
          </a:p>
        </p:txBody>
      </p:sp>
      <p:pic>
        <p:nvPicPr>
          <p:cNvPr id="2050" name="Picture 2" descr="Elaine Sternberg: Defining Capitalism - Wake Forest University Events">
            <a:extLst>
              <a:ext uri="{FF2B5EF4-FFF2-40B4-BE49-F238E27FC236}">
                <a16:creationId xmlns:a16="http://schemas.microsoft.com/office/drawing/2014/main" id="{DFEF161C-C12E-9776-2038-1005FA10C3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48" r="12270" b="2"/>
          <a:stretch>
            <a:fillRect/>
          </a:stretch>
        </p:blipFill>
        <p:spPr bwMode="auto">
          <a:xfrm>
            <a:off x="7730019" y="2299390"/>
            <a:ext cx="3941064" cy="4048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57458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7214"/>
    </mc:Choice>
    <mc:Fallback>
      <p:transition spd="slow" advTm="57214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123F8C-5BA1-AC4D-8F5D-2570F05616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AD1BDCCC-E676-2A7E-BE11-2B8C23DB2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B2A327-90AE-5E1B-A4A2-0C2B54752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115568"/>
          </a:xfrm>
        </p:spPr>
        <p:txBody>
          <a:bodyPr>
            <a:normAutofit/>
          </a:bodyPr>
          <a:lstStyle/>
          <a:p>
            <a:r>
              <a:rPr lang="en-US" dirty="0"/>
              <a:t>Milton Freidman: </a:t>
            </a:r>
          </a:p>
        </p:txBody>
      </p:sp>
      <p:sp>
        <p:nvSpPr>
          <p:cNvPr id="3081" name="Freeform: Shape 3080">
            <a:extLst>
              <a:ext uri="{FF2B5EF4-FFF2-40B4-BE49-F238E27FC236}">
                <a16:creationId xmlns:a16="http://schemas.microsoft.com/office/drawing/2014/main" id="{781C97B1-8A09-6383-8C65-A3B7357781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02688D-509D-C5B6-D177-2439E757F0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304288"/>
            <a:ext cx="6821424" cy="4050792"/>
          </a:xfrm>
        </p:spPr>
        <p:txBody>
          <a:bodyPr>
            <a:normAutofit/>
          </a:bodyPr>
          <a:lstStyle/>
          <a:p>
            <a:r>
              <a:rPr lang="en-US" b="1" dirty="0"/>
              <a:t>Friedman</a:t>
            </a:r>
            <a:r>
              <a:rPr lang="en-US" dirty="0"/>
              <a:t>: firms should maximize profits </a:t>
            </a:r>
            <a:r>
              <a:rPr lang="en-US" b="1" dirty="0"/>
              <a:t>within the rules of the game. </a:t>
            </a:r>
          </a:p>
          <a:p>
            <a:r>
              <a:rPr lang="en-US" dirty="0"/>
              <a:t>Though certainly maximizing profit, Friedman was doing so through </a:t>
            </a:r>
            <a:r>
              <a:rPr lang="en-US" b="1" dirty="0"/>
              <a:t>fraud and deception</a:t>
            </a:r>
            <a:r>
              <a:rPr lang="en-US" dirty="0"/>
              <a:t>, clearly breaking the “rules of the game. ”</a:t>
            </a:r>
          </a:p>
          <a:p>
            <a:r>
              <a:rPr lang="en-US" dirty="0"/>
              <a:t>Clearly, not even Friedman could justify the immoral actions of Brennan. </a:t>
            </a:r>
          </a:p>
        </p:txBody>
      </p:sp>
      <p:pic>
        <p:nvPicPr>
          <p:cNvPr id="3074" name="Picture 2" descr="Milton Friedman - Wikipedia">
            <a:extLst>
              <a:ext uri="{FF2B5EF4-FFF2-40B4-BE49-F238E27FC236}">
                <a16:creationId xmlns:a16="http://schemas.microsoft.com/office/drawing/2014/main" id="{670E8524-E367-1836-9F69-3FF85A1973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4" b="17558"/>
          <a:stretch>
            <a:fillRect/>
          </a:stretch>
        </p:blipFill>
        <p:spPr bwMode="auto">
          <a:xfrm>
            <a:off x="7730019" y="2299390"/>
            <a:ext cx="3941064" cy="4048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946658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7601"/>
    </mc:Choice>
    <mc:Fallback>
      <p:transition spd="slow" advTm="2760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D1E5DA-0242-F97A-E1AE-4A6DF26BE8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3" name="Rectangle 4102">
            <a:extLst>
              <a:ext uri="{FF2B5EF4-FFF2-40B4-BE49-F238E27FC236}">
                <a16:creationId xmlns:a16="http://schemas.microsoft.com/office/drawing/2014/main" id="{4065D9BE-A58D-6E8A-D4A2-5056F3C5E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173306-0E7B-5D16-486F-A47FB1E57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537960" cy="1463040"/>
          </a:xfrm>
        </p:spPr>
        <p:txBody>
          <a:bodyPr>
            <a:normAutofit/>
          </a:bodyPr>
          <a:lstStyle/>
          <a:p>
            <a:r>
              <a:rPr lang="en-US" dirty="0"/>
              <a:t>Edward Freeman: </a:t>
            </a:r>
          </a:p>
        </p:txBody>
      </p:sp>
      <p:sp>
        <p:nvSpPr>
          <p:cNvPr id="4105" name="Freeform: Shape 4104">
            <a:extLst>
              <a:ext uri="{FF2B5EF4-FFF2-40B4-BE49-F238E27FC236}">
                <a16:creationId xmlns:a16="http://schemas.microsoft.com/office/drawing/2014/main" id="{A745E793-BC99-8991-71CD-53FFBB6A8F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6260" cy="149279"/>
          </a:xfrm>
          <a:custGeom>
            <a:avLst/>
            <a:gdLst>
              <a:gd name="connsiteX0" fmla="*/ 0 w 11156260"/>
              <a:gd name="connsiteY0" fmla="*/ 0 h 149279"/>
              <a:gd name="connsiteX1" fmla="*/ 11156260 w 11156260"/>
              <a:gd name="connsiteY1" fmla="*/ 0 h 149279"/>
              <a:gd name="connsiteX2" fmla="*/ 11156260 w 11156260"/>
              <a:gd name="connsiteY2" fmla="*/ 149279 h 149279"/>
              <a:gd name="connsiteX3" fmla="*/ 0 w 11156260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56260" h="149279">
                <a:moveTo>
                  <a:pt x="0" y="0"/>
                </a:moveTo>
                <a:lnTo>
                  <a:pt x="11156260" y="0"/>
                </a:lnTo>
                <a:lnTo>
                  <a:pt x="11156260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632EC9-79EC-0028-3927-6EA606FEF1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6537960" cy="3767328"/>
          </a:xfrm>
        </p:spPr>
        <p:txBody>
          <a:bodyPr>
            <a:normAutofit/>
          </a:bodyPr>
          <a:lstStyle/>
          <a:p>
            <a:r>
              <a:rPr lang="en-US"/>
              <a:t>Stakeholder Theory:</a:t>
            </a:r>
          </a:p>
          <a:p>
            <a:pPr lvl="1"/>
            <a:r>
              <a:rPr lang="en-US"/>
              <a:t>Firms must consider ALL stakeholders.</a:t>
            </a:r>
          </a:p>
          <a:p>
            <a:pPr lvl="1"/>
            <a:r>
              <a:rPr lang="en-US"/>
              <a:t>Customers = key stakeholders for Brennan and FJS.</a:t>
            </a:r>
          </a:p>
          <a:p>
            <a:r>
              <a:rPr lang="en-US"/>
              <a:t>FJS prioritized profit over customers, profiting off of deception of their own customers.</a:t>
            </a:r>
          </a:p>
          <a:p>
            <a:r>
              <a:rPr lang="en-US" b="1"/>
              <a:t>Wrong according to Freeman </a:t>
            </a:r>
            <a:r>
              <a:rPr lang="en-US"/>
              <a:t>= FJS failed to create value for ALL stakeholders, hurting the customers.</a:t>
            </a:r>
          </a:p>
        </p:txBody>
      </p:sp>
      <p:pic>
        <p:nvPicPr>
          <p:cNvPr id="4098" name="Picture 2" descr="R. Edward Freeman | UVA Darden School of Business">
            <a:extLst>
              <a:ext uri="{FF2B5EF4-FFF2-40B4-BE49-F238E27FC236}">
                <a16:creationId xmlns:a16="http://schemas.microsoft.com/office/drawing/2014/main" id="{D2BEFA47-5633-2B2A-BD98-84F0605128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11" r="907" b="-4"/>
          <a:stretch>
            <a:fillRect/>
          </a:stretch>
        </p:blipFill>
        <p:spPr bwMode="auto">
          <a:xfrm>
            <a:off x="7659149" y="976160"/>
            <a:ext cx="4011643" cy="5371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77540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1234"/>
    </mc:Choice>
    <mc:Fallback>
      <p:transition spd="slow" advTm="31234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30" name="Rectangle 5129">
            <a:extLst>
              <a:ext uri="{FF2B5EF4-FFF2-40B4-BE49-F238E27FC236}">
                <a16:creationId xmlns:a16="http://schemas.microsoft.com/office/drawing/2014/main" id="{34C0330F-1D4F-4552-B799-615DD237B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220C36-15C3-4893-B9F7-C80E2164B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4754880" cy="1463040"/>
          </a:xfrm>
        </p:spPr>
        <p:txBody>
          <a:bodyPr>
            <a:normAutofit/>
          </a:bodyPr>
          <a:lstStyle/>
          <a:p>
            <a:r>
              <a:rPr lang="en-US" sz="4100"/>
              <a:t>Plan for the Paper</a:t>
            </a:r>
            <a:br>
              <a:rPr lang="en-US" sz="4100"/>
            </a:br>
            <a:endParaRPr lang="en-US" sz="4100"/>
          </a:p>
        </p:txBody>
      </p:sp>
      <p:sp>
        <p:nvSpPr>
          <p:cNvPr id="5132" name="Rectangle 5131">
            <a:extLst>
              <a:ext uri="{FF2B5EF4-FFF2-40B4-BE49-F238E27FC236}">
                <a16:creationId xmlns:a16="http://schemas.microsoft.com/office/drawing/2014/main" id="{92BE0106-0C20-465B-A1BE-0BAC2737B1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1" y="508090"/>
            <a:ext cx="4672966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AC98B8-3A65-5959-7D33-F7DF0683CE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4672584" cy="376732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Part 1: Explain Brennan and FJS case in detail</a:t>
            </a:r>
          </a:p>
          <a:p>
            <a:pPr>
              <a:lnSpc>
                <a:spcPct val="100000"/>
              </a:lnSpc>
            </a:pPr>
            <a:r>
              <a:rPr lang="en-US" dirty="0"/>
              <a:t>Part 2: Identify ethical wrong (deception + exploitation)</a:t>
            </a:r>
          </a:p>
          <a:p>
            <a:pPr>
              <a:lnSpc>
                <a:spcPct val="100000"/>
              </a:lnSpc>
            </a:pPr>
            <a:r>
              <a:rPr lang="en-US" dirty="0"/>
              <a:t>Part 3: Apply: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Sternberg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Friedman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Freeman</a:t>
            </a:r>
          </a:p>
          <a:p>
            <a:pPr>
              <a:lnSpc>
                <a:spcPct val="100000"/>
              </a:lnSpc>
            </a:pPr>
            <a:r>
              <a:rPr lang="en-US" dirty="0"/>
              <a:t>Part 4: Evaluate justifications, respond, counterarguments</a:t>
            </a:r>
          </a:p>
          <a:p>
            <a:pPr>
              <a:lnSpc>
                <a:spcPct val="100000"/>
              </a:lnSpc>
            </a:pPr>
            <a:r>
              <a:rPr lang="en-US" dirty="0"/>
              <a:t>Part 5: Conclusion 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  <p:pic>
        <p:nvPicPr>
          <p:cNvPr id="5125" name="Picture 5" descr="A+ Grade Clip Art Image - ClipSafari">
            <a:extLst>
              <a:ext uri="{FF2B5EF4-FFF2-40B4-BE49-F238E27FC236}">
                <a16:creationId xmlns:a16="http://schemas.microsoft.com/office/drawing/2014/main" id="{CEBC796A-4F05-80E1-DBE5-17FB8FB4DC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44" b="2721"/>
          <a:stretch>
            <a:fillRect/>
          </a:stretch>
        </p:blipFill>
        <p:spPr bwMode="auto">
          <a:xfrm>
            <a:off x="5958018" y="508090"/>
            <a:ext cx="5709726" cy="5846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61545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5018"/>
    </mc:Choice>
    <mc:Fallback>
      <p:transition spd="slow" advTm="25018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2" name="Rectangle 1031">
            <a:extLst>
              <a:ext uri="{FF2B5EF4-FFF2-40B4-BE49-F238E27FC236}">
                <a16:creationId xmlns:a16="http://schemas.microsoft.com/office/drawing/2014/main" id="{4065D9BE-A58D-6E8A-D4A2-5056F3C5E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79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49BCD5-2363-8C0E-5965-A566783B4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6537960" cy="1463040"/>
          </a:xfrm>
        </p:spPr>
        <p:txBody>
          <a:bodyPr>
            <a:normAutofit/>
          </a:bodyPr>
          <a:lstStyle/>
          <a:p>
            <a:r>
              <a:rPr lang="en-US" dirty="0"/>
              <a:t>What Happened? </a:t>
            </a:r>
          </a:p>
        </p:txBody>
      </p:sp>
      <p:sp>
        <p:nvSpPr>
          <p:cNvPr id="1034" name="Freeform: Shape 1033">
            <a:extLst>
              <a:ext uri="{FF2B5EF4-FFF2-40B4-BE49-F238E27FC236}">
                <a16:creationId xmlns:a16="http://schemas.microsoft.com/office/drawing/2014/main" id="{A745E793-BC99-8991-71CD-53FFBB6A8F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11156260" cy="149279"/>
          </a:xfrm>
          <a:custGeom>
            <a:avLst/>
            <a:gdLst>
              <a:gd name="connsiteX0" fmla="*/ 0 w 11156260"/>
              <a:gd name="connsiteY0" fmla="*/ 0 h 149279"/>
              <a:gd name="connsiteX1" fmla="*/ 11156260 w 11156260"/>
              <a:gd name="connsiteY1" fmla="*/ 0 h 149279"/>
              <a:gd name="connsiteX2" fmla="*/ 11156260 w 11156260"/>
              <a:gd name="connsiteY2" fmla="*/ 149279 h 149279"/>
              <a:gd name="connsiteX3" fmla="*/ 0 w 11156260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56260" h="149279">
                <a:moveTo>
                  <a:pt x="0" y="0"/>
                </a:moveTo>
                <a:lnTo>
                  <a:pt x="11156260" y="0"/>
                </a:lnTo>
                <a:lnTo>
                  <a:pt x="11156260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F372EE-B323-5178-FEC0-FA8C29112F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578608"/>
            <a:ext cx="6537960" cy="3767328"/>
          </a:xfrm>
        </p:spPr>
        <p:txBody>
          <a:bodyPr>
            <a:normAutofit/>
          </a:bodyPr>
          <a:lstStyle/>
          <a:p>
            <a:r>
              <a:rPr lang="en-US" dirty="0"/>
              <a:t>Brennan was investigated by the U.S. Securities and Exchange Commission for securities fraud</a:t>
            </a:r>
          </a:p>
          <a:p>
            <a:r>
              <a:rPr lang="en-US" dirty="0"/>
              <a:t>A judge ruled that he must pay </a:t>
            </a:r>
            <a:r>
              <a:rPr lang="en-US" b="1" dirty="0"/>
              <a:t>$71.5 million </a:t>
            </a:r>
            <a:r>
              <a:rPr lang="en-US" dirty="0"/>
              <a:t>in penalties and fines for securities fraud and banned from the securities industry. </a:t>
            </a:r>
          </a:p>
          <a:p>
            <a:r>
              <a:rPr lang="en-US" dirty="0"/>
              <a:t>What did he do after this?</a:t>
            </a:r>
          </a:p>
          <a:p>
            <a:pPr lvl="1"/>
            <a:r>
              <a:rPr lang="en-US" dirty="0"/>
              <a:t>Declared bankruptcy, but concealed assets in offshore accounts in the Caribbean, and his golf club in NJ, and his stables. </a:t>
            </a:r>
          </a:p>
          <a:p>
            <a:pPr lvl="1"/>
            <a:r>
              <a:rPr lang="en-US" dirty="0"/>
              <a:t>Found guilty of bankruptcy fraud and money laundering </a:t>
            </a:r>
            <a:r>
              <a:rPr lang="en-US" dirty="0">
                <a:sym typeface="Wingdings" pitchFamily="2" charset="2"/>
              </a:rPr>
              <a:t> Spent about 9 years in prison. </a:t>
            </a:r>
            <a:endParaRPr lang="en-US" dirty="0"/>
          </a:p>
        </p:txBody>
      </p:sp>
      <p:pic>
        <p:nvPicPr>
          <p:cNvPr id="1027" name="Picture 3" descr="BRENNAN: The Record Stands">
            <a:extLst>
              <a:ext uri="{FF2B5EF4-FFF2-40B4-BE49-F238E27FC236}">
                <a16:creationId xmlns:a16="http://schemas.microsoft.com/office/drawing/2014/main" id="{C59E7805-F2A7-8A52-97D6-23A6C3D2C47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18" t="-42" b="38"/>
          <a:stretch>
            <a:fillRect/>
          </a:stretch>
        </p:blipFill>
        <p:spPr bwMode="auto">
          <a:xfrm>
            <a:off x="7659149" y="976160"/>
            <a:ext cx="4011643" cy="5371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41638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8088"/>
    </mc:Choice>
    <mc:Fallback>
      <p:transition spd="slow" advTm="38088"/>
    </mc:Fallback>
  </mc:AlternateContent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1149</TotalTime>
  <Words>630</Words>
  <Application>Microsoft Macintosh PowerPoint</Application>
  <PresentationFormat>Widescreen</PresentationFormat>
  <Paragraphs>66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Bierstadt</vt:lpstr>
      <vt:lpstr>Wingdings</vt:lpstr>
      <vt:lpstr>GestaltVTI</vt:lpstr>
      <vt:lpstr>Robert Brennan – First Jersey Securities (1995-2001)</vt:lpstr>
      <vt:lpstr>How the Business Worked</vt:lpstr>
      <vt:lpstr>Scandal?</vt:lpstr>
      <vt:lpstr>Who was Harmed? </vt:lpstr>
      <vt:lpstr>Ethical Wrongs</vt:lpstr>
      <vt:lpstr>Elaine Sternberg:</vt:lpstr>
      <vt:lpstr>Milton Freidman: </vt:lpstr>
      <vt:lpstr>Edward Freeman: </vt:lpstr>
      <vt:lpstr>Plan for the Paper </vt:lpstr>
      <vt:lpstr>What Happened?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William Cosgrove</dc:creator>
  <cp:lastModifiedBy>William Cosgrove</cp:lastModifiedBy>
  <cp:revision>1</cp:revision>
  <dcterms:created xsi:type="dcterms:W3CDTF">2026-03-18T09:07:52Z</dcterms:created>
  <dcterms:modified xsi:type="dcterms:W3CDTF">2026-03-19T11:41:59Z</dcterms:modified>
</cp:coreProperties>
</file>